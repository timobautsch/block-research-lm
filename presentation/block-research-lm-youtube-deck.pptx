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dfda4c7fa04d26" /><Relationship Type="http://schemas.openxmlformats.org/officeDocument/2006/relationships/extended-properties" Target="/docProps/app.xml" Id="R4611030c5b1f4c34" /><Relationship Type="http://schemas.openxmlformats.org/officeDocument/2006/relationships/officeDocument" Target="/ppt/presentation.xml" Id="R94e605ef2f8849b3" /></Relationships>
</file>

<file path=ppt/presentation.xml><?xml version="1.0" encoding="utf-8"?>
<p:presentation xmlns:p="http://schemas.openxmlformats.org/presentationml/2006/main">
  <p:sldMasterIdLst>
    <p:sldMasterId xmlns:r="http://schemas.openxmlformats.org/officeDocument/2006/relationships" id="2147483648" r:id="Rfbb59e170dfb4dfa"/>
  </p:sldMasterIdLst>
  <p:notesMasterIdLst>
    <p:notesMasterId xmlns:r="http://schemas.openxmlformats.org/officeDocument/2006/relationships" r:id="Rcdbb86f4b9bd4f95"/>
  </p:notesMasterIdLst>
  <p:sldIdLst>
    <p:sldId xmlns:r="http://schemas.openxmlformats.org/officeDocument/2006/relationships" id="256" r:id="Rd2d55d7faeaa47d5"/>
    <p:sldId xmlns:r="http://schemas.openxmlformats.org/officeDocument/2006/relationships" id="257" r:id="Rb4e0980d376c4e68"/>
    <p:sldId xmlns:r="http://schemas.openxmlformats.org/officeDocument/2006/relationships" id="258" r:id="R8ae4e675ed9c4d11"/>
    <p:sldId xmlns:r="http://schemas.openxmlformats.org/officeDocument/2006/relationships" id="259" r:id="R57529c3fc43442ad"/>
    <p:sldId xmlns:r="http://schemas.openxmlformats.org/officeDocument/2006/relationships" id="260" r:id="Rcd52b45b56124a94"/>
    <p:sldId xmlns:r="http://schemas.openxmlformats.org/officeDocument/2006/relationships" id="261" r:id="Ra53bdd51428146ab"/>
    <p:sldId xmlns:r="http://schemas.openxmlformats.org/officeDocument/2006/relationships" id="262" r:id="Rba044dd4d6b348f5"/>
    <p:sldId xmlns:r="http://schemas.openxmlformats.org/officeDocument/2006/relationships" id="263" r:id="R6a5799277e5d4f5a"/>
    <p:sldId xmlns:r="http://schemas.openxmlformats.org/officeDocument/2006/relationships" id="264" r:id="R06c415eac2ec491a"/>
    <p:sldId xmlns:r="http://schemas.openxmlformats.org/officeDocument/2006/relationships" id="265" r:id="Rddf2ed4afe264390"/>
    <p:sldId xmlns:r="http://schemas.openxmlformats.org/officeDocument/2006/relationships" id="266" r:id="R7d38153c12ac44cf"/>
    <p:sldId xmlns:r="http://schemas.openxmlformats.org/officeDocument/2006/relationships" id="267" r:id="R373a4f8c5ed241d1"/>
    <p:sldId xmlns:r="http://schemas.openxmlformats.org/officeDocument/2006/relationships" id="268" r:id="R28e260a28885490f"/>
    <p:sldId xmlns:r="http://schemas.openxmlformats.org/officeDocument/2006/relationships" id="269" r:id="R2d1217bc3dd54a6e"/>
    <p:sldId xmlns:r="http://schemas.openxmlformats.org/officeDocument/2006/relationships" id="270" r:id="Rc8e5a59ef116437f"/>
    <p:sldId xmlns:r="http://schemas.openxmlformats.org/officeDocument/2006/relationships" id="271" r:id="Rd827d38659d7412a"/>
    <p:sldId xmlns:r="http://schemas.openxmlformats.org/officeDocument/2006/relationships" id="272" r:id="R021b6378bfab4b85"/>
    <p:sldId xmlns:r="http://schemas.openxmlformats.org/officeDocument/2006/relationships" id="273" r:id="R348605a746914b65"/>
    <p:sldId xmlns:r="http://schemas.openxmlformats.org/officeDocument/2006/relationships" id="274" r:id="Rb9254fbad572455a"/>
    <p:sldId xmlns:r="http://schemas.openxmlformats.org/officeDocument/2006/relationships" id="275" r:id="R0fb1470e5949460d"/>
    <p:sldId xmlns:r="http://schemas.openxmlformats.org/officeDocument/2006/relationships" id="276" r:id="R3832b1bddc094ee3"/>
    <p:sldId xmlns:r="http://schemas.openxmlformats.org/officeDocument/2006/relationships" id="277" r:id="Rafedd4f7639d491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8944d180184994" /><Relationship Type="http://schemas.openxmlformats.org/officeDocument/2006/relationships/slideMaster" Target="/ppt/slideMasters/slideMaster1.xml" Id="Rfbb59e170dfb4dfa" /><Relationship Type="http://schemas.openxmlformats.org/officeDocument/2006/relationships/notesMaster" Target="/ppt/notesMasters/notesMaster1.xml" Id="Rcdbb86f4b9bd4f95" /><Relationship Type="http://schemas.openxmlformats.org/officeDocument/2006/relationships/presProps" Target="/ppt/presProps.xml" Id="Re22370fc8f8d4ac5" /><Relationship Type="http://schemas.openxmlformats.org/officeDocument/2006/relationships/tableStyles" Target="/ppt/tableStyles.xml" Id="Rdd5a38bb00c64127" /><Relationship Type="http://schemas.openxmlformats.org/officeDocument/2006/relationships/slide" Target="/ppt/slides/slide1.xml" Id="Rd2d55d7faeaa47d5" /><Relationship Type="http://schemas.openxmlformats.org/officeDocument/2006/relationships/slide" Target="/ppt/slides/slide2.xml" Id="Rb4e0980d376c4e68" /><Relationship Type="http://schemas.openxmlformats.org/officeDocument/2006/relationships/slide" Target="/ppt/slides/slide3.xml" Id="R8ae4e675ed9c4d11" /><Relationship Type="http://schemas.openxmlformats.org/officeDocument/2006/relationships/slide" Target="/ppt/slides/slide4.xml" Id="R57529c3fc43442ad" /><Relationship Type="http://schemas.openxmlformats.org/officeDocument/2006/relationships/slide" Target="/ppt/slides/slide5.xml" Id="Rcd52b45b56124a94" /><Relationship Type="http://schemas.openxmlformats.org/officeDocument/2006/relationships/slide" Target="/ppt/slides/slide6.xml" Id="Ra53bdd51428146ab" /><Relationship Type="http://schemas.openxmlformats.org/officeDocument/2006/relationships/slide" Target="/ppt/slides/slide7.xml" Id="Rba044dd4d6b348f5" /><Relationship Type="http://schemas.openxmlformats.org/officeDocument/2006/relationships/slide" Target="/ppt/slides/slide8.xml" Id="R6a5799277e5d4f5a" /><Relationship Type="http://schemas.openxmlformats.org/officeDocument/2006/relationships/slide" Target="/ppt/slides/slide9.xml" Id="R06c415eac2ec491a" /><Relationship Type="http://schemas.openxmlformats.org/officeDocument/2006/relationships/slide" Target="/ppt/slides/slide10.xml" Id="Rddf2ed4afe264390" /><Relationship Type="http://schemas.openxmlformats.org/officeDocument/2006/relationships/slide" Target="/ppt/slides/slide11.xml" Id="R7d38153c12ac44cf" /><Relationship Type="http://schemas.openxmlformats.org/officeDocument/2006/relationships/slide" Target="/ppt/slides/slide12.xml" Id="R373a4f8c5ed241d1" /><Relationship Type="http://schemas.openxmlformats.org/officeDocument/2006/relationships/slide" Target="/ppt/slides/slide13.xml" Id="R28e260a28885490f" /><Relationship Type="http://schemas.openxmlformats.org/officeDocument/2006/relationships/slide" Target="/ppt/slides/slide14.xml" Id="R2d1217bc3dd54a6e" /><Relationship Type="http://schemas.openxmlformats.org/officeDocument/2006/relationships/slide" Target="/ppt/slides/slide15.xml" Id="Rc8e5a59ef116437f" /><Relationship Type="http://schemas.openxmlformats.org/officeDocument/2006/relationships/slide" Target="/ppt/slides/slide16.xml" Id="Rd827d38659d7412a" /><Relationship Type="http://schemas.openxmlformats.org/officeDocument/2006/relationships/slide" Target="/ppt/slides/slide17.xml" Id="R021b6378bfab4b85" /><Relationship Type="http://schemas.openxmlformats.org/officeDocument/2006/relationships/slide" Target="/ppt/slides/slide18.xml" Id="R348605a746914b65" /><Relationship Type="http://schemas.openxmlformats.org/officeDocument/2006/relationships/slide" Target="/ppt/slides/slide19.xml" Id="Rb9254fbad572455a" /><Relationship Type="http://schemas.openxmlformats.org/officeDocument/2006/relationships/slide" Target="/ppt/slides/slide20.xml" Id="R0fb1470e5949460d" /><Relationship Type="http://schemas.openxmlformats.org/officeDocument/2006/relationships/slide" Target="/ppt/slides/slide21.xml" Id="R3832b1bddc094ee3" /><Relationship Type="http://schemas.openxmlformats.org/officeDocument/2006/relationships/slide" Target="/ppt/slides/slide22.xml" Id="Rafedd4f7639d49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2f5ff81d304a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0457e2498c49bc" /><Relationship Type="http://schemas.openxmlformats.org/officeDocument/2006/relationships/notesMaster" Target="/ppt/notesMasters/notesMaster1.xml" Id="Reb32f4d6f09b46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ae0cceeb6a4ffc" /><Relationship Type="http://schemas.openxmlformats.org/officeDocument/2006/relationships/notesMaster" Target="/ppt/notesMasters/notesMaster1.xml" Id="R642a2450a57345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9e99ef1b1c41f1" /><Relationship Type="http://schemas.openxmlformats.org/officeDocument/2006/relationships/notesMaster" Target="/ppt/notesMasters/notesMaster1.xml" Id="Rac63b024cb774c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49df7687ed4566" /><Relationship Type="http://schemas.openxmlformats.org/officeDocument/2006/relationships/notesMaster" Target="/ppt/notesMasters/notesMaster1.xml" Id="R8df8b2164ef543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fa4c5ac6b846cb" /><Relationship Type="http://schemas.openxmlformats.org/officeDocument/2006/relationships/notesMaster" Target="/ppt/notesMasters/notesMaster1.xml" Id="R525309500d8b4e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40d6f592194aae" /><Relationship Type="http://schemas.openxmlformats.org/officeDocument/2006/relationships/notesMaster" Target="/ppt/notesMasters/notesMaster1.xml" Id="R24534db7fffe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9524642be94106" /><Relationship Type="http://schemas.openxmlformats.org/officeDocument/2006/relationships/notesMaster" Target="/ppt/notesMasters/notesMaster1.xml" Id="R19f034e2bc6849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51d7b648644689" /><Relationship Type="http://schemas.openxmlformats.org/officeDocument/2006/relationships/notesMaster" Target="/ppt/notesMasters/notesMaster1.xml" Id="R6466f7a535cb4c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9a0756751b4197" /><Relationship Type="http://schemas.openxmlformats.org/officeDocument/2006/relationships/notesMaster" Target="/ppt/notesMasters/notesMaster1.xml" Id="R3fe96e750f1b41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4266fdd7bf49fc" /><Relationship Type="http://schemas.openxmlformats.org/officeDocument/2006/relationships/notesMaster" Target="/ppt/notesMasters/notesMaster1.xml" Id="R2f72de10903d4a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30a3e98efa4ddc" /><Relationship Type="http://schemas.openxmlformats.org/officeDocument/2006/relationships/notesMaster" Target="/ppt/notesMasters/notesMaster1.xml" Id="Rbc56dc227e214f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9f2b85105443fb" /><Relationship Type="http://schemas.openxmlformats.org/officeDocument/2006/relationships/notesMaster" Target="/ppt/notesMasters/notesMaster1.xml" Id="R83c3f562f35147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38bed0c29d415d" /><Relationship Type="http://schemas.openxmlformats.org/officeDocument/2006/relationships/notesMaster" Target="/ppt/notesMasters/notesMaster1.xml" Id="R9138201b0caf4e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885732aa4f4386" /><Relationship Type="http://schemas.openxmlformats.org/officeDocument/2006/relationships/notesMaster" Target="/ppt/notesMasters/notesMaster1.xml" Id="R83728d10cb5a4d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8a765c1be54d64" /><Relationship Type="http://schemas.openxmlformats.org/officeDocument/2006/relationships/notesMaster" Target="/ppt/notesMasters/notesMaster1.xml" Id="Rf9d5737a3c7b4f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c3d309c1024ef6" /><Relationship Type="http://schemas.openxmlformats.org/officeDocument/2006/relationships/notesMaster" Target="/ppt/notesMasters/notesMaster1.xml" Id="R4ab0b5b067f44e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66320de42440d2" /><Relationship Type="http://schemas.openxmlformats.org/officeDocument/2006/relationships/notesMaster" Target="/ppt/notesMasters/notesMaster1.xml" Id="R88933ce3816742e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df037c09404351" /><Relationship Type="http://schemas.openxmlformats.org/officeDocument/2006/relationships/notesMaster" Target="/ppt/notesMasters/notesMaster1.xml" Id="R1aca7c5e200449c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9d44b2f28e4d26" /><Relationship Type="http://schemas.openxmlformats.org/officeDocument/2006/relationships/notesMaster" Target="/ppt/notesMasters/notesMaster1.xml" Id="R698cb4cdd0644e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37124790624798" /><Relationship Type="http://schemas.openxmlformats.org/officeDocument/2006/relationships/notesMaster" Target="/ppt/notesMasters/notesMaster1.xml" Id="R7cbafea0961d41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f0b2a65e894402" /><Relationship Type="http://schemas.openxmlformats.org/officeDocument/2006/relationships/notesMaster" Target="/ppt/notesMasters/notesMaster1.xml" Id="Ra128116c7e6d4f8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d65fef2a73a4c89" /><Relationship Type="http://schemas.openxmlformats.org/officeDocument/2006/relationships/notesMaster" Target="/ppt/notesMasters/notesMaster1.xml" Id="Rf9c83c4c7f2a49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Willkommen. In diesem Video bauen wir gedanklich auseinander, was Google NotebookLM so stark macht, und übertragen das dann auf unsere eigene Architektur: Block Research LM. Es geht nicht darum, eine Oberfläche Pixel für Pixel zu kopieren. Es geht darum, das Produktprinzip zu verstehen: Quellen werden zu einem kontrollierten Wissensraum, der Chat, Recherche und Studio-Ausgaben trägt. Danach zeigen wir, wie wir diesen Ansatz lokal nachgebaut haben: mit Source Blocks, Chunking, Retrieval, Evidence Packs, Citation Ledger und Studio-Artefakten. Zwischendurch wechseln wir immer wieder in die App, damit die Architektur nicht abstrakt bleibt. Am Ende soll klar sein, warum das mehr ist als ein PDF-Chatbot und warum die technische Leistung vor allem in der überprüfbaren Evidence-Pipeline steckt.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erste wichtige Punkt: NotebookLM ist nicht einfach ein weiterer Chatbot mit einem Upload-Button. Google beschreibt NotebookLM als KI-gestützten Research-Assistenten, in dem man Quellen hochlädt, mit ihnen chattet und daraus verschiedene Formate erzeugt. Der entscheidende Unterschied liegt im Arbeitsraum: Die Frage wird nicht frei gegen das Internet oder gegen das allgemeine Modellwissen gestellt, sondern gegen das, was im Notebook liegt. Google nennt dabei Gemini als Modellbasis und betont klare Inline-Citations für Genauigkeit, Transparenz und Vertrauen. Für unser Video ist das der Startpunkt: Wenn wir NotebookLM nachbauen wollen, müssen wir zuerst diese Quellenbindung nachbauen, nicht nur das Chatfenster.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Produktversprechen lässt sich auf einen Satz reduzieren: Die Quellen sind die Autorität. Ein generischer Chatbot versucht fast immer, hilfreich zu antworten. Das ist angenehm, aber riskant, weil die Antwort plausibel klingt, selbst wenn sie nicht belegbar ist. Ein source-grounded System hat eine andere Pflicht. Es muss erst prüfen: Gibt es in den aktiven Quellen genug Material für diese Aussage? Wenn ja, antwortet es mit Belegen. Wenn nein, muss es abstainieren. Genau dadurch wird NotebookLM für Research, Lernen und Wissensarbeit interessant. Das System wird nicht kreativ um jeden Preis, sondern kontrolliert seinen Geltungsbereich.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sichtbare Workflow ist bewusst einfach. Erst kommen Quellen hinein: Google nennt zum Beispiel PDFs, Websites, YouTube-URLs, Audiodateien, Google Docs, Slides, Sheets, Bilder, Markdown, CSV, PowerPoint und weitere Formate. Dann arbeitet man im Chat mit genau diesem Material. Man kann Quellen einzeln ein- oder ausschließen, und Citations führen zurück zur Stelle im Material. Danach kommt Studio: Aus denselben Quellen entstehen Audio Overviews, Video Overviews, Mind Maps, Reports, Slide Decks, Infographics, Flashcards oder Quizzes. Für uns ist das eine wichtige Architekturlektion: Chat und Artefakte dürfen nicht zwei getrennte Systeme sein. Beide müssen auf derselben Evidence-Schicht stehen.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NotebookLM wurde besonders durch Audio Overviews bekannt. Google beschreibt sie als Deep-Dive-Diskussionen zwischen AI-Hosts, die die wichtigsten Themen aus den hochgeladenen Quellen erklären. Video Overviews gehen noch einen Schritt weiter: Sie verwandeln Quellen in ein visuelles, erzähltes Format, mit Styles, Sprache, Steering Prompt und visueller Aufbereitung. Der eigentliche Produktkniff ist nicht, dass eine KI zusammenfasst. Der Kniff ist, dass die gleiche Quellenbasis in ein neues Medium übersetzt wird. Genau das wollen wir im Video herausarbeiten: NotebookLM ist ein Quellenraum, aus dem viele Ausgabemedien entstehen können.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Damit kommen wir zu Block Research LM. Unser Ziel ist nicht, die Google-Oberfläche zu kopieren. Unser Ziel ist Ergebnisparität: Quellen importieren, mit Quellen chatten, Belege anzeigen, Studio-Artefakte erzeugen und das Ganze nachvollziehbar machen. Der zusätzliche Fokus liegt auf Auditierbarkeit. Wir speichern Retrieval Runs, Evidence Packs und Citation Ledgers, sodass man nicht nur das Ergebnis sieht, sondern auch den Weg dorthin. Gleichzeitig läuft der lokale Demo-Slice ohne externe Provider-Keys, weil deterministische Fallbacks eingebaut sind. Das ist für Tests, Interviews und Demos wichtig: Die Pipeline soll erklärbar und wiederholbar bleiben.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ist der erste gute Punkt für Screenshare. Öffne die App und zeige kurz die drei Bereiche. Links sind die Sources: Das ist nicht nur eine Dateiliste, sondern der Scope für Retrieval. In der Mitte ist der Chat: Hier werden Fragen gegen die aktiven Quellen gestellt. Rechts ist das Studio: Dort entstehen wiederverwendbare Artefakte. Wichtig ist, dass du nicht zu lange in UI-Details hängen bleibst. Der Zuschauer soll nur verstehen: Das ist ein Notebook-Arbeitsraum. Quellen werden aktiviert oder deaktiviert. Chat und Studio benutzen denselben Wissensbestand. Wenn du möchtest, kannst du kurz auf den Provider-Status zeigen und erklären, dass der lokale Fallback für reproduzierbare Demos existiert.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zoomen wir aus der Oberfläche heraus. Technisch ist Block Research LM eine Evidence-Pipeline. Die React Workbench und die Express API sind wichtig, aber sie sind nicht der Kern. Der Kern liegt im SourceStudio-Engine-Modell: Notebooks, Sources, Source Blocks, Chunks, Embeddings, Knowledge Objects, Retrieval Runs, Evidence Packs, Citation Ledgers, Artifact Jobs und Model Runs. Diese Objekte sorgen dafür, dass eine Antwort nicht als unprüfbarer Text vom Modell kommt. Eine Frage wird erst retrieved, dann in ein Evidence Pack übersetzt, dann vom Model Router beantwortet und anschließend vom Citation Verifier geprüft. Studio-Artefakte folgen demselben Muster.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erste technische Schritt ist Ingestion. Die App akzeptiert im aktuellen Stand Markdown und Text, Notes, URLs und PDF-Payloads mit lokalem Text-Extraction-Fallback für Demo-Szenarien. Wichtig ist nicht nur das Hochladen. Wichtig ist die Normalisierung. Jede Quelle wird in ein ParsedDocument überführt und dann in Source Blocks zerlegt. Ab diesem Moment arbeitet das System nicht mehr mit einer groben Datei, sondern mit strukturierten Einheiten. Genau diese Entscheidung ist die Grundlage für gute Citations. Wenn alles nur ein langer Textblob bleibt, kann man später kaum sauber zeigen, woher eine Aussage stammt.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Blocks sind die kleinste Einheit, auf die wir später verlässlich verweisen wollen. Ein Block kennt seine Source-ID, seine eigene stabile ID, den Heading-Pfad, Charakterbereiche und Platzhalter für Seiten oder Zeitstempel. Das klingt wie ein Detail, ist aber zentral. Viele einfache PDF-Chatbots zitieren nur den Dokumentnamen oder eine grobe Seite. Block Research LM kann auf konkrete Blöcke zeigen. Dadurch wird eine Citation nicht nur ein dekorativer Chip, sondern ein Navigationsanker. Wenn der Nutzer auf den Beleg klickt, kann die App den relevanten Source Block öffnen und hervorheben.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kommen wir zu RAG, also Retrieval-Augmented Generation. Der Chunker entscheidet, wie Wissen in abrufbare Einheiten geschnitten wird. Das ist ein Balanceproblem. Wenn ein Chunk zu groß ist, enthält er zu viele Themen und Retrieval wird unscharf. Wenn ein Chunk zu klein ist, verliert er Kontext und das Modell bekommt isolierte Satzfragmente. Deshalb behält die App Heading-Kontext und Overlap bei. Ein Chunk ist also nicht nur Text, sondern Text plus Herkunft: Source, Block-IDs, Heading-Pfad und Positionsdaten. Diese Struktur sorgt dafür, dass Retrieval präzise suchen kann, ohne die Zitierbarkeit zu verlieren.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Nach dem Chunking braucht das System eine Suchform, die nicht nur exakte Wörter findet. Dafür nutzt es Embeddings: Jeder Chunk wird in einen Vektor übersetzt, damit semantisch ähnliche Inhalte näher beieinanderliegen. Im aktuellen lokalen Slice sind diese Embeddings deterministisch. Das ist nicht als beste produktive Retrievalqualität gedacht, sondern als stabiler Demo- und Testpfad. Gleichzeitig bleibt die Architektur getrennt genug, um produktive Embedding-Provider später sauber einzubauen. Wichtig: Vektorsuche ersetzt Keyword-Suche nicht vollständig. Gute Retrieval-Systeme kombinieren lexikalische Signale, Metadaten, Entities und semantische Ähnlichkeit.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 häufiger Denkfehler ist: RAG bedeutet, dass das Modell einfach Dokumente kennt. Eigentlich ist RAG zuerst eine Auswahlmaschine. Bei jeder Frage bestimmt die App den Scope: Welche Quellen sind aktiv? Dann werden Intent und mögliche Query Rewrites berücksichtigt. Danach bewertet der Retriever Chunks über mehrere Signale: Keyword-Overlap, lokale Vektorähnlichkeit, Heading- und Metadata-Signale, Entities und Summary-Kontext. Erst daraus entsteht die Evidence, die an das Modell geht. Diese Trennung ist wichtig: Retrieval entscheidet, was überhaupt in den Kontext darf. Das Modell formuliert nur auf Basis dieser Auswahl.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Evidence Pack ist der Vertrag zwischen Retrieval und Generierung. Es sagt dem Modell nicht einfach: Hier ist viel Kontext, mach etwas daraus. Es gibt strukturierte Evidence Items mit IDs, Quotes, Source References, Support Types und Constraints. Der Prompt verlangt dann: Antworte nur aus diesem Pack. Nutze nur gültige Evidence- und Citation-IDs. Wenn die Evidence nicht reicht, sag das. Das ist ein viel stärkeres Muster als ein frei zusammenkopierter Kontextblock. Und weil Studio-Artefakte denselben Evidence-Vertrag nutzen, entstehen Reports, Quizzes oder Slide-Decks nicht aus einer anderen Wahrheit als der 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kommt die zweite Demo. Stelle zuerst eine Frage, die die Quellen beantworten können: "What is the core architectural difference between SourceStudio and a generic PDF chatbot?" Danach zeigst du die Citation Chips, die Citation Cards und den hervorgehobenen Source Block. Der Punkt ist: Die Antwort ist nicht nur plausibel, sie ist rückführbar. Danach stellst du bewusst eine Frage, die außerhalb der Quellen liegt: "What will the weather be in Berlin tomorrow?" Eine gute App soll hier nicht raten. Sie soll sagen, dass die aktiven Quellen diese Information nicht tragen. Diese Abstention ist ein Feature, kein Fehler.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Nach der Generierung ist die Arbeit noch nicht vorbei. Der Citation Verifier zerlegt die Antwort in Claims und prüft, ob die angegebenen Citations wirklich zur Aussage passen. Im lokalen Slice passiert das deterministisch über Token-Overlap und Support-Klassen: supported, partially supported, unsupported oder not checkable. Das ist kein perfekter semantischer Richter, aber es ist schnell, kostenlos, testbar und transparent. Unsupported Claims werden aus der final angezeigten Antwort entfernt. Außerdem bleibt das Ergebnis als Citation Ledger gespeichert. Dadurch kann man später nachvollziehen, welche Aussagen gestützt waren und welche nicht.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Neben den Chunks gibt es den Knowledge Layer. Pro Quelle extrahiert die Engine Summaries, Section Summaries, Claims, Entities, Dates, Numbers, Risks und Open Questions. Pro Notebook entstehen eine Notebook Summary, Topic Map, Entity Index, Connections, Contradictions, Suggested Questions und Suggested Artifacts. Warum ist das wichtig? Weil ein Notebook nicht nur eine Suchmaschine sein soll. Es soll ein strukturierter Wissensraum sein. Ein Report, eine Mind Map oder ein Quiz braucht oft mehr als den Top-Chunk zur aktuellen Frage. Solche Artefakte profitieren von zusammengefasstem und strukturiertem Wissen.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kommen wir zu den Outputs. Das Studio ist der Teil, der NotebookLM so produktiv wirken lässt: Aus denselben Quellen entstehen andere Arbeitsformen. Block Research LM unterstützt Reports, Mind Maps, Flashcards, Quizzes, Data Tables, Slide Decks, Audio Overview Transcripts, Video Overview Storyboards und Infographics. Entscheidend ist wieder die gemeinsame Evidence-Basis. Ein Artefakt ist nicht einfach eine hübsche Modellantwort. Es entsteht aus einem Retrieval Run, bekommt ein Evidence Pack und trägt Source References. Dadurch kann man später prüfen, aus welchen Quellen ein Quiz, eine Slide oder ein Audio-Skript entstanden 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dritte Demo zeigt Studio. Erzeuge zum Beispiel einen Report oder ein Quiz. Wichtig ist nicht nur das fertige Artefakt, sondern der Weg: Job startet, Evidence wird geholt, das Artefakt erscheint und die Source References bleiben sichtbar. Wenn du Zeit hast, zeige danach kurz eine Mind Map oder ein Slide Deck. Sag dabei explizit: Studio ist nicht ein zweites System neben dem Chat. Es benutzt dieselbe Pipeline. Das ist die Architekturentscheidung, die später Qualität und Vertrauen trägt. Wenn ein Output schlecht ist, kann man am Evidence Pack oder am Retrieval Run ansetzen, nicht nur am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Model Router trennt Rollen von konkreten Anbietern. Grounded Answer, Citation Verification, Artifact Generation, Summarization und Extraction sind konzeptionell eigene Aufgaben. In der App können Grounded Chat und Artefakte optional über Anthropic, OpenAI oder Gemini laufen, wenn die entsprechenden Keys lokal gesetzt sind. Ohne Keys bleibt der deterministische lokale Fallback aktiv. Das ist nicht nur bequem. Es schützt auch vor Lock-in und vor ungeplanten Kosten in Demos. Außerdem wird Provider-Output als JSON validiert. Wenn ein externer Provider ungültige Struktur liefert, kann die App auf den lokalen Generator zurückfallen und den Model Run trotzdem transparent speichern.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Für eine technische Präsentation ist es wichtig, die Trade-offs offen zu benennen. Local-first ist stark für Demos, Tests und Interviews, ersetzt aber keine produktive Storage- und Queue-Infrastruktur. Deterministische Embeddings machen das System reproduzierbar, sind aber nicht dieselbe Qualitätsklasse wie produktive Embedding-Provider. Der Citation Verifier ist transparent und unit-testbar, erkennt aber Paraphrasen nicht so gut wie ein starker semantischer Judge. Strikte JSON-Verträge begrenzen kreative Freiheit, machen Artefakte aber validierbar. Diese Entscheidungen sind bewusst: Der Slice soll zeigen, dass die Architektur stimmt, bevor man sie produktiv skaliert.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Abschluss ist die Klammer zum Anfang. NotebookLM ist nicht deshalb interessant, weil es ein Chatfenster mit Upload hat. Es ist interessant, weil es ein Architekturprinzip sichtbar macht: Sources werden zu Evidence, und Evidence wird zu überprüften Outputs. Block Research LM zeigt diese Idee als lokalen, eigenständigen Technical Slice. Wir importieren Quellen, machen sie zitierbar, chunken sie, retrieven Evidence, generieren Antworten und Artefakte, prüfen Citations und speichern den Audit Trail. Wenn du das Video abschließt, halte den Satz einfach: Das ist kein Dokument-Chat. Das ist ein source-grounded Research-System, in dem Vertrauen aus Architektur entsteht.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337cd61acb45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8c7b34acf34c82" /><Relationship Type="http://schemas.openxmlformats.org/officeDocument/2006/relationships/slideLayout" Target="/ppt/slideLayouts/slideLayout1.xml" Id="R81b47f853a5c4c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b47f853a5c4c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1d3dfe2e764dc1" /><Relationship Type="http://schemas.openxmlformats.org/officeDocument/2006/relationships/notesSlide" Target="/ppt/notesSlides/notesSlide1.xml" Id="Rbde2070e9a9645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cdd7a7123644d0" /><Relationship Type="http://schemas.openxmlformats.org/officeDocument/2006/relationships/notesSlide" Target="/ppt/notesSlides/notesSlide2.xml" Id="R914ea9ef63de46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87059fe14d4498" /><Relationship Type="http://schemas.openxmlformats.org/officeDocument/2006/relationships/notesSlide" Target="/ppt/notesSlides/notesSlide3.xml" Id="R5d8517de20494b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be9d329e42444c" /><Relationship Type="http://schemas.openxmlformats.org/officeDocument/2006/relationships/notesSlide" Target="/ppt/notesSlides/notesSlide4.xml" Id="R9b66163a69ab44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55974808d648cd" /><Relationship Type="http://schemas.openxmlformats.org/officeDocument/2006/relationships/notesSlide" Target="/ppt/notesSlides/notesSlide5.xml" Id="R999cd1cb6da64d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2e074f37794436" /><Relationship Type="http://schemas.openxmlformats.org/officeDocument/2006/relationships/notesSlide" Target="/ppt/notesSlides/notesSlide6.xml" Id="R5098f64b079b4b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372aee49494ea0" /><Relationship Type="http://schemas.openxmlformats.org/officeDocument/2006/relationships/notesSlide" Target="/ppt/notesSlides/notesSlide7.xml" Id="R1442a8138847408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41c5353eee14f47" /><Relationship Type="http://schemas.openxmlformats.org/officeDocument/2006/relationships/notesSlide" Target="/ppt/notesSlides/notesSlide8.xml" Id="R1e005e8c133f4f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742f339ba5449f" /><Relationship Type="http://schemas.openxmlformats.org/officeDocument/2006/relationships/notesSlide" Target="/ppt/notesSlides/notesSlide9.xml" Id="Rcfc92a46c72d4e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0ab1ed50d94bdd" /><Relationship Type="http://schemas.openxmlformats.org/officeDocument/2006/relationships/notesSlide" Target="/ppt/notesSlides/notesSlide10.xml" Id="R17ed14173ee04a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a8ca4a0ec448c9" /><Relationship Type="http://schemas.openxmlformats.org/officeDocument/2006/relationships/notesSlide" Target="/ppt/notesSlides/notesSlide11.xml" Id="R8a39a0684ea443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b54d9101764af9" /><Relationship Type="http://schemas.openxmlformats.org/officeDocument/2006/relationships/notesSlide" Target="/ppt/notesSlides/notesSlide12.xml" Id="R1802eaae6cc54f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55b570c097426a" /><Relationship Type="http://schemas.openxmlformats.org/officeDocument/2006/relationships/notesSlide" Target="/ppt/notesSlides/notesSlide13.xml" Id="R09b54767836744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8728efe1b649a6" /><Relationship Type="http://schemas.openxmlformats.org/officeDocument/2006/relationships/notesSlide" Target="/ppt/notesSlides/notesSlide14.xml" Id="R38c1d7ec1d4a41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c215a8e88e4713" /><Relationship Type="http://schemas.openxmlformats.org/officeDocument/2006/relationships/notesSlide" Target="/ppt/notesSlides/notesSlide15.xml" Id="R62e312eec4804d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f58fc919a8d4619" /><Relationship Type="http://schemas.openxmlformats.org/officeDocument/2006/relationships/notesSlide" Target="/ppt/notesSlides/notesSlide16.xml" Id="R7a50d6c698774e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8ae0485fc554c44" /><Relationship Type="http://schemas.openxmlformats.org/officeDocument/2006/relationships/notesSlide" Target="/ppt/notesSlides/notesSlide17.xml" Id="R3a8c5bd4337a43c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33e9e04387d421d" /><Relationship Type="http://schemas.openxmlformats.org/officeDocument/2006/relationships/notesSlide" Target="/ppt/notesSlides/notesSlide18.xml" Id="R0cf1045b05ba44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c0d34f579d348a2" /><Relationship Type="http://schemas.openxmlformats.org/officeDocument/2006/relationships/notesSlide" Target="/ppt/notesSlides/notesSlide19.xml" Id="R37ad7d1099a14f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4e1eb0a1ac4449" /><Relationship Type="http://schemas.openxmlformats.org/officeDocument/2006/relationships/notesSlide" Target="/ppt/notesSlides/notesSlide20.xml" Id="R3e3d4acaf39945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b576341566d4d17" /><Relationship Type="http://schemas.openxmlformats.org/officeDocument/2006/relationships/notesSlide" Target="/ppt/notesSlides/notesSlide21.xml" Id="R7cc1925a901045d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fbc1c7c8c854062" /><Relationship Type="http://schemas.openxmlformats.org/officeDocument/2006/relationships/notesSlide" Target="/ppt/notesSlides/notesSlide22.xml" Id="Rf528ab3132d942a0" /></Relationships>
</file>

<file path=ppt/slides/slide1.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3F1E84-5C0A-4D49-91ED-84A23DF948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3116FF-7D1E-4035-8583-27EA0680113A}"/>
              </a:ext>
            </a:extLst>
          </p:cNvPr>
          <p:cNvSpPr>
            <a:spLocks xmlns:a="http://schemas.openxmlformats.org/drawingml/2006/main" noGrp="1"/>
          </p:cNvSpPr>
          <p:nvPr/>
        </p:nvSpPr>
        <p:spPr>
          <a:xfrm xmlns:a="http://schemas.openxmlformats.org/drawingml/2006/main">
            <a:off x="5391150" y="781050"/>
            <a:ext cx="1409700" cy="14097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EEB9B3C8-56BB-4F73-B920-960A1F48ED26}"/>
              </a:ext>
            </a:extLst>
          </p:cNvPr>
          <p:cNvSpPr>
            <a:spLocks xmlns:a="http://schemas.openxmlformats.org/drawingml/2006/main" noGrp="1"/>
          </p:cNvSpPr>
          <p:nvPr/>
        </p:nvSpPr>
        <p:spPr>
          <a:xfrm xmlns:a="http://schemas.openxmlformats.org/drawingml/2006/main">
            <a:off x="5743575" y="1020699"/>
            <a:ext cx="704850" cy="91630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88000"/>
              </a:lnSpc>
              <a:buNone/>
              <a:defRPr sz="3525" b="1">
                <a:solidFill>
                  <a:srgbClr val="FFFFFF"/>
                </a:solidFill>
                <a:latin typeface="Aptos"/>
                <a:ea typeface="Aptos"/>
                <a:cs typeface="Aptos"/>
              </a:defRPr>
            </a:pPr>
            <a:r>
              <a:rPr sz="3525" b="1">
                <a:solidFill>
                  <a:srgbClr val="FFFFFF"/>
                </a:solidFill>
                <a:latin typeface="Aptos"/>
                <a:ea typeface="Aptos"/>
                <a:cs typeface="Aptos"/>
              </a:rPr>
              <a:t>b.</a:t>
            </a:r>
          </a:p>
          <a:p xmlns:a="http://schemas.openxmlformats.org/drawingml/2006/main">
            <a:pPr algn="ctr">
              <a:lnSpc>
                <a:spcPct val="88000"/>
              </a:lnSpc>
              <a:buNone/>
              <a:defRPr sz="3525" b="1">
                <a:solidFill>
                  <a:srgbClr val="FFFFFF"/>
                </a:solidFill>
                <a:latin typeface="Aptos"/>
                <a:ea typeface="Aptos"/>
                <a:cs typeface="Aptos"/>
              </a:defRPr>
            </a:pPr>
            <a:r>
              <a:rPr sz="3525" b="1">
                <a:solidFill>
                  <a:srgbClr val="FFFFFF"/>
                </a:solidFill>
                <a:latin typeface="Aptos"/>
                <a:ea typeface="Aptos"/>
                <a:cs typeface="Aptos"/>
              </a:rPr>
              <a:t>ai</a:t>
            </a:r>
          </a:p>
        </p:txBody>
      </p:sp>
      <p:sp>
        <p:nvSpPr>
          <p:cNvPr id="4" name="">
            <a:extLst xmlns:a="http://schemas.openxmlformats.org/drawingml/2006/main">
              <a:ext uri="{FF2B5EF4-FFF2-40B4-BE49-F238E27FC236}">
                <a16:creationId xmlns:a16="http://schemas.microsoft.com/office/drawing/2014/main" id="{6BFFC3FB-7E6F-46EF-89BC-A51C783E772A}"/>
              </a:ext>
            </a:extLst>
          </p:cNvPr>
          <p:cNvSpPr>
            <a:spLocks xmlns:a="http://schemas.openxmlformats.org/drawingml/2006/main" noGrp="1"/>
          </p:cNvSpPr>
          <p:nvPr/>
        </p:nvSpPr>
        <p:spPr>
          <a:xfrm xmlns:a="http://schemas.openxmlformats.org/drawingml/2006/main">
            <a:off x="1381125" y="2428875"/>
            <a:ext cx="9429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4350" b="1">
                <a:solidFill>
                  <a:srgbClr val="F8FAFC"/>
                </a:solidFill>
                <a:latin typeface="Aptos Display"/>
                <a:ea typeface="Aptos Display"/>
                <a:cs typeface="Aptos Display"/>
              </a:defRPr>
            </a:pPr>
            <a:r>
              <a:rPr sz="4350" b="1">
                <a:solidFill>
                  <a:srgbClr val="F8FAFC"/>
                </a:solidFill>
                <a:latin typeface="Aptos Display"/>
                <a:ea typeface="Aptos Display"/>
                <a:cs typeface="Aptos Display"/>
              </a:rPr>
              <a:t>Block Research LM</a:t>
            </a:r>
          </a:p>
        </p:txBody>
      </p:sp>
      <p:sp>
        <p:nvSpPr>
          <p:cNvPr id="5" name="">
            <a:extLst xmlns:a="http://schemas.openxmlformats.org/drawingml/2006/main">
              <a:ext uri="{FF2B5EF4-FFF2-40B4-BE49-F238E27FC236}">
                <a16:creationId xmlns:a16="http://schemas.microsoft.com/office/drawing/2014/main" id="{4636BF4F-2C6F-4F16-8C3D-E53A8DF925F8}"/>
              </a:ext>
            </a:extLst>
          </p:cNvPr>
          <p:cNvSpPr>
            <a:spLocks xmlns:a="http://schemas.openxmlformats.org/drawingml/2006/main" noGrp="1"/>
          </p:cNvSpPr>
          <p:nvPr/>
        </p:nvSpPr>
        <p:spPr>
          <a:xfrm xmlns:a="http://schemas.openxmlformats.org/drawingml/2006/main">
            <a:off x="2000250" y="3314700"/>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75" b="0">
                <a:solidFill>
                  <a:srgbClr val="CBD5E1"/>
                </a:solidFill>
                <a:latin typeface="Aptos"/>
                <a:ea typeface="Aptos"/>
                <a:cs typeface="Aptos"/>
              </a:defRPr>
            </a:pPr>
            <a:r>
              <a:rPr sz="1875" b="0">
                <a:solidFill>
                  <a:srgbClr val="CBD5E1"/>
                </a:solidFill>
                <a:latin typeface="Aptos"/>
                <a:ea typeface="Aptos"/>
                <a:cs typeface="Aptos"/>
              </a:rPr>
              <a:t>NotebookLM verstehen, Architektur nachbauen, YouTube-Demo daraus machen</a:t>
            </a:r>
          </a:p>
        </p:txBody>
      </p:sp>
      <p:sp>
        <p:nvSpPr>
          <p:cNvPr id="6" name="">
            <a:extLst xmlns:a="http://schemas.openxmlformats.org/drawingml/2006/main">
              <a:ext uri="{FF2B5EF4-FFF2-40B4-BE49-F238E27FC236}">
                <a16:creationId xmlns:a16="http://schemas.microsoft.com/office/drawing/2014/main" id="{07390011-E52F-4BCA-B053-4AEA9B8B4862}"/>
              </a:ext>
            </a:extLst>
          </p:cNvPr>
          <p:cNvSpPr>
            <a:spLocks xmlns:a="http://schemas.openxmlformats.org/drawingml/2006/main" noGrp="1"/>
          </p:cNvSpPr>
          <p:nvPr/>
        </p:nvSpPr>
        <p:spPr>
          <a:xfrm xmlns:a="http://schemas.openxmlformats.org/drawingml/2006/main">
            <a:off x="1885950" y="4305300"/>
            <a:ext cx="1619250" cy="361950"/>
          </a:xfrm>
          <a:prstGeom xmlns:a="http://schemas.openxmlformats.org/drawingml/2006/main" prst="roundRect">
            <a:avLst>
              <a:gd name="adj" fmla="val 47368"/>
            </a:avLst>
          </a:prstGeom>
          <a:solidFill xmlns:a="http://schemas.openxmlformats.org/drawingml/2006/main">
            <a:srgbClr val="36E0F2">
              <a:alpha val="14000"/>
            </a:srgbClr>
          </a:solidFill>
          <a:ln xmlns:a="http://schemas.openxmlformats.org/drawingml/2006/main" w="9525">
            <a:solidFill>
              <a:srgbClr val="36E0F2">
                <a:alpha val="60000"/>
              </a:srgbClr>
            </a:solidFill>
            <a:prstDash val="solid"/>
          </a:ln>
        </p:spPr>
      </p:sp>
      <p:sp>
        <p:nvSpPr>
          <p:cNvPr id="7" name="">
            <a:extLst xmlns:a="http://schemas.openxmlformats.org/drawingml/2006/main">
              <a:ext uri="{FF2B5EF4-FFF2-40B4-BE49-F238E27FC236}">
                <a16:creationId xmlns:a16="http://schemas.microsoft.com/office/drawing/2014/main" id="{4F1C3182-50DE-47FC-ABA6-0FED1AE69152}"/>
              </a:ext>
            </a:extLst>
          </p:cNvPr>
          <p:cNvSpPr>
            <a:spLocks xmlns:a="http://schemas.openxmlformats.org/drawingml/2006/main" noGrp="1"/>
          </p:cNvSpPr>
          <p:nvPr/>
        </p:nvSpPr>
        <p:spPr>
          <a:xfrm xmlns:a="http://schemas.openxmlformats.org/drawingml/2006/main">
            <a:off x="2019300" y="437197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36E0F2"/>
                </a:solidFill>
                <a:latin typeface="Aptos"/>
                <a:ea typeface="Aptos"/>
                <a:cs typeface="Aptos"/>
              </a:defRPr>
            </a:pPr>
            <a:r>
              <a:rPr sz="1050" b="1">
                <a:solidFill>
                  <a:srgbClr val="36E0F2"/>
                </a:solidFill>
                <a:latin typeface="Aptos"/>
                <a:ea typeface="Aptos"/>
                <a:cs typeface="Aptos"/>
              </a:rPr>
              <a:t>NotebookLM</a:t>
            </a:r>
          </a:p>
        </p:txBody>
      </p:sp>
      <p:sp>
        <p:nvSpPr>
          <p:cNvPr id="8" name="">
            <a:extLst xmlns:a="http://schemas.openxmlformats.org/drawingml/2006/main">
              <a:ext uri="{FF2B5EF4-FFF2-40B4-BE49-F238E27FC236}">
                <a16:creationId xmlns:a16="http://schemas.microsoft.com/office/drawing/2014/main" id="{3F84CE3D-129E-4482-B051-2080328FF88B}"/>
              </a:ext>
            </a:extLst>
          </p:cNvPr>
          <p:cNvSpPr>
            <a:spLocks xmlns:a="http://schemas.openxmlformats.org/drawingml/2006/main" noGrp="1"/>
          </p:cNvSpPr>
          <p:nvPr/>
        </p:nvSpPr>
        <p:spPr>
          <a:xfrm xmlns:a="http://schemas.openxmlformats.org/drawingml/2006/main">
            <a:off x="3714750" y="4305300"/>
            <a:ext cx="1809750" cy="361950"/>
          </a:xfrm>
          <a:prstGeom xmlns:a="http://schemas.openxmlformats.org/drawingml/2006/main" prst="roundRect">
            <a:avLst>
              <a:gd name="adj" fmla="val 47368"/>
            </a:avLst>
          </a:prstGeom>
          <a:solidFill xmlns:a="http://schemas.openxmlformats.org/drawingml/2006/main">
            <a:srgbClr val="34D399">
              <a:alpha val="14000"/>
            </a:srgbClr>
          </a:solidFill>
          <a:ln xmlns:a="http://schemas.openxmlformats.org/drawingml/2006/main" w="9525">
            <a:solidFill>
              <a:srgbClr val="34D399">
                <a:alpha val="60000"/>
              </a:srgbClr>
            </a:solidFill>
            <a:prstDash val="solid"/>
          </a:ln>
        </p:spPr>
      </p:sp>
      <p:sp>
        <p:nvSpPr>
          <p:cNvPr id="9" name="">
            <a:extLst xmlns:a="http://schemas.openxmlformats.org/drawingml/2006/main">
              <a:ext uri="{FF2B5EF4-FFF2-40B4-BE49-F238E27FC236}">
                <a16:creationId xmlns:a16="http://schemas.microsoft.com/office/drawing/2014/main" id="{B4C3C243-FD9E-4B39-A0B4-EC88278CDF62}"/>
              </a:ext>
            </a:extLst>
          </p:cNvPr>
          <p:cNvSpPr>
            <a:spLocks xmlns:a="http://schemas.openxmlformats.org/drawingml/2006/main" noGrp="1"/>
          </p:cNvSpPr>
          <p:nvPr/>
        </p:nvSpPr>
        <p:spPr>
          <a:xfrm xmlns:a="http://schemas.openxmlformats.org/drawingml/2006/main">
            <a:off x="3848100" y="4371975"/>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34D399"/>
                </a:solidFill>
                <a:latin typeface="Aptos"/>
                <a:ea typeface="Aptos"/>
                <a:cs typeface="Aptos"/>
              </a:defRPr>
            </a:pPr>
            <a:r>
              <a:rPr sz="1050" b="1">
                <a:solidFill>
                  <a:srgbClr val="34D399"/>
                </a:solidFill>
                <a:latin typeface="Aptos"/>
                <a:ea typeface="Aptos"/>
                <a:cs typeface="Aptos"/>
              </a:rPr>
              <a:t>RAG + Chunking</a:t>
            </a:r>
          </a:p>
        </p:txBody>
      </p:sp>
      <p:sp>
        <p:nvSpPr>
          <p:cNvPr id="10" name="">
            <a:extLst xmlns:a="http://schemas.openxmlformats.org/drawingml/2006/main">
              <a:ext uri="{FF2B5EF4-FFF2-40B4-BE49-F238E27FC236}">
                <a16:creationId xmlns:a16="http://schemas.microsoft.com/office/drawing/2014/main" id="{2B837669-4CB8-4776-A295-24373D3A6A8B}"/>
              </a:ext>
            </a:extLst>
          </p:cNvPr>
          <p:cNvSpPr>
            <a:spLocks xmlns:a="http://schemas.openxmlformats.org/drawingml/2006/main" noGrp="1"/>
          </p:cNvSpPr>
          <p:nvPr/>
        </p:nvSpPr>
        <p:spPr>
          <a:xfrm xmlns:a="http://schemas.openxmlformats.org/drawingml/2006/main">
            <a:off x="5734050" y="4305300"/>
            <a:ext cx="1809750" cy="361950"/>
          </a:xfrm>
          <a:prstGeom xmlns:a="http://schemas.openxmlformats.org/drawingml/2006/main" prst="roundRect">
            <a:avLst>
              <a:gd name="adj" fmla="val 47368"/>
            </a:avLst>
          </a:prstGeom>
          <a:solidFill xmlns:a="http://schemas.openxmlformats.org/drawingml/2006/main">
            <a:srgbClr val="FBBF24">
              <a:alpha val="14000"/>
            </a:srgbClr>
          </a:solidFill>
          <a:ln xmlns:a="http://schemas.openxmlformats.org/drawingml/2006/main" w="9525">
            <a:solidFill>
              <a:srgbClr val="FBBF24">
                <a:alpha val="60000"/>
              </a:srgbClr>
            </a:solidFill>
            <a:prstDash val="solid"/>
          </a:ln>
        </p:spPr>
      </p:sp>
      <p:sp>
        <p:nvSpPr>
          <p:cNvPr id="11" name="">
            <a:extLst xmlns:a="http://schemas.openxmlformats.org/drawingml/2006/main">
              <a:ext uri="{FF2B5EF4-FFF2-40B4-BE49-F238E27FC236}">
                <a16:creationId xmlns:a16="http://schemas.microsoft.com/office/drawing/2014/main" id="{B3555CBD-FDB1-4121-859D-D9BEA40527C2}"/>
              </a:ext>
            </a:extLst>
          </p:cNvPr>
          <p:cNvSpPr>
            <a:spLocks xmlns:a="http://schemas.openxmlformats.org/drawingml/2006/main" noGrp="1"/>
          </p:cNvSpPr>
          <p:nvPr/>
        </p:nvSpPr>
        <p:spPr>
          <a:xfrm xmlns:a="http://schemas.openxmlformats.org/drawingml/2006/main">
            <a:off x="5867400" y="4371975"/>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FBBF24"/>
                </a:solidFill>
                <a:latin typeface="Aptos"/>
                <a:ea typeface="Aptos"/>
                <a:cs typeface="Aptos"/>
              </a:defRPr>
            </a:pPr>
            <a:r>
              <a:rPr sz="1050" b="1">
                <a:solidFill>
                  <a:srgbClr val="FBBF24"/>
                </a:solidFill>
                <a:latin typeface="Aptos"/>
                <a:ea typeface="Aptos"/>
                <a:cs typeface="Aptos"/>
              </a:rPr>
              <a:t>Evidence Packs</a:t>
            </a:r>
          </a:p>
        </p:txBody>
      </p:sp>
      <p:sp>
        <p:nvSpPr>
          <p:cNvPr id="12" name="">
            <a:extLst xmlns:a="http://schemas.openxmlformats.org/drawingml/2006/main">
              <a:ext uri="{FF2B5EF4-FFF2-40B4-BE49-F238E27FC236}">
                <a16:creationId xmlns:a16="http://schemas.microsoft.com/office/drawing/2014/main" id="{1A2DEA22-7983-4203-8ADC-EBDABFAB0A13}"/>
              </a:ext>
            </a:extLst>
          </p:cNvPr>
          <p:cNvSpPr>
            <a:spLocks xmlns:a="http://schemas.openxmlformats.org/drawingml/2006/main" noGrp="1"/>
          </p:cNvSpPr>
          <p:nvPr/>
        </p:nvSpPr>
        <p:spPr>
          <a:xfrm xmlns:a="http://schemas.openxmlformats.org/drawingml/2006/main">
            <a:off x="7753350" y="4305300"/>
            <a:ext cx="1809750" cy="361950"/>
          </a:xfrm>
          <a:prstGeom xmlns:a="http://schemas.openxmlformats.org/drawingml/2006/main" prst="roundRect">
            <a:avLst>
              <a:gd name="adj" fmla="val 47368"/>
            </a:avLst>
          </a:prstGeom>
          <a:solidFill xmlns:a="http://schemas.openxmlformats.org/drawingml/2006/main">
            <a:srgbClr val="A78BFA">
              <a:alpha val="14000"/>
            </a:srgbClr>
          </a:solidFill>
          <a:ln xmlns:a="http://schemas.openxmlformats.org/drawingml/2006/main" w="9525">
            <a:solidFill>
              <a:srgbClr val="A78BFA">
                <a:alpha val="60000"/>
              </a:srgbClr>
            </a:solidFill>
            <a:prstDash val="solid"/>
          </a:ln>
        </p:spPr>
      </p:sp>
      <p:sp>
        <p:nvSpPr>
          <p:cNvPr id="13" name="">
            <a:extLst xmlns:a="http://schemas.openxmlformats.org/drawingml/2006/main">
              <a:ext uri="{FF2B5EF4-FFF2-40B4-BE49-F238E27FC236}">
                <a16:creationId xmlns:a16="http://schemas.microsoft.com/office/drawing/2014/main" id="{3ABA6A07-3549-4EE4-B392-DD08D71D60E0}"/>
              </a:ext>
            </a:extLst>
          </p:cNvPr>
          <p:cNvSpPr>
            <a:spLocks xmlns:a="http://schemas.openxmlformats.org/drawingml/2006/main" noGrp="1"/>
          </p:cNvSpPr>
          <p:nvPr/>
        </p:nvSpPr>
        <p:spPr>
          <a:xfrm xmlns:a="http://schemas.openxmlformats.org/drawingml/2006/main">
            <a:off x="7886700" y="4371975"/>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A78BFA"/>
                </a:solidFill>
                <a:latin typeface="Aptos"/>
                <a:ea typeface="Aptos"/>
                <a:cs typeface="Aptos"/>
              </a:defRPr>
            </a:pPr>
            <a:r>
              <a:rPr sz="1050" b="1">
                <a:solidFill>
                  <a:srgbClr val="A78BFA"/>
                </a:solidFill>
                <a:latin typeface="Aptos"/>
                <a:ea typeface="Aptos"/>
                <a:cs typeface="Aptos"/>
              </a:rPr>
              <a:t>Studio Outputs</a:t>
            </a:r>
          </a:p>
        </p:txBody>
      </p:sp>
      <p:sp>
        <p:nvSpPr>
          <p:cNvPr id="14" name="">
            <a:extLst xmlns:a="http://schemas.openxmlformats.org/drawingml/2006/main">
              <a:ext uri="{FF2B5EF4-FFF2-40B4-BE49-F238E27FC236}">
                <a16:creationId xmlns:a16="http://schemas.microsoft.com/office/drawing/2014/main" id="{B43418F4-2C98-4004-B844-56CC00262F8D}"/>
              </a:ext>
            </a:extLst>
          </p:cNvPr>
          <p:cNvSpPr>
            <a:spLocks xmlns:a="http://schemas.openxmlformats.org/drawingml/2006/main" noGrp="1"/>
          </p:cNvSpPr>
          <p:nvPr/>
        </p:nvSpPr>
        <p:spPr>
          <a:xfrm xmlns:a="http://schemas.openxmlformats.org/drawingml/2006/main">
            <a:off x="4476750" y="5857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75" b="0">
                <a:solidFill>
                  <a:srgbClr val="7E8AA2"/>
                </a:solidFill>
                <a:latin typeface="Aptos"/>
                <a:ea typeface="Aptos"/>
                <a:cs typeface="Aptos"/>
              </a:defRPr>
            </a:pPr>
            <a:r>
              <a:rPr sz="975" b="0">
                <a:solidFill>
                  <a:srgbClr val="7E8AA2"/>
                </a:solidFill>
                <a:latin typeface="Aptos"/>
                <a:ea typeface="Aptos"/>
                <a:cs typeface="Aptos"/>
              </a:rPr>
              <a:t>Stand: 1. Juli 2026</a:t>
            </a:r>
          </a:p>
        </p:txBody>
      </p:sp>
    </p:spTree>
    <p:extLst>
      <p:ext uri="{BB962C8B-B14F-4D97-AF65-F5344CB8AC3E}">
        <p14:creationId xmlns:p14="http://schemas.microsoft.com/office/powerpoint/2010/main" val="671587363"/>
      </p:ext>
    </p:extLst>
  </p:cSld>
</p:sld>
</file>

<file path=ppt/slides/slide2.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4BC41A-22D6-46BC-86E9-CB8E8118E7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F3F04B-8FC1-4213-B2F7-FD6108DAA8C0}"/>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7A47C93A-DA65-41A4-8050-A02C4CAC411F}"/>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27E42406-1196-44AD-8FF4-6B643B115DF5}"/>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02 / 22</a:t>
            </a:r>
          </a:p>
        </p:txBody>
      </p:sp>
      <p:sp>
        <p:nvSpPr>
          <p:cNvPr id="5" name="">
            <a:extLst xmlns:a="http://schemas.openxmlformats.org/drawingml/2006/main">
              <a:ext uri="{FF2B5EF4-FFF2-40B4-BE49-F238E27FC236}">
                <a16:creationId xmlns:a16="http://schemas.microsoft.com/office/drawing/2014/main" id="{DE3F56A8-B64F-4702-B4A5-A35E257C8E43}"/>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F7D22BF1-32AC-485E-BDD1-8DD76D12934C}"/>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DAS ORIGINAL</a:t>
            </a:r>
          </a:p>
        </p:txBody>
      </p:sp>
      <p:sp>
        <p:nvSpPr>
          <p:cNvPr id="7" name="">
            <a:extLst xmlns:a="http://schemas.openxmlformats.org/drawingml/2006/main">
              <a:ext uri="{FF2B5EF4-FFF2-40B4-BE49-F238E27FC236}">
                <a16:creationId xmlns:a16="http://schemas.microsoft.com/office/drawing/2014/main" id="{43F0F7BA-7D10-4F0E-AC2A-EA0E46EB3C69}"/>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NotebookLM ist kein normaler Chatbot</a:t>
            </a:r>
          </a:p>
        </p:txBody>
      </p:sp>
      <p:sp>
        <p:nvSpPr>
          <p:cNvPr id="8" name="">
            <a:extLst xmlns:a="http://schemas.openxmlformats.org/drawingml/2006/main">
              <a:ext uri="{FF2B5EF4-FFF2-40B4-BE49-F238E27FC236}">
                <a16:creationId xmlns:a16="http://schemas.microsoft.com/office/drawing/2014/main" id="{F9D55C29-2B90-46CC-9169-CC92D3D73E9D}"/>
              </a:ext>
            </a:extLst>
          </p:cNvPr>
          <p:cNvSpPr>
            <a:spLocks xmlns:a="http://schemas.openxmlformats.org/drawingml/2006/main" noGrp="1"/>
          </p:cNvSpPr>
          <p:nvPr/>
        </p:nvSpPr>
        <p:spPr>
          <a:xfrm xmlns:a="http://schemas.openxmlformats.org/drawingml/2006/main">
            <a:off x="800100" y="2524125"/>
            <a:ext cx="2381250" cy="1762125"/>
          </a:xfrm>
          <a:prstGeom xmlns:a="http://schemas.openxmlformats.org/drawingml/2006/main" prst="roundRect">
            <a:avLst>
              <a:gd name="adj" fmla="val 9730"/>
            </a:avLst>
          </a:prstGeom>
          <a:solidFill xmlns:a="http://schemas.openxmlformats.org/drawingml/2006/main">
            <a:srgbClr val="36E0F2">
              <a:alpha val="10000"/>
            </a:srgbClr>
          </a:solidFill>
          <a:ln xmlns:a="http://schemas.openxmlformats.org/drawingml/2006/main" w="11430">
            <a:solidFill>
              <a:srgbClr val="36E0F2">
                <a:alpha val="60000"/>
              </a:srgbClr>
            </a:solidFill>
            <a:prstDash val="solid"/>
          </a:ln>
        </p:spPr>
      </p:sp>
      <p:sp>
        <p:nvSpPr>
          <p:cNvPr id="9" name="">
            <a:extLst xmlns:a="http://schemas.openxmlformats.org/drawingml/2006/main">
              <a:ext uri="{FF2B5EF4-FFF2-40B4-BE49-F238E27FC236}">
                <a16:creationId xmlns:a16="http://schemas.microsoft.com/office/drawing/2014/main" id="{BF03A93A-6713-4C01-85ED-52F527ED482B}"/>
              </a:ext>
            </a:extLst>
          </p:cNvPr>
          <p:cNvSpPr>
            <a:spLocks xmlns:a="http://schemas.openxmlformats.org/drawingml/2006/main" noGrp="1"/>
          </p:cNvSpPr>
          <p:nvPr/>
        </p:nvSpPr>
        <p:spPr>
          <a:xfrm xmlns:a="http://schemas.openxmlformats.org/drawingml/2006/main">
            <a:off x="1009650" y="2743200"/>
            <a:ext cx="114300" cy="114300"/>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0" name="">
            <a:extLst xmlns:a="http://schemas.openxmlformats.org/drawingml/2006/main">
              <a:ext uri="{FF2B5EF4-FFF2-40B4-BE49-F238E27FC236}">
                <a16:creationId xmlns:a16="http://schemas.microsoft.com/office/drawing/2014/main" id="{8E3FDE4B-8E43-470D-8051-6FDA85D16263}"/>
              </a:ext>
            </a:extLst>
          </p:cNvPr>
          <p:cNvSpPr>
            <a:spLocks xmlns:a="http://schemas.openxmlformats.org/drawingml/2006/main" noGrp="1"/>
          </p:cNvSpPr>
          <p:nvPr/>
        </p:nvSpPr>
        <p:spPr>
          <a:xfrm xmlns:a="http://schemas.openxmlformats.org/drawingml/2006/main">
            <a:off x="1009650" y="302895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75" b="1">
                <a:solidFill>
                  <a:srgbClr val="F8FAFC"/>
                </a:solidFill>
                <a:latin typeface="Aptos"/>
                <a:ea typeface="Aptos"/>
                <a:cs typeface="Aptos"/>
              </a:defRPr>
            </a:pPr>
            <a:r>
              <a:rPr sz="1875" b="1">
                <a:solidFill>
                  <a:srgbClr val="F8FAFC"/>
                </a:solidFill>
                <a:latin typeface="Aptos"/>
                <a:ea typeface="Aptos"/>
                <a:cs typeface="Aptos"/>
              </a:rPr>
              <a:t>Sources</a:t>
            </a:r>
          </a:p>
        </p:txBody>
      </p:sp>
      <p:sp>
        <p:nvSpPr>
          <p:cNvPr id="11" name="">
            <a:extLst xmlns:a="http://schemas.openxmlformats.org/drawingml/2006/main">
              <a:ext uri="{FF2B5EF4-FFF2-40B4-BE49-F238E27FC236}">
                <a16:creationId xmlns:a16="http://schemas.microsoft.com/office/drawing/2014/main" id="{2AAE29C3-19FB-419D-8AF1-1F8343AAA548}"/>
              </a:ext>
            </a:extLst>
          </p:cNvPr>
          <p:cNvSpPr>
            <a:spLocks xmlns:a="http://schemas.openxmlformats.org/drawingml/2006/main" noGrp="1"/>
          </p:cNvSpPr>
          <p:nvPr/>
        </p:nvSpPr>
        <p:spPr>
          <a:xfrm xmlns:a="http://schemas.openxmlformats.org/drawingml/2006/main">
            <a:off x="1009650" y="3524250"/>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2000"/>
              </a:lnSpc>
              <a:buNone/>
              <a:defRPr sz="1275" b="0">
                <a:solidFill>
                  <a:srgbClr val="CBD5E1"/>
                </a:solidFill>
                <a:latin typeface="Aptos"/>
                <a:ea typeface="Aptos"/>
                <a:cs typeface="Aptos"/>
              </a:defRPr>
            </a:pPr>
            <a:r>
              <a:rPr sz="1275" b="0">
                <a:solidFill>
                  <a:srgbClr val="CBD5E1"/>
                </a:solidFill>
                <a:latin typeface="Aptos"/>
                <a:ea typeface="Aptos"/>
                <a:cs typeface="Aptos"/>
              </a:rPr>
              <a:t>PDFs, Websites, YouTube, Audio, Docs, Slides</a:t>
            </a:r>
          </a:p>
        </p:txBody>
      </p:sp>
      <p:sp>
        <p:nvSpPr>
          <p:cNvPr id="12" name="">
            <a:extLst xmlns:a="http://schemas.openxmlformats.org/drawingml/2006/main">
              <a:ext uri="{FF2B5EF4-FFF2-40B4-BE49-F238E27FC236}">
                <a16:creationId xmlns:a16="http://schemas.microsoft.com/office/drawing/2014/main" id="{B6C9AF86-0350-4BD0-B331-399D2B105256}"/>
              </a:ext>
            </a:extLst>
          </p:cNvPr>
          <p:cNvSpPr>
            <a:spLocks xmlns:a="http://schemas.openxmlformats.org/drawingml/2006/main" noGrp="1"/>
          </p:cNvSpPr>
          <p:nvPr/>
        </p:nvSpPr>
        <p:spPr>
          <a:xfrm xmlns:a="http://schemas.openxmlformats.org/drawingml/2006/main">
            <a:off x="3524250" y="2524125"/>
            <a:ext cx="2381250" cy="1762125"/>
          </a:xfrm>
          <a:prstGeom xmlns:a="http://schemas.openxmlformats.org/drawingml/2006/main" prst="roundRect">
            <a:avLst>
              <a:gd name="adj" fmla="val 9730"/>
            </a:avLst>
          </a:prstGeom>
          <a:solidFill xmlns:a="http://schemas.openxmlformats.org/drawingml/2006/main">
            <a:srgbClr val="6D7BFF">
              <a:alpha val="10000"/>
            </a:srgbClr>
          </a:solidFill>
          <a:ln xmlns:a="http://schemas.openxmlformats.org/drawingml/2006/main" w="11430">
            <a:solidFill>
              <a:srgbClr val="6D7BFF">
                <a:alpha val="60000"/>
              </a:srgbClr>
            </a:solidFill>
            <a:prstDash val="solid"/>
          </a:ln>
        </p:spPr>
      </p:sp>
      <p:sp>
        <p:nvSpPr>
          <p:cNvPr id="13" name="">
            <a:extLst xmlns:a="http://schemas.openxmlformats.org/drawingml/2006/main">
              <a:ext uri="{FF2B5EF4-FFF2-40B4-BE49-F238E27FC236}">
                <a16:creationId xmlns:a16="http://schemas.microsoft.com/office/drawing/2014/main" id="{AF127E2F-BCD1-4DFB-A73D-356D11DDC9CC}"/>
              </a:ext>
            </a:extLst>
          </p:cNvPr>
          <p:cNvSpPr>
            <a:spLocks xmlns:a="http://schemas.openxmlformats.org/drawingml/2006/main" noGrp="1"/>
          </p:cNvSpPr>
          <p:nvPr/>
        </p:nvSpPr>
        <p:spPr>
          <a:xfrm xmlns:a="http://schemas.openxmlformats.org/drawingml/2006/main">
            <a:off x="3733800" y="2743200"/>
            <a:ext cx="114300" cy="114300"/>
          </a:xfrm>
          <a:prstGeom xmlns:a="http://schemas.openxmlformats.org/drawingml/2006/main" prst="ellipse">
            <a:avLst/>
          </a:prstGeom>
          <a:solidFill xmlns:a="http://schemas.openxmlformats.org/drawingml/2006/main">
            <a:srgbClr val="6D7BFF"/>
          </a:solidFill>
          <a:ln xmlns:a="http://schemas.openxmlformats.org/drawingml/2006/main" w="0">
            <a:solidFill>
              <a:srgbClr val="6D7BFF"/>
            </a:solidFill>
            <a:prstDash val="solid"/>
          </a:ln>
        </p:spPr>
      </p:sp>
      <p:sp>
        <p:nvSpPr>
          <p:cNvPr id="14" name="">
            <a:extLst xmlns:a="http://schemas.openxmlformats.org/drawingml/2006/main">
              <a:ext uri="{FF2B5EF4-FFF2-40B4-BE49-F238E27FC236}">
                <a16:creationId xmlns:a16="http://schemas.microsoft.com/office/drawing/2014/main" id="{E93AFD89-35B4-46E9-90D5-51037C7D3228}"/>
              </a:ext>
            </a:extLst>
          </p:cNvPr>
          <p:cNvSpPr>
            <a:spLocks xmlns:a="http://schemas.openxmlformats.org/drawingml/2006/main" noGrp="1"/>
          </p:cNvSpPr>
          <p:nvPr/>
        </p:nvSpPr>
        <p:spPr>
          <a:xfrm xmlns:a="http://schemas.openxmlformats.org/drawingml/2006/main">
            <a:off x="3733800" y="302895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75" b="1">
                <a:solidFill>
                  <a:srgbClr val="F8FAFC"/>
                </a:solidFill>
                <a:latin typeface="Aptos"/>
                <a:ea typeface="Aptos"/>
                <a:cs typeface="Aptos"/>
              </a:defRPr>
            </a:pPr>
            <a:r>
              <a:rPr sz="1875" b="1">
                <a:solidFill>
                  <a:srgbClr val="F8FAFC"/>
                </a:solidFill>
                <a:latin typeface="Aptos"/>
                <a:ea typeface="Aptos"/>
                <a:cs typeface="Aptos"/>
              </a:rPr>
              <a:t>Gemini</a:t>
            </a:r>
          </a:p>
        </p:txBody>
      </p:sp>
      <p:sp>
        <p:nvSpPr>
          <p:cNvPr id="15" name="">
            <a:extLst xmlns:a="http://schemas.openxmlformats.org/drawingml/2006/main">
              <a:ext uri="{FF2B5EF4-FFF2-40B4-BE49-F238E27FC236}">
                <a16:creationId xmlns:a16="http://schemas.microsoft.com/office/drawing/2014/main" id="{55545202-10D6-402C-86ED-C5A3A99ADAF7}"/>
              </a:ext>
            </a:extLst>
          </p:cNvPr>
          <p:cNvSpPr>
            <a:spLocks xmlns:a="http://schemas.openxmlformats.org/drawingml/2006/main" noGrp="1"/>
          </p:cNvSpPr>
          <p:nvPr/>
        </p:nvSpPr>
        <p:spPr>
          <a:xfrm xmlns:a="http://schemas.openxmlformats.org/drawingml/2006/main">
            <a:off x="3733800" y="3524250"/>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2000"/>
              </a:lnSpc>
              <a:buNone/>
              <a:defRPr sz="1275" b="0">
                <a:solidFill>
                  <a:srgbClr val="CBD5E1"/>
                </a:solidFill>
                <a:latin typeface="Aptos"/>
                <a:ea typeface="Aptos"/>
                <a:cs typeface="Aptos"/>
              </a:defRPr>
            </a:pPr>
            <a:r>
              <a:rPr sz="1275" b="0">
                <a:solidFill>
                  <a:srgbClr val="CBD5E1"/>
                </a:solidFill>
                <a:latin typeface="Aptos"/>
                <a:ea typeface="Aptos"/>
                <a:cs typeface="Aptos"/>
              </a:rPr>
              <a:t>Reasoning über dem Notebook-Kontext</a:t>
            </a:r>
          </a:p>
        </p:txBody>
      </p:sp>
      <p:sp>
        <p:nvSpPr>
          <p:cNvPr id="16" name="">
            <a:extLst xmlns:a="http://schemas.openxmlformats.org/drawingml/2006/main">
              <a:ext uri="{FF2B5EF4-FFF2-40B4-BE49-F238E27FC236}">
                <a16:creationId xmlns:a16="http://schemas.microsoft.com/office/drawing/2014/main" id="{D6541EC7-60D4-404A-9420-F2D9C3149453}"/>
              </a:ext>
            </a:extLst>
          </p:cNvPr>
          <p:cNvSpPr>
            <a:spLocks xmlns:a="http://schemas.openxmlformats.org/drawingml/2006/main" noGrp="1"/>
          </p:cNvSpPr>
          <p:nvPr/>
        </p:nvSpPr>
        <p:spPr>
          <a:xfrm xmlns:a="http://schemas.openxmlformats.org/drawingml/2006/main">
            <a:off x="6248400" y="2524125"/>
            <a:ext cx="2381250" cy="1762125"/>
          </a:xfrm>
          <a:prstGeom xmlns:a="http://schemas.openxmlformats.org/drawingml/2006/main" prst="roundRect">
            <a:avLst>
              <a:gd name="adj" fmla="val 9730"/>
            </a:avLst>
          </a:prstGeom>
          <a:solidFill xmlns:a="http://schemas.openxmlformats.org/drawingml/2006/main">
            <a:srgbClr val="34D399">
              <a:alpha val="10000"/>
            </a:srgbClr>
          </a:solidFill>
          <a:ln xmlns:a="http://schemas.openxmlformats.org/drawingml/2006/main" w="11430">
            <a:solidFill>
              <a:srgbClr val="34D399">
                <a:alpha val="60000"/>
              </a:srgbClr>
            </a:solidFill>
            <a:prstDash val="solid"/>
          </a:ln>
        </p:spPr>
      </p:sp>
      <p:sp>
        <p:nvSpPr>
          <p:cNvPr id="17" name="">
            <a:extLst xmlns:a="http://schemas.openxmlformats.org/drawingml/2006/main">
              <a:ext uri="{FF2B5EF4-FFF2-40B4-BE49-F238E27FC236}">
                <a16:creationId xmlns:a16="http://schemas.microsoft.com/office/drawing/2014/main" id="{BBBC74B0-BEA1-4A52-8A2F-937CF8E7161D}"/>
              </a:ext>
            </a:extLst>
          </p:cNvPr>
          <p:cNvSpPr>
            <a:spLocks xmlns:a="http://schemas.openxmlformats.org/drawingml/2006/main" noGrp="1"/>
          </p:cNvSpPr>
          <p:nvPr/>
        </p:nvSpPr>
        <p:spPr>
          <a:xfrm xmlns:a="http://schemas.openxmlformats.org/drawingml/2006/main">
            <a:off x="6457950" y="2743200"/>
            <a:ext cx="114300" cy="114300"/>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8" name="">
            <a:extLst xmlns:a="http://schemas.openxmlformats.org/drawingml/2006/main">
              <a:ext uri="{FF2B5EF4-FFF2-40B4-BE49-F238E27FC236}">
                <a16:creationId xmlns:a16="http://schemas.microsoft.com/office/drawing/2014/main" id="{DD1524A4-43EC-4536-886C-B7961FAD1E05}"/>
              </a:ext>
            </a:extLst>
          </p:cNvPr>
          <p:cNvSpPr>
            <a:spLocks xmlns:a="http://schemas.openxmlformats.org/drawingml/2006/main" noGrp="1"/>
          </p:cNvSpPr>
          <p:nvPr/>
        </p:nvSpPr>
        <p:spPr>
          <a:xfrm xmlns:a="http://schemas.openxmlformats.org/drawingml/2006/main">
            <a:off x="6457950" y="302895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75" b="1">
                <a:solidFill>
                  <a:srgbClr val="F8FAFC"/>
                </a:solidFill>
                <a:latin typeface="Aptos"/>
                <a:ea typeface="Aptos"/>
                <a:cs typeface="Aptos"/>
              </a:defRPr>
            </a:pPr>
            <a:r>
              <a:rPr sz="1875" b="1">
                <a:solidFill>
                  <a:srgbClr val="F8FAFC"/>
                </a:solidFill>
                <a:latin typeface="Aptos"/>
                <a:ea typeface="Aptos"/>
                <a:cs typeface="Aptos"/>
              </a:rPr>
              <a:t>Citations</a:t>
            </a:r>
          </a:p>
        </p:txBody>
      </p:sp>
      <p:sp>
        <p:nvSpPr>
          <p:cNvPr id="19" name="">
            <a:extLst xmlns:a="http://schemas.openxmlformats.org/drawingml/2006/main">
              <a:ext uri="{FF2B5EF4-FFF2-40B4-BE49-F238E27FC236}">
                <a16:creationId xmlns:a16="http://schemas.microsoft.com/office/drawing/2014/main" id="{43EF211F-0E50-4BC1-BE99-01C94DAACDBB}"/>
              </a:ext>
            </a:extLst>
          </p:cNvPr>
          <p:cNvSpPr>
            <a:spLocks xmlns:a="http://schemas.openxmlformats.org/drawingml/2006/main" noGrp="1"/>
          </p:cNvSpPr>
          <p:nvPr/>
        </p:nvSpPr>
        <p:spPr>
          <a:xfrm xmlns:a="http://schemas.openxmlformats.org/drawingml/2006/main">
            <a:off x="6457950" y="3524250"/>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2000"/>
              </a:lnSpc>
              <a:buNone/>
              <a:defRPr sz="1275" b="0">
                <a:solidFill>
                  <a:srgbClr val="CBD5E1"/>
                </a:solidFill>
                <a:latin typeface="Aptos"/>
                <a:ea typeface="Aptos"/>
                <a:cs typeface="Aptos"/>
              </a:defRPr>
            </a:pPr>
            <a:r>
              <a:rPr sz="1275" b="0">
                <a:solidFill>
                  <a:srgbClr val="CBD5E1"/>
                </a:solidFill>
                <a:latin typeface="Aptos"/>
                <a:ea typeface="Aptos"/>
                <a:cs typeface="Aptos"/>
              </a:rPr>
              <a:t>Belegstellen zum Prüfen und Navigieren</a:t>
            </a:r>
          </a:p>
        </p:txBody>
      </p:sp>
      <p:sp>
        <p:nvSpPr>
          <p:cNvPr id="20" name="">
            <a:extLst xmlns:a="http://schemas.openxmlformats.org/drawingml/2006/main">
              <a:ext uri="{FF2B5EF4-FFF2-40B4-BE49-F238E27FC236}">
                <a16:creationId xmlns:a16="http://schemas.microsoft.com/office/drawing/2014/main" id="{72C4ACEB-2341-412D-9BCE-B1356F24BBBC}"/>
              </a:ext>
            </a:extLst>
          </p:cNvPr>
          <p:cNvSpPr>
            <a:spLocks xmlns:a="http://schemas.openxmlformats.org/drawingml/2006/main" noGrp="1"/>
          </p:cNvSpPr>
          <p:nvPr/>
        </p:nvSpPr>
        <p:spPr>
          <a:xfrm xmlns:a="http://schemas.openxmlformats.org/drawingml/2006/main">
            <a:off x="8972550" y="2524125"/>
            <a:ext cx="2381250" cy="1762125"/>
          </a:xfrm>
          <a:prstGeom xmlns:a="http://schemas.openxmlformats.org/drawingml/2006/main" prst="roundRect">
            <a:avLst>
              <a:gd name="adj" fmla="val 9730"/>
            </a:avLst>
          </a:prstGeom>
          <a:solidFill xmlns:a="http://schemas.openxmlformats.org/drawingml/2006/main">
            <a:srgbClr val="FBBF24">
              <a:alpha val="10000"/>
            </a:srgbClr>
          </a:solidFill>
          <a:ln xmlns:a="http://schemas.openxmlformats.org/drawingml/2006/main" w="11430">
            <a:solidFill>
              <a:srgbClr val="FBBF24">
                <a:alpha val="60000"/>
              </a:srgbClr>
            </a:solidFill>
            <a:prstDash val="solid"/>
          </a:ln>
        </p:spPr>
      </p:sp>
      <p:sp>
        <p:nvSpPr>
          <p:cNvPr id="21" name="">
            <a:extLst xmlns:a="http://schemas.openxmlformats.org/drawingml/2006/main">
              <a:ext uri="{FF2B5EF4-FFF2-40B4-BE49-F238E27FC236}">
                <a16:creationId xmlns:a16="http://schemas.microsoft.com/office/drawing/2014/main" id="{8AE198BF-B128-4CAD-8057-32D3D84BE7FF}"/>
              </a:ext>
            </a:extLst>
          </p:cNvPr>
          <p:cNvSpPr>
            <a:spLocks xmlns:a="http://schemas.openxmlformats.org/drawingml/2006/main" noGrp="1"/>
          </p:cNvSpPr>
          <p:nvPr/>
        </p:nvSpPr>
        <p:spPr>
          <a:xfrm xmlns:a="http://schemas.openxmlformats.org/drawingml/2006/main">
            <a:off x="9182100" y="2743200"/>
            <a:ext cx="114300" cy="114300"/>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22" name="">
            <a:extLst xmlns:a="http://schemas.openxmlformats.org/drawingml/2006/main">
              <a:ext uri="{FF2B5EF4-FFF2-40B4-BE49-F238E27FC236}">
                <a16:creationId xmlns:a16="http://schemas.microsoft.com/office/drawing/2014/main" id="{CC867669-C015-45EE-B393-4902D6AB3FE5}"/>
              </a:ext>
            </a:extLst>
          </p:cNvPr>
          <p:cNvSpPr>
            <a:spLocks xmlns:a="http://schemas.openxmlformats.org/drawingml/2006/main" noGrp="1"/>
          </p:cNvSpPr>
          <p:nvPr/>
        </p:nvSpPr>
        <p:spPr>
          <a:xfrm xmlns:a="http://schemas.openxmlformats.org/drawingml/2006/main">
            <a:off x="9182100" y="3028950"/>
            <a:ext cx="1962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75" b="1">
                <a:solidFill>
                  <a:srgbClr val="F8FAFC"/>
                </a:solidFill>
                <a:latin typeface="Aptos"/>
                <a:ea typeface="Aptos"/>
                <a:cs typeface="Aptos"/>
              </a:defRPr>
            </a:pPr>
            <a:r>
              <a:rPr sz="1875" b="1">
                <a:solidFill>
                  <a:srgbClr val="F8FAFC"/>
                </a:solidFill>
                <a:latin typeface="Aptos"/>
                <a:ea typeface="Aptos"/>
                <a:cs typeface="Aptos"/>
              </a:rPr>
              <a:t>Studio</a:t>
            </a:r>
          </a:p>
        </p:txBody>
      </p:sp>
      <p:sp>
        <p:nvSpPr>
          <p:cNvPr id="23" name="">
            <a:extLst xmlns:a="http://schemas.openxmlformats.org/drawingml/2006/main">
              <a:ext uri="{FF2B5EF4-FFF2-40B4-BE49-F238E27FC236}">
                <a16:creationId xmlns:a16="http://schemas.microsoft.com/office/drawing/2014/main" id="{79E81561-0BFA-40F8-BE33-2CDC7DCF73AF}"/>
              </a:ext>
            </a:extLst>
          </p:cNvPr>
          <p:cNvSpPr>
            <a:spLocks xmlns:a="http://schemas.openxmlformats.org/drawingml/2006/main" noGrp="1"/>
          </p:cNvSpPr>
          <p:nvPr/>
        </p:nvSpPr>
        <p:spPr>
          <a:xfrm xmlns:a="http://schemas.openxmlformats.org/drawingml/2006/main">
            <a:off x="9182100" y="3524250"/>
            <a:ext cx="196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2000"/>
              </a:lnSpc>
              <a:buNone/>
              <a:defRPr sz="1275" b="0">
                <a:solidFill>
                  <a:srgbClr val="CBD5E1"/>
                </a:solidFill>
                <a:latin typeface="Aptos"/>
                <a:ea typeface="Aptos"/>
                <a:cs typeface="Aptos"/>
              </a:defRPr>
            </a:pPr>
            <a:r>
              <a:rPr sz="1275" b="0">
                <a:solidFill>
                  <a:srgbClr val="CBD5E1"/>
                </a:solidFill>
                <a:latin typeface="Aptos"/>
                <a:ea typeface="Aptos"/>
                <a:cs typeface="Aptos"/>
              </a:rPr>
              <a:t>Audio, Video, Mind Maps, Reports und mehr</a:t>
            </a:r>
          </a:p>
        </p:txBody>
      </p:sp>
      <p:sp>
        <p:nvSpPr>
          <p:cNvPr id="24" name="">
            <a:extLst xmlns:a="http://schemas.openxmlformats.org/drawingml/2006/main">
              <a:ext uri="{FF2B5EF4-FFF2-40B4-BE49-F238E27FC236}">
                <a16:creationId xmlns:a16="http://schemas.microsoft.com/office/drawing/2014/main" id="{ED8C8495-62C0-4799-B532-CD5DFACF6894}"/>
              </a:ext>
            </a:extLst>
          </p:cNvPr>
          <p:cNvSpPr>
            <a:spLocks xmlns:a="http://schemas.openxmlformats.org/drawingml/2006/main" noGrp="1"/>
          </p:cNvSpPr>
          <p:nvPr/>
        </p:nvSpPr>
        <p:spPr>
          <a:xfrm xmlns:a="http://schemas.openxmlformats.org/drawingml/2006/main">
            <a:off x="685800" y="58578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825" b="0">
                <a:solidFill>
                  <a:srgbClr val="7E8AA2"/>
                </a:solidFill>
                <a:latin typeface="Aptos"/>
                <a:ea typeface="Aptos"/>
                <a:cs typeface="Aptos"/>
              </a:defRPr>
            </a:pPr>
            <a:r>
              <a:rPr sz="825" b="0">
                <a:solidFill>
                  <a:srgbClr val="7E8AA2"/>
                </a:solidFill>
                <a:latin typeface="Aptos"/>
                <a:ea typeface="Aptos"/>
                <a:cs typeface="Aptos"/>
              </a:rPr>
              <a:t>Quellen: Google NotebookLM Help [G1], [G3]</a:t>
            </a:r>
          </a:p>
        </p:txBody>
      </p:sp>
    </p:spTree>
    <p:extLst>
      <p:ext uri="{BB962C8B-B14F-4D97-AF65-F5344CB8AC3E}">
        <p14:creationId xmlns:p14="http://schemas.microsoft.com/office/powerpoint/2010/main" val="95307438"/>
      </p:ext>
    </p:extLst>
  </p:cSld>
</p:sld>
</file>

<file path=ppt/slides/slide3.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3D2E0B-C120-4160-893A-B3DCC9EECD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42926A-CDC8-4819-ADA4-A5FE95510C5F}"/>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A3E280D2-AD2E-452D-9756-5EE49F22DC79}"/>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9052D198-CB72-4FC9-A6DF-6F98823064B1}"/>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03 / 22</a:t>
            </a:r>
          </a:p>
        </p:txBody>
      </p:sp>
      <p:sp>
        <p:nvSpPr>
          <p:cNvPr id="5" name="">
            <a:extLst xmlns:a="http://schemas.openxmlformats.org/drawingml/2006/main">
              <a:ext uri="{FF2B5EF4-FFF2-40B4-BE49-F238E27FC236}">
                <a16:creationId xmlns:a16="http://schemas.microsoft.com/office/drawing/2014/main" id="{728E9AE3-2C5D-4F71-923E-6A09B26F7AB6}"/>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1D714037-324A-4D99-8C14-2B6EA65C71F3}"/>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PRODUKTPRINZIP</a:t>
            </a:r>
          </a:p>
        </p:txBody>
      </p:sp>
      <p:sp>
        <p:nvSpPr>
          <p:cNvPr id="7" name="">
            <a:extLst xmlns:a="http://schemas.openxmlformats.org/drawingml/2006/main">
              <a:ext uri="{FF2B5EF4-FFF2-40B4-BE49-F238E27FC236}">
                <a16:creationId xmlns:a16="http://schemas.microsoft.com/office/drawing/2014/main" id="{DBCEA7C8-D22D-4D68-BF9B-A323DA05F06D}"/>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Die Quellen sind die Autorität</a:t>
            </a:r>
          </a:p>
        </p:txBody>
      </p:sp>
      <p:sp>
        <p:nvSpPr>
          <p:cNvPr id="8" name="">
            <a:extLst xmlns:a="http://schemas.openxmlformats.org/drawingml/2006/main">
              <a:ext uri="{FF2B5EF4-FFF2-40B4-BE49-F238E27FC236}">
                <a16:creationId xmlns:a16="http://schemas.microsoft.com/office/drawing/2014/main" id="{22240C99-3AC5-4686-B65D-2946B69A8D22}"/>
              </a:ext>
            </a:extLst>
          </p:cNvPr>
          <p:cNvSpPr>
            <a:spLocks xmlns:a="http://schemas.openxmlformats.org/drawingml/2006/main" noGrp="1"/>
          </p:cNvSpPr>
          <p:nvPr/>
        </p:nvSpPr>
        <p:spPr>
          <a:xfrm xmlns:a="http://schemas.openxmlformats.org/drawingml/2006/main">
            <a:off x="876300" y="2381250"/>
            <a:ext cx="4667250" cy="2333625"/>
          </a:xfrm>
          <a:prstGeom xmlns:a="http://schemas.openxmlformats.org/drawingml/2006/main" prst="roundRect">
            <a:avLst>
              <a:gd name="adj" fmla="val 8163"/>
            </a:avLst>
          </a:prstGeom>
          <a:solidFill xmlns:a="http://schemas.openxmlformats.org/drawingml/2006/main">
            <a:srgbClr val="FB7185">
              <a:alpha val="8000"/>
            </a:srgbClr>
          </a:solidFill>
          <a:ln xmlns:a="http://schemas.openxmlformats.org/drawingml/2006/main" w="11430">
            <a:solidFill>
              <a:srgbClr val="FB7185">
                <a:alpha val="50000"/>
              </a:srgbClr>
            </a:solidFill>
            <a:prstDash val="solid"/>
          </a:ln>
        </p:spPr>
      </p:sp>
      <p:sp>
        <p:nvSpPr>
          <p:cNvPr id="9" name="">
            <a:extLst xmlns:a="http://schemas.openxmlformats.org/drawingml/2006/main">
              <a:ext uri="{FF2B5EF4-FFF2-40B4-BE49-F238E27FC236}">
                <a16:creationId xmlns:a16="http://schemas.microsoft.com/office/drawing/2014/main" id="{C46A02B8-439A-4BCE-A2A0-7F84241911AA}"/>
              </a:ext>
            </a:extLst>
          </p:cNvPr>
          <p:cNvSpPr>
            <a:spLocks xmlns:a="http://schemas.openxmlformats.org/drawingml/2006/main" noGrp="1"/>
          </p:cNvSpPr>
          <p:nvPr/>
        </p:nvSpPr>
        <p:spPr>
          <a:xfrm xmlns:a="http://schemas.openxmlformats.org/drawingml/2006/main">
            <a:off x="1190625" y="26860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950" b="1">
                <a:solidFill>
                  <a:srgbClr val="F8FAFC"/>
                </a:solidFill>
                <a:latin typeface="Aptos"/>
                <a:ea typeface="Aptos"/>
                <a:cs typeface="Aptos"/>
              </a:defRPr>
            </a:pPr>
            <a:r>
              <a:rPr sz="1950" b="1">
                <a:solidFill>
                  <a:srgbClr val="F8FAFC"/>
                </a:solidFill>
                <a:latin typeface="Aptos"/>
                <a:ea typeface="Aptos"/>
                <a:cs typeface="Aptos"/>
              </a:rPr>
              <a:t>Generischer Chat</a:t>
            </a:r>
          </a:p>
        </p:txBody>
      </p:sp>
      <p:sp>
        <p:nvSpPr>
          <p:cNvPr id="10" name="">
            <a:extLst xmlns:a="http://schemas.openxmlformats.org/drawingml/2006/main">
              <a:ext uri="{FF2B5EF4-FFF2-40B4-BE49-F238E27FC236}">
                <a16:creationId xmlns:a16="http://schemas.microsoft.com/office/drawing/2014/main" id="{5316FE8B-6225-4A69-AFEB-3E9B6B8EE58E}"/>
              </a:ext>
            </a:extLst>
          </p:cNvPr>
          <p:cNvSpPr>
            <a:spLocks xmlns:a="http://schemas.openxmlformats.org/drawingml/2006/main" noGrp="1"/>
          </p:cNvSpPr>
          <p:nvPr/>
        </p:nvSpPr>
        <p:spPr>
          <a:xfrm xmlns:a="http://schemas.openxmlformats.org/drawingml/2006/main">
            <a:off x="1219200" y="3314700"/>
            <a:ext cx="85725" cy="85725"/>
          </a:xfrm>
          <a:prstGeom xmlns:a="http://schemas.openxmlformats.org/drawingml/2006/main" prst="ellipse">
            <a:avLst/>
          </a:prstGeom>
          <a:solidFill xmlns:a="http://schemas.openxmlformats.org/drawingml/2006/main">
            <a:srgbClr val="FB7185"/>
          </a:solidFill>
          <a:ln xmlns:a="http://schemas.openxmlformats.org/drawingml/2006/main" w="0">
            <a:solidFill>
              <a:srgbClr val="FB7185"/>
            </a:solidFill>
            <a:prstDash val="solid"/>
          </a:ln>
        </p:spPr>
      </p:sp>
      <p:sp>
        <p:nvSpPr>
          <p:cNvPr id="11" name="">
            <a:extLst xmlns:a="http://schemas.openxmlformats.org/drawingml/2006/main">
              <a:ext uri="{FF2B5EF4-FFF2-40B4-BE49-F238E27FC236}">
                <a16:creationId xmlns:a16="http://schemas.microsoft.com/office/drawing/2014/main" id="{D62F4A11-C636-4259-8A16-DCE7219B69F7}"/>
              </a:ext>
            </a:extLst>
          </p:cNvPr>
          <p:cNvSpPr>
            <a:spLocks xmlns:a="http://schemas.openxmlformats.org/drawingml/2006/main" noGrp="1"/>
          </p:cNvSpPr>
          <p:nvPr/>
        </p:nvSpPr>
        <p:spPr>
          <a:xfrm xmlns:a="http://schemas.openxmlformats.org/drawingml/2006/main">
            <a:off x="1428750" y="32385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Antwortet oft, auch wenn Belege fehlen.</a:t>
            </a:r>
          </a:p>
        </p:txBody>
      </p:sp>
      <p:sp>
        <p:nvSpPr>
          <p:cNvPr id="12" name="">
            <a:extLst xmlns:a="http://schemas.openxmlformats.org/drawingml/2006/main">
              <a:ext uri="{FF2B5EF4-FFF2-40B4-BE49-F238E27FC236}">
                <a16:creationId xmlns:a16="http://schemas.microsoft.com/office/drawing/2014/main" id="{CCA9D8C4-5A9B-4160-89BD-860155A0B446}"/>
              </a:ext>
            </a:extLst>
          </p:cNvPr>
          <p:cNvSpPr>
            <a:spLocks xmlns:a="http://schemas.openxmlformats.org/drawingml/2006/main" noGrp="1"/>
          </p:cNvSpPr>
          <p:nvPr/>
        </p:nvSpPr>
        <p:spPr>
          <a:xfrm xmlns:a="http://schemas.openxmlformats.org/drawingml/2006/main">
            <a:off x="1219200" y="3810000"/>
            <a:ext cx="85725" cy="85725"/>
          </a:xfrm>
          <a:prstGeom xmlns:a="http://schemas.openxmlformats.org/drawingml/2006/main" prst="ellipse">
            <a:avLst/>
          </a:prstGeom>
          <a:solidFill xmlns:a="http://schemas.openxmlformats.org/drawingml/2006/main">
            <a:srgbClr val="FB7185"/>
          </a:solidFill>
          <a:ln xmlns:a="http://schemas.openxmlformats.org/drawingml/2006/main" w="0">
            <a:solidFill>
              <a:srgbClr val="FB7185"/>
            </a:solidFill>
            <a:prstDash val="solid"/>
          </a:ln>
        </p:spPr>
      </p:sp>
      <p:sp>
        <p:nvSpPr>
          <p:cNvPr id="13" name="">
            <a:extLst xmlns:a="http://schemas.openxmlformats.org/drawingml/2006/main">
              <a:ext uri="{FF2B5EF4-FFF2-40B4-BE49-F238E27FC236}">
                <a16:creationId xmlns:a16="http://schemas.microsoft.com/office/drawing/2014/main" id="{578EF20E-89FC-44D1-BC0F-F6704854D610}"/>
              </a:ext>
            </a:extLst>
          </p:cNvPr>
          <p:cNvSpPr>
            <a:spLocks xmlns:a="http://schemas.openxmlformats.org/drawingml/2006/main" noGrp="1"/>
          </p:cNvSpPr>
          <p:nvPr/>
        </p:nvSpPr>
        <p:spPr>
          <a:xfrm xmlns:a="http://schemas.openxmlformats.org/drawingml/2006/main">
            <a:off x="1428750" y="37338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Nutzt Modellwissen als Standard.</a:t>
            </a:r>
          </a:p>
        </p:txBody>
      </p:sp>
      <p:sp>
        <p:nvSpPr>
          <p:cNvPr id="14" name="">
            <a:extLst xmlns:a="http://schemas.openxmlformats.org/drawingml/2006/main">
              <a:ext uri="{FF2B5EF4-FFF2-40B4-BE49-F238E27FC236}">
                <a16:creationId xmlns:a16="http://schemas.microsoft.com/office/drawing/2014/main" id="{0A52C573-B6DD-4D33-BC44-8B9EECB84614}"/>
              </a:ext>
            </a:extLst>
          </p:cNvPr>
          <p:cNvSpPr>
            <a:spLocks xmlns:a="http://schemas.openxmlformats.org/drawingml/2006/main" noGrp="1"/>
          </p:cNvSpPr>
          <p:nvPr/>
        </p:nvSpPr>
        <p:spPr>
          <a:xfrm xmlns:a="http://schemas.openxmlformats.org/drawingml/2006/main">
            <a:off x="1219200" y="4305300"/>
            <a:ext cx="85725" cy="85725"/>
          </a:xfrm>
          <a:prstGeom xmlns:a="http://schemas.openxmlformats.org/drawingml/2006/main" prst="ellipse">
            <a:avLst/>
          </a:prstGeom>
          <a:solidFill xmlns:a="http://schemas.openxmlformats.org/drawingml/2006/main">
            <a:srgbClr val="FB7185"/>
          </a:solidFill>
          <a:ln xmlns:a="http://schemas.openxmlformats.org/drawingml/2006/main" w="0">
            <a:solidFill>
              <a:srgbClr val="FB7185"/>
            </a:solidFill>
            <a:prstDash val="solid"/>
          </a:ln>
        </p:spPr>
      </p:sp>
      <p:sp>
        <p:nvSpPr>
          <p:cNvPr id="15" name="">
            <a:extLst xmlns:a="http://schemas.openxmlformats.org/drawingml/2006/main">
              <a:ext uri="{FF2B5EF4-FFF2-40B4-BE49-F238E27FC236}">
                <a16:creationId xmlns:a16="http://schemas.microsoft.com/office/drawing/2014/main" id="{D417F20E-DEB4-4ABB-A1B8-CEF4CA21E781}"/>
              </a:ext>
            </a:extLst>
          </p:cNvPr>
          <p:cNvSpPr>
            <a:spLocks xmlns:a="http://schemas.openxmlformats.org/drawingml/2006/main" noGrp="1"/>
          </p:cNvSpPr>
          <p:nvPr/>
        </p:nvSpPr>
        <p:spPr>
          <a:xfrm xmlns:a="http://schemas.openxmlformats.org/drawingml/2006/main">
            <a:off x="1428750" y="42291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Klingt sicher, ist aber schwer prüfbar.</a:t>
            </a:r>
          </a:p>
        </p:txBody>
      </p:sp>
      <p:sp>
        <p:nvSpPr>
          <p:cNvPr id="16" name="">
            <a:extLst xmlns:a="http://schemas.openxmlformats.org/drawingml/2006/main">
              <a:ext uri="{FF2B5EF4-FFF2-40B4-BE49-F238E27FC236}">
                <a16:creationId xmlns:a16="http://schemas.microsoft.com/office/drawing/2014/main" id="{86B6EBF2-D35C-49C1-ACE5-E899E22BD024}"/>
              </a:ext>
            </a:extLst>
          </p:cNvPr>
          <p:cNvSpPr>
            <a:spLocks xmlns:a="http://schemas.openxmlformats.org/drawingml/2006/main" noGrp="1"/>
          </p:cNvSpPr>
          <p:nvPr/>
        </p:nvSpPr>
        <p:spPr>
          <a:xfrm xmlns:a="http://schemas.openxmlformats.org/drawingml/2006/main">
            <a:off x="5734050" y="3352800"/>
            <a:ext cx="723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250" b="1">
                <a:solidFill>
                  <a:srgbClr val="7E8AA2"/>
                </a:solidFill>
                <a:latin typeface="Aptos"/>
                <a:ea typeface="Aptos"/>
                <a:cs typeface="Aptos"/>
              </a:defRPr>
            </a:pPr>
            <a:r>
              <a:rPr sz="2250" b="1">
                <a:solidFill>
                  <a:srgbClr val="7E8AA2"/>
                </a:solidFill>
                <a:latin typeface="Aptos"/>
                <a:ea typeface="Aptos"/>
                <a:cs typeface="Aptos"/>
              </a:rPr>
              <a:t>vs.</a:t>
            </a:r>
          </a:p>
        </p:txBody>
      </p:sp>
      <p:sp>
        <p:nvSpPr>
          <p:cNvPr id="17" name="">
            <a:extLst xmlns:a="http://schemas.openxmlformats.org/drawingml/2006/main">
              <a:ext uri="{FF2B5EF4-FFF2-40B4-BE49-F238E27FC236}">
                <a16:creationId xmlns:a16="http://schemas.microsoft.com/office/drawing/2014/main" id="{2813CDD7-1C69-4E02-BE22-C33E23F8CF50}"/>
              </a:ext>
            </a:extLst>
          </p:cNvPr>
          <p:cNvSpPr>
            <a:spLocks xmlns:a="http://schemas.openxmlformats.org/drawingml/2006/main" noGrp="1"/>
          </p:cNvSpPr>
          <p:nvPr/>
        </p:nvSpPr>
        <p:spPr>
          <a:xfrm xmlns:a="http://schemas.openxmlformats.org/drawingml/2006/main">
            <a:off x="6648450" y="2381250"/>
            <a:ext cx="4667250" cy="2333625"/>
          </a:xfrm>
          <a:prstGeom xmlns:a="http://schemas.openxmlformats.org/drawingml/2006/main" prst="roundRect">
            <a:avLst>
              <a:gd name="adj" fmla="val 8163"/>
            </a:avLst>
          </a:prstGeom>
          <a:solidFill xmlns:a="http://schemas.openxmlformats.org/drawingml/2006/main">
            <a:srgbClr val="34D399">
              <a:alpha val="9000"/>
            </a:srgbClr>
          </a:solidFill>
          <a:ln xmlns:a="http://schemas.openxmlformats.org/drawingml/2006/main" w="11430">
            <a:solidFill>
              <a:srgbClr val="34D399">
                <a:alpha val="55000"/>
              </a:srgbClr>
            </a:solidFill>
            <a:prstDash val="solid"/>
          </a:ln>
        </p:spPr>
      </p:sp>
      <p:sp>
        <p:nvSpPr>
          <p:cNvPr id="18" name="">
            <a:extLst xmlns:a="http://schemas.openxmlformats.org/drawingml/2006/main">
              <a:ext uri="{FF2B5EF4-FFF2-40B4-BE49-F238E27FC236}">
                <a16:creationId xmlns:a16="http://schemas.microsoft.com/office/drawing/2014/main" id="{94FE3128-D24A-47C3-88F5-12860D64FF69}"/>
              </a:ext>
            </a:extLst>
          </p:cNvPr>
          <p:cNvSpPr>
            <a:spLocks xmlns:a="http://schemas.openxmlformats.org/drawingml/2006/main" noGrp="1"/>
          </p:cNvSpPr>
          <p:nvPr/>
        </p:nvSpPr>
        <p:spPr>
          <a:xfrm xmlns:a="http://schemas.openxmlformats.org/drawingml/2006/main">
            <a:off x="6962775" y="26860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950" b="1">
                <a:solidFill>
                  <a:srgbClr val="F8FAFC"/>
                </a:solidFill>
                <a:latin typeface="Aptos"/>
                <a:ea typeface="Aptos"/>
                <a:cs typeface="Aptos"/>
              </a:defRPr>
            </a:pPr>
            <a:r>
              <a:rPr sz="1950" b="1">
                <a:solidFill>
                  <a:srgbClr val="F8FAFC"/>
                </a:solidFill>
                <a:latin typeface="Aptos"/>
                <a:ea typeface="Aptos"/>
                <a:cs typeface="Aptos"/>
              </a:rPr>
              <a:t>Source-grounded Chat</a:t>
            </a:r>
          </a:p>
        </p:txBody>
      </p:sp>
      <p:sp>
        <p:nvSpPr>
          <p:cNvPr id="19" name="">
            <a:extLst xmlns:a="http://schemas.openxmlformats.org/drawingml/2006/main">
              <a:ext uri="{FF2B5EF4-FFF2-40B4-BE49-F238E27FC236}">
                <a16:creationId xmlns:a16="http://schemas.microsoft.com/office/drawing/2014/main" id="{0E4B441B-A80A-42D7-9779-BEFB7C4B6324}"/>
              </a:ext>
            </a:extLst>
          </p:cNvPr>
          <p:cNvSpPr>
            <a:spLocks xmlns:a="http://schemas.openxmlformats.org/drawingml/2006/main" noGrp="1"/>
          </p:cNvSpPr>
          <p:nvPr/>
        </p:nvSpPr>
        <p:spPr>
          <a:xfrm xmlns:a="http://schemas.openxmlformats.org/drawingml/2006/main">
            <a:off x="6991350" y="33147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0" name="">
            <a:extLst xmlns:a="http://schemas.openxmlformats.org/drawingml/2006/main">
              <a:ext uri="{FF2B5EF4-FFF2-40B4-BE49-F238E27FC236}">
                <a16:creationId xmlns:a16="http://schemas.microsoft.com/office/drawing/2014/main" id="{A64CB6FE-2A7E-4FF4-917A-5F75085EC2F0}"/>
              </a:ext>
            </a:extLst>
          </p:cNvPr>
          <p:cNvSpPr>
            <a:spLocks xmlns:a="http://schemas.openxmlformats.org/drawingml/2006/main" noGrp="1"/>
          </p:cNvSpPr>
          <p:nvPr/>
        </p:nvSpPr>
        <p:spPr>
          <a:xfrm xmlns:a="http://schemas.openxmlformats.org/drawingml/2006/main">
            <a:off x="7200900" y="32385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Antwortet nur, wenn aktive Quellen tragen.</a:t>
            </a:r>
          </a:p>
        </p:txBody>
      </p:sp>
      <p:sp>
        <p:nvSpPr>
          <p:cNvPr id="21" name="">
            <a:extLst xmlns:a="http://schemas.openxmlformats.org/drawingml/2006/main">
              <a:ext uri="{FF2B5EF4-FFF2-40B4-BE49-F238E27FC236}">
                <a16:creationId xmlns:a16="http://schemas.microsoft.com/office/drawing/2014/main" id="{6564D7EC-18B5-4EF4-B7B4-9DFC17D19991}"/>
              </a:ext>
            </a:extLst>
          </p:cNvPr>
          <p:cNvSpPr>
            <a:spLocks xmlns:a="http://schemas.openxmlformats.org/drawingml/2006/main" noGrp="1"/>
          </p:cNvSpPr>
          <p:nvPr/>
        </p:nvSpPr>
        <p:spPr>
          <a:xfrm xmlns:a="http://schemas.openxmlformats.org/drawingml/2006/main">
            <a:off x="6991350" y="38100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2" name="">
            <a:extLst xmlns:a="http://schemas.openxmlformats.org/drawingml/2006/main">
              <a:ext uri="{FF2B5EF4-FFF2-40B4-BE49-F238E27FC236}">
                <a16:creationId xmlns:a16="http://schemas.microsoft.com/office/drawing/2014/main" id="{2259208C-798F-44D8-98A6-08275A92B20F}"/>
              </a:ext>
            </a:extLst>
          </p:cNvPr>
          <p:cNvSpPr>
            <a:spLocks xmlns:a="http://schemas.openxmlformats.org/drawingml/2006/main" noGrp="1"/>
          </p:cNvSpPr>
          <p:nvPr/>
        </p:nvSpPr>
        <p:spPr>
          <a:xfrm xmlns:a="http://schemas.openxmlformats.org/drawingml/2006/main">
            <a:off x="7200900" y="37338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Jede Aussage braucht eine Evidence-Spur.</a:t>
            </a:r>
          </a:p>
        </p:txBody>
      </p:sp>
      <p:sp>
        <p:nvSpPr>
          <p:cNvPr id="23" name="">
            <a:extLst xmlns:a="http://schemas.openxmlformats.org/drawingml/2006/main">
              <a:ext uri="{FF2B5EF4-FFF2-40B4-BE49-F238E27FC236}">
                <a16:creationId xmlns:a16="http://schemas.microsoft.com/office/drawing/2014/main" id="{691A4E65-D5FA-4C52-9636-1E6F366F695D}"/>
              </a:ext>
            </a:extLst>
          </p:cNvPr>
          <p:cNvSpPr>
            <a:spLocks xmlns:a="http://schemas.openxmlformats.org/drawingml/2006/main" noGrp="1"/>
          </p:cNvSpPr>
          <p:nvPr/>
        </p:nvSpPr>
        <p:spPr>
          <a:xfrm xmlns:a="http://schemas.openxmlformats.org/drawingml/2006/main">
            <a:off x="6991350" y="43053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4" name="">
            <a:extLst xmlns:a="http://schemas.openxmlformats.org/drawingml/2006/main">
              <a:ext uri="{FF2B5EF4-FFF2-40B4-BE49-F238E27FC236}">
                <a16:creationId xmlns:a16="http://schemas.microsoft.com/office/drawing/2014/main" id="{63A99953-32C0-4124-907F-92972CDB1961}"/>
              </a:ext>
            </a:extLst>
          </p:cNvPr>
          <p:cNvSpPr>
            <a:spLocks xmlns:a="http://schemas.openxmlformats.org/drawingml/2006/main" noGrp="1"/>
          </p:cNvSpPr>
          <p:nvPr/>
        </p:nvSpPr>
        <p:spPr>
          <a:xfrm xmlns:a="http://schemas.openxmlformats.org/drawingml/2006/main">
            <a:off x="7200900" y="4229100"/>
            <a:ext cx="3552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Abstention ist ein Qualitätsmerkmal.</a:t>
            </a:r>
          </a:p>
        </p:txBody>
      </p:sp>
    </p:spTree>
    <p:extLst>
      <p:ext uri="{BB962C8B-B14F-4D97-AF65-F5344CB8AC3E}">
        <p14:creationId xmlns:p14="http://schemas.microsoft.com/office/powerpoint/2010/main" val="228797247"/>
      </p:ext>
    </p:extLst>
  </p:cSld>
</p:sld>
</file>

<file path=ppt/slides/slide4.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7B1105-1F23-4C59-8D52-71ED8C1507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4C75EB-C92B-4B4A-AC84-217233569874}"/>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7C93616F-C8BB-4ED3-BC2B-4ECD03C1DF51}"/>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DD377150-6D00-4698-B731-73E3076204D9}"/>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04 / 22</a:t>
            </a:r>
          </a:p>
        </p:txBody>
      </p:sp>
      <p:sp>
        <p:nvSpPr>
          <p:cNvPr id="5" name="">
            <a:extLst xmlns:a="http://schemas.openxmlformats.org/drawingml/2006/main">
              <a:ext uri="{FF2B5EF4-FFF2-40B4-BE49-F238E27FC236}">
                <a16:creationId xmlns:a16="http://schemas.microsoft.com/office/drawing/2014/main" id="{966EDF63-05AF-4D21-9359-549D857BC9B6}"/>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508C395B-E938-495C-A222-407B7C129CB5}"/>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VOM UPLOAD ZUM OUTPUT</a:t>
            </a:r>
          </a:p>
        </p:txBody>
      </p:sp>
      <p:sp>
        <p:nvSpPr>
          <p:cNvPr id="7" name="">
            <a:extLst xmlns:a="http://schemas.openxmlformats.org/drawingml/2006/main">
              <a:ext uri="{FF2B5EF4-FFF2-40B4-BE49-F238E27FC236}">
                <a16:creationId xmlns:a16="http://schemas.microsoft.com/office/drawing/2014/main" id="{8492EC03-E1F2-4000-84A9-72A850B22F45}"/>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NotebookLM folgt einem einfachen Workflow</a:t>
            </a:r>
          </a:p>
        </p:txBody>
      </p:sp>
      <p:sp>
        <p:nvSpPr>
          <p:cNvPr id="8" name="">
            <a:extLst xmlns:a="http://schemas.openxmlformats.org/drawingml/2006/main">
              <a:ext uri="{FF2B5EF4-FFF2-40B4-BE49-F238E27FC236}">
                <a16:creationId xmlns:a16="http://schemas.microsoft.com/office/drawing/2014/main" id="{13F10E28-B32A-46C0-8DF7-479AE4E08168}"/>
              </a:ext>
            </a:extLst>
          </p:cNvPr>
          <p:cNvSpPr>
            <a:spLocks xmlns:a="http://schemas.openxmlformats.org/drawingml/2006/main" noGrp="1"/>
          </p:cNvSpPr>
          <p:nvPr/>
        </p:nvSpPr>
        <p:spPr>
          <a:xfrm xmlns:a="http://schemas.openxmlformats.org/drawingml/2006/main">
            <a:off x="819150" y="2876550"/>
            <a:ext cx="1657350" cy="819150"/>
          </a:xfrm>
          <a:prstGeom xmlns:a="http://schemas.openxmlformats.org/drawingml/2006/main" prst="roundRect">
            <a:avLst>
              <a:gd name="adj" fmla="val 18605"/>
            </a:avLst>
          </a:prstGeom>
          <a:solidFill xmlns:a="http://schemas.openxmlformats.org/drawingml/2006/main">
            <a:srgbClr val="36E0F2">
              <a:alpha val="11000"/>
            </a:srgbClr>
          </a:solidFill>
          <a:ln xmlns:a="http://schemas.openxmlformats.org/drawingml/2006/main" w="11430">
            <a:solidFill>
              <a:srgbClr val="36E0F2">
                <a:alpha val="58000"/>
              </a:srgbClr>
            </a:solidFill>
            <a:prstDash val="solid"/>
          </a:ln>
        </p:spPr>
      </p:sp>
      <p:sp>
        <p:nvSpPr>
          <p:cNvPr id="9" name="">
            <a:extLst xmlns:a="http://schemas.openxmlformats.org/drawingml/2006/main">
              <a:ext uri="{FF2B5EF4-FFF2-40B4-BE49-F238E27FC236}">
                <a16:creationId xmlns:a16="http://schemas.microsoft.com/office/drawing/2014/main" id="{A5272809-46FE-42F5-A03E-8DE37F3FF989}"/>
              </a:ext>
            </a:extLst>
          </p:cNvPr>
          <p:cNvSpPr>
            <a:spLocks xmlns:a="http://schemas.openxmlformats.org/drawingml/2006/main" noGrp="1"/>
          </p:cNvSpPr>
          <p:nvPr/>
        </p:nvSpPr>
        <p:spPr>
          <a:xfrm xmlns:a="http://schemas.openxmlformats.org/drawingml/2006/main">
            <a:off x="914400" y="3048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Sources</a:t>
            </a:r>
          </a:p>
        </p:txBody>
      </p:sp>
      <p:sp>
        <p:nvSpPr>
          <p:cNvPr id="10" name="">
            <a:extLst xmlns:a="http://schemas.openxmlformats.org/drawingml/2006/main">
              <a:ext uri="{FF2B5EF4-FFF2-40B4-BE49-F238E27FC236}">
                <a16:creationId xmlns:a16="http://schemas.microsoft.com/office/drawing/2014/main" id="{A0AFB1EF-E08F-4144-A670-94EAACF43EFC}"/>
              </a:ext>
            </a:extLst>
          </p:cNvPr>
          <p:cNvSpPr>
            <a:spLocks xmlns:a="http://schemas.openxmlformats.org/drawingml/2006/main" noGrp="1"/>
          </p:cNvSpPr>
          <p:nvPr/>
        </p:nvSpPr>
        <p:spPr>
          <a:xfrm xmlns:a="http://schemas.openxmlformats.org/drawingml/2006/main">
            <a:off x="914400" y="333375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hochladen / entdecken</a:t>
            </a:r>
          </a:p>
        </p:txBody>
      </p:sp>
      <p:sp>
        <p:nvSpPr>
          <p:cNvPr id="11" name="">
            <a:extLst xmlns:a="http://schemas.openxmlformats.org/drawingml/2006/main">
              <a:ext uri="{FF2B5EF4-FFF2-40B4-BE49-F238E27FC236}">
                <a16:creationId xmlns:a16="http://schemas.microsoft.com/office/drawing/2014/main" id="{B9989DD8-008D-4199-AC8B-E9EA4EAC9860}"/>
              </a:ext>
            </a:extLst>
          </p:cNvPr>
          <p:cNvSpPr>
            <a:spLocks xmlns:a="http://schemas.openxmlformats.org/drawingml/2006/main" noGrp="1"/>
          </p:cNvSpPr>
          <p:nvPr/>
        </p:nvSpPr>
        <p:spPr>
          <a:xfrm xmlns:a="http://schemas.openxmlformats.org/drawingml/2006/main">
            <a:off x="3067050" y="2876550"/>
            <a:ext cx="1657350" cy="819150"/>
          </a:xfrm>
          <a:prstGeom xmlns:a="http://schemas.openxmlformats.org/drawingml/2006/main" prst="roundRect">
            <a:avLst>
              <a:gd name="adj" fmla="val 18605"/>
            </a:avLst>
          </a:prstGeom>
          <a:solidFill xmlns:a="http://schemas.openxmlformats.org/drawingml/2006/main">
            <a:srgbClr val="34D399">
              <a:alpha val="11000"/>
            </a:srgbClr>
          </a:solidFill>
          <a:ln xmlns:a="http://schemas.openxmlformats.org/drawingml/2006/main" w="11430">
            <a:solidFill>
              <a:srgbClr val="34D399">
                <a:alpha val="58000"/>
              </a:srgbClr>
            </a:solidFill>
            <a:prstDash val="solid"/>
          </a:ln>
        </p:spPr>
      </p:sp>
      <p:sp>
        <p:nvSpPr>
          <p:cNvPr id="12" name="">
            <a:extLst xmlns:a="http://schemas.openxmlformats.org/drawingml/2006/main">
              <a:ext uri="{FF2B5EF4-FFF2-40B4-BE49-F238E27FC236}">
                <a16:creationId xmlns:a16="http://schemas.microsoft.com/office/drawing/2014/main" id="{F712E0E5-9FA7-4B0B-A8BD-D0AD10588AEF}"/>
              </a:ext>
            </a:extLst>
          </p:cNvPr>
          <p:cNvSpPr>
            <a:spLocks xmlns:a="http://schemas.openxmlformats.org/drawingml/2006/main" noGrp="1"/>
          </p:cNvSpPr>
          <p:nvPr/>
        </p:nvSpPr>
        <p:spPr>
          <a:xfrm xmlns:a="http://schemas.openxmlformats.org/drawingml/2006/main">
            <a:off x="3162300" y="3048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Scope</a:t>
            </a:r>
          </a:p>
        </p:txBody>
      </p:sp>
      <p:sp>
        <p:nvSpPr>
          <p:cNvPr id="13" name="">
            <a:extLst xmlns:a="http://schemas.openxmlformats.org/drawingml/2006/main">
              <a:ext uri="{FF2B5EF4-FFF2-40B4-BE49-F238E27FC236}">
                <a16:creationId xmlns:a16="http://schemas.microsoft.com/office/drawing/2014/main" id="{06DEE167-5646-4A3A-8315-6257035BBA2E}"/>
              </a:ext>
            </a:extLst>
          </p:cNvPr>
          <p:cNvSpPr>
            <a:spLocks xmlns:a="http://schemas.openxmlformats.org/drawingml/2006/main" noGrp="1"/>
          </p:cNvSpPr>
          <p:nvPr/>
        </p:nvSpPr>
        <p:spPr>
          <a:xfrm xmlns:a="http://schemas.openxmlformats.org/drawingml/2006/main">
            <a:off x="3162300" y="333375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Quellen auswählen</a:t>
            </a:r>
          </a:p>
        </p:txBody>
      </p:sp>
      <p:sp>
        <p:nvSpPr>
          <p:cNvPr id="14" name="">
            <a:extLst xmlns:a="http://schemas.openxmlformats.org/drawingml/2006/main">
              <a:ext uri="{FF2B5EF4-FFF2-40B4-BE49-F238E27FC236}">
                <a16:creationId xmlns:a16="http://schemas.microsoft.com/office/drawing/2014/main" id="{C779D757-DA46-44DD-8AF7-DF3CA3838AC0}"/>
              </a:ext>
            </a:extLst>
          </p:cNvPr>
          <p:cNvSpPr>
            <a:spLocks xmlns:a="http://schemas.openxmlformats.org/drawingml/2006/main" noGrp="1"/>
          </p:cNvSpPr>
          <p:nvPr/>
        </p:nvSpPr>
        <p:spPr>
          <a:xfrm xmlns:a="http://schemas.openxmlformats.org/drawingml/2006/main">
            <a:off x="5314950" y="2876550"/>
            <a:ext cx="1657350" cy="819150"/>
          </a:xfrm>
          <a:prstGeom xmlns:a="http://schemas.openxmlformats.org/drawingml/2006/main" prst="roundRect">
            <a:avLst>
              <a:gd name="adj" fmla="val 18605"/>
            </a:avLst>
          </a:prstGeom>
          <a:solidFill xmlns:a="http://schemas.openxmlformats.org/drawingml/2006/main">
            <a:srgbClr val="6D7BFF">
              <a:alpha val="11000"/>
            </a:srgbClr>
          </a:solidFill>
          <a:ln xmlns:a="http://schemas.openxmlformats.org/drawingml/2006/main" w="11430">
            <a:solidFill>
              <a:srgbClr val="6D7BFF">
                <a:alpha val="58000"/>
              </a:srgbClr>
            </a:solidFill>
            <a:prstDash val="solid"/>
          </a:ln>
        </p:spPr>
      </p:sp>
      <p:sp>
        <p:nvSpPr>
          <p:cNvPr id="15" name="">
            <a:extLst xmlns:a="http://schemas.openxmlformats.org/drawingml/2006/main">
              <a:ext uri="{FF2B5EF4-FFF2-40B4-BE49-F238E27FC236}">
                <a16:creationId xmlns:a16="http://schemas.microsoft.com/office/drawing/2014/main" id="{D80FF80D-D6B2-45AC-88AB-ADBAB80F593D}"/>
              </a:ext>
            </a:extLst>
          </p:cNvPr>
          <p:cNvSpPr>
            <a:spLocks xmlns:a="http://schemas.openxmlformats.org/drawingml/2006/main" noGrp="1"/>
          </p:cNvSpPr>
          <p:nvPr/>
        </p:nvSpPr>
        <p:spPr>
          <a:xfrm xmlns:a="http://schemas.openxmlformats.org/drawingml/2006/main">
            <a:off x="5410200" y="3048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Chat</a:t>
            </a:r>
          </a:p>
        </p:txBody>
      </p:sp>
      <p:sp>
        <p:nvSpPr>
          <p:cNvPr id="16" name="">
            <a:extLst xmlns:a="http://schemas.openxmlformats.org/drawingml/2006/main">
              <a:ext uri="{FF2B5EF4-FFF2-40B4-BE49-F238E27FC236}">
                <a16:creationId xmlns:a16="http://schemas.microsoft.com/office/drawing/2014/main" id="{7DE00D56-3910-419D-931C-10C9D2AC1234}"/>
              </a:ext>
            </a:extLst>
          </p:cNvPr>
          <p:cNvSpPr>
            <a:spLocks xmlns:a="http://schemas.openxmlformats.org/drawingml/2006/main" noGrp="1"/>
          </p:cNvSpPr>
          <p:nvPr/>
        </p:nvSpPr>
        <p:spPr>
          <a:xfrm xmlns:a="http://schemas.openxmlformats.org/drawingml/2006/main">
            <a:off x="5410200" y="333375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fragen und prüfen</a:t>
            </a:r>
          </a:p>
        </p:txBody>
      </p:sp>
      <p:sp>
        <p:nvSpPr>
          <p:cNvPr id="17" name="">
            <a:extLst xmlns:a="http://schemas.openxmlformats.org/drawingml/2006/main">
              <a:ext uri="{FF2B5EF4-FFF2-40B4-BE49-F238E27FC236}">
                <a16:creationId xmlns:a16="http://schemas.microsoft.com/office/drawing/2014/main" id="{D7CD448D-E282-49B1-91D6-0B1BBB5564D4}"/>
              </a:ext>
            </a:extLst>
          </p:cNvPr>
          <p:cNvSpPr>
            <a:spLocks xmlns:a="http://schemas.openxmlformats.org/drawingml/2006/main" noGrp="1"/>
          </p:cNvSpPr>
          <p:nvPr/>
        </p:nvSpPr>
        <p:spPr>
          <a:xfrm xmlns:a="http://schemas.openxmlformats.org/drawingml/2006/main">
            <a:off x="7562850" y="2876550"/>
            <a:ext cx="1657350" cy="819150"/>
          </a:xfrm>
          <a:prstGeom xmlns:a="http://schemas.openxmlformats.org/drawingml/2006/main" prst="roundRect">
            <a:avLst>
              <a:gd name="adj" fmla="val 18605"/>
            </a:avLst>
          </a:prstGeom>
          <a:solidFill xmlns:a="http://schemas.openxmlformats.org/drawingml/2006/main">
            <a:srgbClr val="FBBF24">
              <a:alpha val="11000"/>
            </a:srgbClr>
          </a:solidFill>
          <a:ln xmlns:a="http://schemas.openxmlformats.org/drawingml/2006/main" w="11430">
            <a:solidFill>
              <a:srgbClr val="FBBF24">
                <a:alpha val="58000"/>
              </a:srgbClr>
            </a:solidFill>
            <a:prstDash val="solid"/>
          </a:ln>
        </p:spPr>
      </p:sp>
      <p:sp>
        <p:nvSpPr>
          <p:cNvPr id="18" name="">
            <a:extLst xmlns:a="http://schemas.openxmlformats.org/drawingml/2006/main">
              <a:ext uri="{FF2B5EF4-FFF2-40B4-BE49-F238E27FC236}">
                <a16:creationId xmlns:a16="http://schemas.microsoft.com/office/drawing/2014/main" id="{4F3DD252-17D1-4291-A925-FA26A0C299C3}"/>
              </a:ext>
            </a:extLst>
          </p:cNvPr>
          <p:cNvSpPr>
            <a:spLocks xmlns:a="http://schemas.openxmlformats.org/drawingml/2006/main" noGrp="1"/>
          </p:cNvSpPr>
          <p:nvPr/>
        </p:nvSpPr>
        <p:spPr>
          <a:xfrm xmlns:a="http://schemas.openxmlformats.org/drawingml/2006/main">
            <a:off x="7658100" y="3048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Studio</a:t>
            </a:r>
          </a:p>
        </p:txBody>
      </p:sp>
      <p:sp>
        <p:nvSpPr>
          <p:cNvPr id="19" name="">
            <a:extLst xmlns:a="http://schemas.openxmlformats.org/drawingml/2006/main">
              <a:ext uri="{FF2B5EF4-FFF2-40B4-BE49-F238E27FC236}">
                <a16:creationId xmlns:a16="http://schemas.microsoft.com/office/drawing/2014/main" id="{721CB64E-DA04-4505-8ED0-78CD208F8AF5}"/>
              </a:ext>
            </a:extLst>
          </p:cNvPr>
          <p:cNvSpPr>
            <a:spLocks xmlns:a="http://schemas.openxmlformats.org/drawingml/2006/main" noGrp="1"/>
          </p:cNvSpPr>
          <p:nvPr/>
        </p:nvSpPr>
        <p:spPr>
          <a:xfrm xmlns:a="http://schemas.openxmlformats.org/drawingml/2006/main">
            <a:off x="7658100" y="333375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Formate erzeugen</a:t>
            </a:r>
          </a:p>
        </p:txBody>
      </p:sp>
      <p:sp>
        <p:nvSpPr>
          <p:cNvPr id="20" name="">
            <a:extLst xmlns:a="http://schemas.openxmlformats.org/drawingml/2006/main">
              <a:ext uri="{FF2B5EF4-FFF2-40B4-BE49-F238E27FC236}">
                <a16:creationId xmlns:a16="http://schemas.microsoft.com/office/drawing/2014/main" id="{5B771951-7D15-4011-99ED-D94A1900E02C}"/>
              </a:ext>
            </a:extLst>
          </p:cNvPr>
          <p:cNvSpPr>
            <a:spLocks xmlns:a="http://schemas.openxmlformats.org/drawingml/2006/main" noGrp="1"/>
          </p:cNvSpPr>
          <p:nvPr/>
        </p:nvSpPr>
        <p:spPr>
          <a:xfrm xmlns:a="http://schemas.openxmlformats.org/drawingml/2006/main">
            <a:off x="9810750" y="2876550"/>
            <a:ext cx="1657350" cy="819150"/>
          </a:xfrm>
          <a:prstGeom xmlns:a="http://schemas.openxmlformats.org/drawingml/2006/main" prst="roundRect">
            <a:avLst>
              <a:gd name="adj" fmla="val 18605"/>
            </a:avLst>
          </a:prstGeom>
          <a:solidFill xmlns:a="http://schemas.openxmlformats.org/drawingml/2006/main">
            <a:srgbClr val="A78BFA">
              <a:alpha val="11000"/>
            </a:srgbClr>
          </a:solidFill>
          <a:ln xmlns:a="http://schemas.openxmlformats.org/drawingml/2006/main" w="11430">
            <a:solidFill>
              <a:srgbClr val="A78BFA">
                <a:alpha val="58000"/>
              </a:srgbClr>
            </a:solidFill>
            <a:prstDash val="solid"/>
          </a:ln>
        </p:spPr>
      </p:sp>
      <p:sp>
        <p:nvSpPr>
          <p:cNvPr id="21" name="">
            <a:extLst xmlns:a="http://schemas.openxmlformats.org/drawingml/2006/main">
              <a:ext uri="{FF2B5EF4-FFF2-40B4-BE49-F238E27FC236}">
                <a16:creationId xmlns:a16="http://schemas.microsoft.com/office/drawing/2014/main" id="{CC55F63F-4A70-475E-A25C-8AD411066C50}"/>
              </a:ext>
            </a:extLst>
          </p:cNvPr>
          <p:cNvSpPr>
            <a:spLocks xmlns:a="http://schemas.openxmlformats.org/drawingml/2006/main" noGrp="1"/>
          </p:cNvSpPr>
          <p:nvPr/>
        </p:nvSpPr>
        <p:spPr>
          <a:xfrm xmlns:a="http://schemas.openxmlformats.org/drawingml/2006/main">
            <a:off x="9906000" y="3048000"/>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Share</a:t>
            </a:r>
          </a:p>
        </p:txBody>
      </p:sp>
      <p:sp>
        <p:nvSpPr>
          <p:cNvPr id="22" name="">
            <a:extLst xmlns:a="http://schemas.openxmlformats.org/drawingml/2006/main">
              <a:ext uri="{FF2B5EF4-FFF2-40B4-BE49-F238E27FC236}">
                <a16:creationId xmlns:a16="http://schemas.microsoft.com/office/drawing/2014/main" id="{986A7970-FED2-4697-839E-DC918DCE023B}"/>
              </a:ext>
            </a:extLst>
          </p:cNvPr>
          <p:cNvSpPr>
            <a:spLocks xmlns:a="http://schemas.openxmlformats.org/drawingml/2006/main" noGrp="1"/>
          </p:cNvSpPr>
          <p:nvPr/>
        </p:nvSpPr>
        <p:spPr>
          <a:xfrm xmlns:a="http://schemas.openxmlformats.org/drawingml/2006/main">
            <a:off x="9906000" y="3333750"/>
            <a:ext cx="1466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lernen / präsentieren</a:t>
            </a:r>
          </a:p>
        </p:txBody>
      </p:sp>
      <p:cxnSp>
        <p:nvCxnSpPr>
          <p:cNvPr id="51" name=""/>
          <p:cNvCxnSpPr>
            <a:stCxn xmlns:a="http://schemas.openxmlformats.org/drawingml/2006/main" id="8" idx="3"/>
            <a:endCxn xmlns:a="http://schemas.openxmlformats.org/drawingml/2006/main" id="11" idx="1"/>
          </p:cNvCxnSpPr>
          <p:nvPr/>
        </p:nvCxnSpPr>
        <p:spPr>
          <a:xfrm xmlns:a="http://schemas.openxmlformats.org/drawingml/2006/main">
            <a:off x="2476500" y="3286125"/>
            <a:ext cx="590550" cy="0"/>
          </a:xfrm>
          <a:prstGeom xmlns:a="http://schemas.openxmlformats.org/drawingml/2006/main" prst="straightConnector1">
            <a:avLst/>
          </a:prstGeom>
          <a:ln xmlns:a="http://schemas.openxmlformats.org/drawingml/2006/main" w="19050">
            <a:solidFill>
              <a:srgbClr val="36E0F2">
                <a:alpha val="70000"/>
              </a:srgbClr>
            </a:solidFill>
            <a:prstDash val="solid"/>
            <a:headEnd type="arrow" w="sm" len="sm"/>
          </a:ln>
        </p:spPr>
      </p:cxnSp>
      <p:cxnSp>
        <p:nvCxnSpPr>
          <p:cNvPr id="52" name=""/>
          <p:cNvCxnSpPr>
            <a:stCxn xmlns:a="http://schemas.openxmlformats.org/drawingml/2006/main" id="11" idx="3"/>
            <a:endCxn xmlns:a="http://schemas.openxmlformats.org/drawingml/2006/main" id="14" idx="1"/>
          </p:cNvCxnSpPr>
          <p:nvPr/>
        </p:nvCxnSpPr>
        <p:spPr>
          <a:xfrm xmlns:a="http://schemas.openxmlformats.org/drawingml/2006/main">
            <a:off x="4724400" y="3286125"/>
            <a:ext cx="590550" cy="0"/>
          </a:xfrm>
          <a:prstGeom xmlns:a="http://schemas.openxmlformats.org/drawingml/2006/main" prst="straightConnector1">
            <a:avLst/>
          </a:prstGeom>
          <a:ln xmlns:a="http://schemas.openxmlformats.org/drawingml/2006/main" w="19050">
            <a:solidFill>
              <a:srgbClr val="36E0F2">
                <a:alpha val="70000"/>
              </a:srgbClr>
            </a:solidFill>
            <a:prstDash val="solid"/>
            <a:headEnd type="arrow" w="sm" len="sm"/>
          </a:ln>
        </p:spPr>
      </p:cxnSp>
      <p:cxnSp>
        <p:nvCxnSpPr>
          <p:cNvPr id="53" name=""/>
          <p:cNvCxnSpPr>
            <a:stCxn xmlns:a="http://schemas.openxmlformats.org/drawingml/2006/main" id="14" idx="3"/>
            <a:endCxn xmlns:a="http://schemas.openxmlformats.org/drawingml/2006/main" id="17" idx="1"/>
          </p:cNvCxnSpPr>
          <p:nvPr/>
        </p:nvCxnSpPr>
        <p:spPr>
          <a:xfrm xmlns:a="http://schemas.openxmlformats.org/drawingml/2006/main">
            <a:off x="6972300" y="3286125"/>
            <a:ext cx="590550" cy="0"/>
          </a:xfrm>
          <a:prstGeom xmlns:a="http://schemas.openxmlformats.org/drawingml/2006/main" prst="straightConnector1">
            <a:avLst/>
          </a:prstGeom>
          <a:ln xmlns:a="http://schemas.openxmlformats.org/drawingml/2006/main" w="19050">
            <a:solidFill>
              <a:srgbClr val="36E0F2">
                <a:alpha val="70000"/>
              </a:srgbClr>
            </a:solidFill>
            <a:prstDash val="solid"/>
            <a:headEnd type="arrow" w="sm" len="sm"/>
          </a:ln>
        </p:spPr>
      </p:cxnSp>
      <p:cxnSp>
        <p:nvCxnSpPr>
          <p:cNvPr id="54" name=""/>
          <p:cNvCxnSpPr>
            <a:stCxn xmlns:a="http://schemas.openxmlformats.org/drawingml/2006/main" id="17" idx="3"/>
            <a:endCxn xmlns:a="http://schemas.openxmlformats.org/drawingml/2006/main" id="20" idx="1"/>
          </p:cNvCxnSpPr>
          <p:nvPr/>
        </p:nvCxnSpPr>
        <p:spPr>
          <a:xfrm xmlns:a="http://schemas.openxmlformats.org/drawingml/2006/main">
            <a:off x="9220200" y="3286125"/>
            <a:ext cx="590550" cy="0"/>
          </a:xfrm>
          <a:prstGeom xmlns:a="http://schemas.openxmlformats.org/drawingml/2006/main" prst="straightConnector1">
            <a:avLst/>
          </a:prstGeom>
          <a:ln xmlns:a="http://schemas.openxmlformats.org/drawingml/2006/main" w="19050">
            <a:solidFill>
              <a:srgbClr val="36E0F2">
                <a:alpha val="70000"/>
              </a:srgbClr>
            </a:solidFill>
            <a:prstDash val="solid"/>
            <a:headEnd type="arrow" w="sm" len="sm"/>
          </a:ln>
        </p:spPr>
      </p:cxnSp>
      <p:sp>
        <p:nvSpPr>
          <p:cNvPr id="27" name="">
            <a:extLst xmlns:a="http://schemas.openxmlformats.org/drawingml/2006/main">
              <a:ext uri="{FF2B5EF4-FFF2-40B4-BE49-F238E27FC236}">
                <a16:creationId xmlns:a16="http://schemas.microsoft.com/office/drawing/2014/main" id="{610465F7-5017-4267-AF18-E44F01E77A99}"/>
              </a:ext>
            </a:extLst>
          </p:cNvPr>
          <p:cNvSpPr>
            <a:spLocks xmlns:a="http://schemas.openxmlformats.org/drawingml/2006/main" noGrp="1"/>
          </p:cNvSpPr>
          <p:nvPr/>
        </p:nvSpPr>
        <p:spPr>
          <a:xfrm xmlns:a="http://schemas.openxmlformats.org/drawingml/2006/main">
            <a:off x="2095500" y="4286250"/>
            <a:ext cx="800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00" b="1">
                <a:solidFill>
                  <a:srgbClr val="CBD5E1"/>
                </a:solidFill>
                <a:latin typeface="Aptos"/>
                <a:ea typeface="Aptos"/>
                <a:cs typeface="Aptos"/>
              </a:defRPr>
            </a:pPr>
            <a:r>
              <a:rPr sz="1800" b="1">
                <a:solidFill>
                  <a:srgbClr val="CBD5E1"/>
                </a:solidFill>
                <a:latin typeface="Aptos"/>
                <a:ea typeface="Aptos"/>
                <a:cs typeface="Aptos"/>
              </a:rPr>
              <a:t>Der entscheidende Punkt: Chat und Studio greifen auf denselben Quellenraum zu.</a:t>
            </a:r>
          </a:p>
        </p:txBody>
      </p:sp>
      <p:sp>
        <p:nvSpPr>
          <p:cNvPr id="28" name="">
            <a:extLst xmlns:a="http://schemas.openxmlformats.org/drawingml/2006/main">
              <a:ext uri="{FF2B5EF4-FFF2-40B4-BE49-F238E27FC236}">
                <a16:creationId xmlns:a16="http://schemas.microsoft.com/office/drawing/2014/main" id="{174E97B8-0ECB-4061-BE09-006D4CB4321A}"/>
              </a:ext>
            </a:extLst>
          </p:cNvPr>
          <p:cNvSpPr>
            <a:spLocks xmlns:a="http://schemas.openxmlformats.org/drawingml/2006/main" noGrp="1"/>
          </p:cNvSpPr>
          <p:nvPr/>
        </p:nvSpPr>
        <p:spPr>
          <a:xfrm xmlns:a="http://schemas.openxmlformats.org/drawingml/2006/main">
            <a:off x="685800" y="58578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825" b="0">
                <a:solidFill>
                  <a:srgbClr val="7E8AA2"/>
                </a:solidFill>
                <a:latin typeface="Aptos"/>
                <a:ea typeface="Aptos"/>
                <a:cs typeface="Aptos"/>
              </a:defRPr>
            </a:pPr>
            <a:r>
              <a:rPr sz="825" b="0">
                <a:solidFill>
                  <a:srgbClr val="7E8AA2"/>
                </a:solidFill>
                <a:latin typeface="Aptos"/>
                <a:ea typeface="Aptos"/>
                <a:cs typeface="Aptos"/>
              </a:rPr>
              <a:t>Quellen: Google NotebookLM Help [G1], [G2], [G4], [G5]</a:t>
            </a:r>
          </a:p>
        </p:txBody>
      </p:sp>
    </p:spTree>
    <p:extLst>
      <p:ext uri="{BB962C8B-B14F-4D97-AF65-F5344CB8AC3E}">
        <p14:creationId xmlns:p14="http://schemas.microsoft.com/office/powerpoint/2010/main" val="774798923"/>
      </p:ext>
    </p:extLst>
  </p:cSld>
</p:sld>
</file>

<file path=ppt/slides/slide5.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D2490-768D-468B-8012-0EF6C0A29D9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FA153E-5AE8-47CA-99E7-0CB1A973E248}"/>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5DD568CD-99CD-433B-9972-6BF1FA1A03C6}"/>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2411B7DC-DF14-43A8-AFE7-229DF1125282}"/>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05 / 22</a:t>
            </a:r>
          </a:p>
        </p:txBody>
      </p:sp>
      <p:sp>
        <p:nvSpPr>
          <p:cNvPr id="5" name="">
            <a:extLst xmlns:a="http://schemas.openxmlformats.org/drawingml/2006/main">
              <a:ext uri="{FF2B5EF4-FFF2-40B4-BE49-F238E27FC236}">
                <a16:creationId xmlns:a16="http://schemas.microsoft.com/office/drawing/2014/main" id="{7C885C21-66E9-4527-8A85-D54E29BCC95D}"/>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43FC1F1B-26B0-46E8-8869-5C2F1770CD5D}"/>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STUDIO</a:t>
            </a:r>
          </a:p>
        </p:txBody>
      </p:sp>
      <p:sp>
        <p:nvSpPr>
          <p:cNvPr id="7" name="">
            <a:extLst xmlns:a="http://schemas.openxmlformats.org/drawingml/2006/main">
              <a:ext uri="{FF2B5EF4-FFF2-40B4-BE49-F238E27FC236}">
                <a16:creationId xmlns:a16="http://schemas.microsoft.com/office/drawing/2014/main" id="{4DE1ABD0-D9E9-498A-924E-5A300C24AF0F}"/>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Audio und Video machten das Prinzip sichtbar</a:t>
            </a:r>
          </a:p>
        </p:txBody>
      </p:sp>
      <p:sp>
        <p:nvSpPr>
          <p:cNvPr id="8" name="">
            <a:extLst xmlns:a="http://schemas.openxmlformats.org/drawingml/2006/main">
              <a:ext uri="{FF2B5EF4-FFF2-40B4-BE49-F238E27FC236}">
                <a16:creationId xmlns:a16="http://schemas.microsoft.com/office/drawing/2014/main" id="{6BE220D8-E427-4671-A040-9E21CB7985B9}"/>
              </a:ext>
            </a:extLst>
          </p:cNvPr>
          <p:cNvSpPr>
            <a:spLocks xmlns:a="http://schemas.openxmlformats.org/drawingml/2006/main" noGrp="1"/>
          </p:cNvSpPr>
          <p:nvPr/>
        </p:nvSpPr>
        <p:spPr>
          <a:xfrm xmlns:a="http://schemas.openxmlformats.org/drawingml/2006/main">
            <a:off x="1123950" y="2457450"/>
            <a:ext cx="4667250" cy="2238375"/>
          </a:xfrm>
          <a:prstGeom xmlns:a="http://schemas.openxmlformats.org/drawingml/2006/main" prst="roundRect">
            <a:avLst>
              <a:gd name="adj" fmla="val 8511"/>
            </a:avLst>
          </a:prstGeom>
          <a:solidFill xmlns:a="http://schemas.openxmlformats.org/drawingml/2006/main">
            <a:srgbClr val="A78BFA">
              <a:alpha val="10000"/>
            </a:srgbClr>
          </a:solidFill>
          <a:ln xmlns:a="http://schemas.openxmlformats.org/drawingml/2006/main" w="11430">
            <a:solidFill>
              <a:srgbClr val="A78BFA">
                <a:alpha val="55000"/>
              </a:srgbClr>
            </a:solidFill>
            <a:prstDash val="solid"/>
          </a:ln>
        </p:spPr>
      </p:sp>
      <p:sp>
        <p:nvSpPr>
          <p:cNvPr id="9" name="">
            <a:extLst xmlns:a="http://schemas.openxmlformats.org/drawingml/2006/main">
              <a:ext uri="{FF2B5EF4-FFF2-40B4-BE49-F238E27FC236}">
                <a16:creationId xmlns:a16="http://schemas.microsoft.com/office/drawing/2014/main" id="{06CCD841-C49B-4EB7-8FCE-8255921D7B8E}"/>
              </a:ext>
            </a:extLst>
          </p:cNvPr>
          <p:cNvSpPr>
            <a:spLocks xmlns:a="http://schemas.openxmlformats.org/drawingml/2006/main" noGrp="1"/>
          </p:cNvSpPr>
          <p:nvPr/>
        </p:nvSpPr>
        <p:spPr>
          <a:xfrm xmlns:a="http://schemas.openxmlformats.org/drawingml/2006/main">
            <a:off x="1447800" y="28003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175" b="1">
                <a:solidFill>
                  <a:srgbClr val="F8FAFC"/>
                </a:solidFill>
                <a:latin typeface="Aptos"/>
                <a:ea typeface="Aptos"/>
                <a:cs typeface="Aptos"/>
              </a:defRPr>
            </a:pPr>
            <a:r>
              <a:rPr sz="2175" b="1">
                <a:solidFill>
                  <a:srgbClr val="F8FAFC"/>
                </a:solidFill>
                <a:latin typeface="Aptos"/>
                <a:ea typeface="Aptos"/>
                <a:cs typeface="Aptos"/>
              </a:rPr>
              <a:t>Audio Overview</a:t>
            </a:r>
          </a:p>
        </p:txBody>
      </p:sp>
      <p:sp>
        <p:nvSpPr>
          <p:cNvPr id="10" name="">
            <a:extLst xmlns:a="http://schemas.openxmlformats.org/drawingml/2006/main">
              <a:ext uri="{FF2B5EF4-FFF2-40B4-BE49-F238E27FC236}">
                <a16:creationId xmlns:a16="http://schemas.microsoft.com/office/drawing/2014/main" id="{5D89A9EE-699B-436E-A270-21ACE153EF47}"/>
              </a:ext>
            </a:extLst>
          </p:cNvPr>
          <p:cNvSpPr>
            <a:spLocks xmlns:a="http://schemas.openxmlformats.org/drawingml/2006/main" noGrp="1"/>
          </p:cNvSpPr>
          <p:nvPr/>
        </p:nvSpPr>
        <p:spPr>
          <a:xfrm xmlns:a="http://schemas.openxmlformats.org/drawingml/2006/main">
            <a:off x="1447800" y="3429000"/>
            <a:ext cx="3905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6000"/>
              </a:lnSpc>
              <a:buNone/>
              <a:defRPr sz="1575" b="0">
                <a:solidFill>
                  <a:srgbClr val="CBD5E1"/>
                </a:solidFill>
                <a:latin typeface="Aptos"/>
                <a:ea typeface="Aptos"/>
                <a:cs typeface="Aptos"/>
              </a:defRPr>
            </a:pPr>
            <a:r>
              <a:rPr sz="1575" b="0">
                <a:solidFill>
                  <a:srgbClr val="CBD5E1"/>
                </a:solidFill>
                <a:latin typeface="Aptos"/>
                <a:ea typeface="Aptos"/>
                <a:cs typeface="Aptos"/>
              </a:rPr>
              <a:t>Zwei AI-Hosts erklären und verbinden die wichtigsten Themen aus den Quellen.</a:t>
            </a:r>
          </a:p>
        </p:txBody>
      </p:sp>
      <p:sp>
        <p:nvSpPr>
          <p:cNvPr id="11" name="">
            <a:extLst xmlns:a="http://schemas.openxmlformats.org/drawingml/2006/main">
              <a:ext uri="{FF2B5EF4-FFF2-40B4-BE49-F238E27FC236}">
                <a16:creationId xmlns:a16="http://schemas.microsoft.com/office/drawing/2014/main" id="{8CDFAEC3-9D7B-411B-8364-6EE73B2D8182}"/>
              </a:ext>
            </a:extLst>
          </p:cNvPr>
          <p:cNvSpPr>
            <a:spLocks xmlns:a="http://schemas.openxmlformats.org/drawingml/2006/main" noGrp="1"/>
          </p:cNvSpPr>
          <p:nvPr/>
        </p:nvSpPr>
        <p:spPr>
          <a:xfrm xmlns:a="http://schemas.openxmlformats.org/drawingml/2006/main">
            <a:off x="6400800" y="2457450"/>
            <a:ext cx="4667250" cy="2238375"/>
          </a:xfrm>
          <a:prstGeom xmlns:a="http://schemas.openxmlformats.org/drawingml/2006/main" prst="roundRect">
            <a:avLst>
              <a:gd name="adj" fmla="val 8511"/>
            </a:avLst>
          </a:prstGeom>
          <a:solidFill xmlns:a="http://schemas.openxmlformats.org/drawingml/2006/main">
            <a:srgbClr val="36E0F2">
              <a:alpha val="10000"/>
            </a:srgbClr>
          </a:solidFill>
          <a:ln xmlns:a="http://schemas.openxmlformats.org/drawingml/2006/main" w="11430">
            <a:solidFill>
              <a:srgbClr val="36E0F2">
                <a:alpha val="55000"/>
              </a:srgbClr>
            </a:solidFill>
            <a:prstDash val="solid"/>
          </a:ln>
        </p:spPr>
      </p:sp>
      <p:sp>
        <p:nvSpPr>
          <p:cNvPr id="12" name="">
            <a:extLst xmlns:a="http://schemas.openxmlformats.org/drawingml/2006/main">
              <a:ext uri="{FF2B5EF4-FFF2-40B4-BE49-F238E27FC236}">
                <a16:creationId xmlns:a16="http://schemas.microsoft.com/office/drawing/2014/main" id="{BD25080C-E67B-4161-B7C1-75F8117A43C6}"/>
              </a:ext>
            </a:extLst>
          </p:cNvPr>
          <p:cNvSpPr>
            <a:spLocks xmlns:a="http://schemas.openxmlformats.org/drawingml/2006/main" noGrp="1"/>
          </p:cNvSpPr>
          <p:nvPr/>
        </p:nvSpPr>
        <p:spPr>
          <a:xfrm xmlns:a="http://schemas.openxmlformats.org/drawingml/2006/main">
            <a:off x="6724650" y="28003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175" b="1">
                <a:solidFill>
                  <a:srgbClr val="F8FAFC"/>
                </a:solidFill>
                <a:latin typeface="Aptos"/>
                <a:ea typeface="Aptos"/>
                <a:cs typeface="Aptos"/>
              </a:defRPr>
            </a:pPr>
            <a:r>
              <a:rPr sz="2175" b="1">
                <a:solidFill>
                  <a:srgbClr val="F8FAFC"/>
                </a:solidFill>
                <a:latin typeface="Aptos"/>
                <a:ea typeface="Aptos"/>
                <a:cs typeface="Aptos"/>
              </a:rPr>
              <a:t>Video Overview</a:t>
            </a:r>
          </a:p>
        </p:txBody>
      </p:sp>
      <p:sp>
        <p:nvSpPr>
          <p:cNvPr id="13" name="">
            <a:extLst xmlns:a="http://schemas.openxmlformats.org/drawingml/2006/main">
              <a:ext uri="{FF2B5EF4-FFF2-40B4-BE49-F238E27FC236}">
                <a16:creationId xmlns:a16="http://schemas.microsoft.com/office/drawing/2014/main" id="{36D2250E-DA05-47E1-B260-94F2D0A87AF4}"/>
              </a:ext>
            </a:extLst>
          </p:cNvPr>
          <p:cNvSpPr>
            <a:spLocks xmlns:a="http://schemas.openxmlformats.org/drawingml/2006/main" noGrp="1"/>
          </p:cNvSpPr>
          <p:nvPr/>
        </p:nvSpPr>
        <p:spPr>
          <a:xfrm xmlns:a="http://schemas.openxmlformats.org/drawingml/2006/main">
            <a:off x="6724650" y="3429000"/>
            <a:ext cx="3905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6000"/>
              </a:lnSpc>
              <a:buNone/>
              <a:defRPr sz="1575" b="0">
                <a:solidFill>
                  <a:srgbClr val="CBD5E1"/>
                </a:solidFill>
                <a:latin typeface="Aptos"/>
                <a:ea typeface="Aptos"/>
                <a:cs typeface="Aptos"/>
              </a:defRPr>
            </a:pPr>
            <a:r>
              <a:rPr sz="1575" b="0">
                <a:solidFill>
                  <a:srgbClr val="CBD5E1"/>
                </a:solidFill>
                <a:latin typeface="Aptos"/>
                <a:ea typeface="Aptos"/>
                <a:cs typeface="Aptos"/>
              </a:rPr>
              <a:t>Ein visuelles, erzähltes Deep-Dive-Format mit Sprache, Stil und Steering Prompt.</a:t>
            </a:r>
          </a:p>
        </p:txBody>
      </p:sp>
      <p:sp>
        <p:nvSpPr>
          <p:cNvPr id="14" name="">
            <a:extLst xmlns:a="http://schemas.openxmlformats.org/drawingml/2006/main">
              <a:ext uri="{FF2B5EF4-FFF2-40B4-BE49-F238E27FC236}">
                <a16:creationId xmlns:a16="http://schemas.microsoft.com/office/drawing/2014/main" id="{3480AEA2-707C-4956-A01C-B1928EB86C6D}"/>
              </a:ext>
            </a:extLst>
          </p:cNvPr>
          <p:cNvSpPr>
            <a:spLocks xmlns:a="http://schemas.openxmlformats.org/drawingml/2006/main" noGrp="1"/>
          </p:cNvSpPr>
          <p:nvPr/>
        </p:nvSpPr>
        <p:spPr>
          <a:xfrm xmlns:a="http://schemas.openxmlformats.org/drawingml/2006/main">
            <a:off x="1790700" y="5095875"/>
            <a:ext cx="862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00" b="1">
                <a:solidFill>
                  <a:srgbClr val="F8FAFC"/>
                </a:solidFill>
                <a:latin typeface="Aptos"/>
                <a:ea typeface="Aptos"/>
                <a:cs typeface="Aptos"/>
              </a:defRPr>
            </a:pPr>
            <a:r>
              <a:rPr sz="1800" b="1">
                <a:solidFill>
                  <a:srgbClr val="F8FAFC"/>
                </a:solidFill>
                <a:latin typeface="Aptos"/>
                <a:ea typeface="Aptos"/>
                <a:cs typeface="Aptos"/>
              </a:rPr>
              <a:t>Der Wow-Effekt entsteht, wenn Quellen in ein neues Medium übersetzt werden.</a:t>
            </a:r>
          </a:p>
        </p:txBody>
      </p:sp>
      <p:sp>
        <p:nvSpPr>
          <p:cNvPr id="15" name="">
            <a:extLst xmlns:a="http://schemas.openxmlformats.org/drawingml/2006/main">
              <a:ext uri="{FF2B5EF4-FFF2-40B4-BE49-F238E27FC236}">
                <a16:creationId xmlns:a16="http://schemas.microsoft.com/office/drawing/2014/main" id="{39A51CA4-C56B-421C-8949-009306FB95FF}"/>
              </a:ext>
            </a:extLst>
          </p:cNvPr>
          <p:cNvSpPr>
            <a:spLocks xmlns:a="http://schemas.openxmlformats.org/drawingml/2006/main" noGrp="1"/>
          </p:cNvSpPr>
          <p:nvPr/>
        </p:nvSpPr>
        <p:spPr>
          <a:xfrm xmlns:a="http://schemas.openxmlformats.org/drawingml/2006/main">
            <a:off x="685800" y="58578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825" b="0">
                <a:solidFill>
                  <a:srgbClr val="7E8AA2"/>
                </a:solidFill>
                <a:latin typeface="Aptos"/>
                <a:ea typeface="Aptos"/>
                <a:cs typeface="Aptos"/>
              </a:defRPr>
            </a:pPr>
            <a:r>
              <a:rPr sz="825" b="0">
                <a:solidFill>
                  <a:srgbClr val="7E8AA2"/>
                </a:solidFill>
                <a:latin typeface="Aptos"/>
                <a:ea typeface="Aptos"/>
                <a:cs typeface="Aptos"/>
              </a:rPr>
              <a:t>Quellen: Google NotebookLM Help [G4], [G5], Google Blog [G6]</a:t>
            </a:r>
          </a:p>
        </p:txBody>
      </p:sp>
    </p:spTree>
    <p:extLst>
      <p:ext uri="{BB962C8B-B14F-4D97-AF65-F5344CB8AC3E}">
        <p14:creationId xmlns:p14="http://schemas.microsoft.com/office/powerpoint/2010/main" val="1419365357"/>
      </p:ext>
    </p:extLst>
  </p:cSld>
</p:sld>
</file>

<file path=ppt/slides/slide6.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A4AB44-7E02-4508-B4F1-C8D95AC4E8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7FD300A-A525-4392-BAB4-48A0DDB64D6A}"/>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1000510D-F114-42C8-A5F7-3016F41563EE}"/>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2F2D563D-4438-4241-8CA1-A14A418774E7}"/>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06 / 22</a:t>
            </a:r>
          </a:p>
        </p:txBody>
      </p:sp>
      <p:sp>
        <p:nvSpPr>
          <p:cNvPr id="5" name="">
            <a:extLst xmlns:a="http://schemas.openxmlformats.org/drawingml/2006/main">
              <a:ext uri="{FF2B5EF4-FFF2-40B4-BE49-F238E27FC236}">
                <a16:creationId xmlns:a16="http://schemas.microsoft.com/office/drawing/2014/main" id="{FB98880D-EF0F-4D39-A572-747B593D9515}"/>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7F2A0673-A448-49A3-9DC7-6DA71A1D895A}"/>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7" name="">
            <a:extLst xmlns:a="http://schemas.openxmlformats.org/drawingml/2006/main">
              <a:ext uri="{FF2B5EF4-FFF2-40B4-BE49-F238E27FC236}">
                <a16:creationId xmlns:a16="http://schemas.microsoft.com/office/drawing/2014/main" id="{66A64328-8F9D-4EF5-888F-8A3E50DE3131}"/>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Unser Ziel: Parität bei Ergebnissen, mehr Auditierbarkeit</a:t>
            </a:r>
          </a:p>
        </p:txBody>
      </p:sp>
      <p:sp>
        <p:nvSpPr>
          <p:cNvPr id="8" name="">
            <a:extLst xmlns:a="http://schemas.openxmlformats.org/drawingml/2006/main">
              <a:ext uri="{FF2B5EF4-FFF2-40B4-BE49-F238E27FC236}">
                <a16:creationId xmlns:a16="http://schemas.microsoft.com/office/drawing/2014/main" id="{C31F174A-EB9D-49D0-82EB-6C7EDFA4058A}"/>
              </a:ext>
            </a:extLst>
          </p:cNvPr>
          <p:cNvSpPr>
            <a:spLocks xmlns:a="http://schemas.openxmlformats.org/drawingml/2006/main" noGrp="1"/>
          </p:cNvSpPr>
          <p:nvPr/>
        </p:nvSpPr>
        <p:spPr>
          <a:xfrm xmlns:a="http://schemas.openxmlformats.org/drawingml/2006/main">
            <a:off x="1123950" y="2305050"/>
            <a:ext cx="9944100" cy="762000"/>
          </a:xfrm>
          <a:prstGeom xmlns:a="http://schemas.openxmlformats.org/drawingml/2006/main" prst="roundRect">
            <a:avLst>
              <a:gd name="adj" fmla="val 22500"/>
            </a:avLst>
          </a:prstGeom>
          <a:solidFill xmlns:a="http://schemas.openxmlformats.org/drawingml/2006/main">
            <a:srgbClr val="36E0F2">
              <a:alpha val="9000"/>
            </a:srgbClr>
          </a:solidFill>
          <a:ln xmlns:a="http://schemas.openxmlformats.org/drawingml/2006/main" w="9525">
            <a:solidFill>
              <a:srgbClr val="36E0F2">
                <a:alpha val="52000"/>
              </a:srgbClr>
            </a:solidFill>
            <a:prstDash val="solid"/>
          </a:ln>
        </p:spPr>
      </p:sp>
      <p:sp>
        <p:nvSpPr>
          <p:cNvPr id="9" name="">
            <a:extLst xmlns:a="http://schemas.openxmlformats.org/drawingml/2006/main">
              <a:ext uri="{FF2B5EF4-FFF2-40B4-BE49-F238E27FC236}">
                <a16:creationId xmlns:a16="http://schemas.microsoft.com/office/drawing/2014/main" id="{B70D426B-4397-4A74-BCB8-F603EFCA9E49}"/>
              </a:ext>
            </a:extLst>
          </p:cNvPr>
          <p:cNvSpPr>
            <a:spLocks xmlns:a="http://schemas.openxmlformats.org/drawingml/2006/main" noGrp="1"/>
          </p:cNvSpPr>
          <p:nvPr/>
        </p:nvSpPr>
        <p:spPr>
          <a:xfrm xmlns:a="http://schemas.openxmlformats.org/drawingml/2006/main">
            <a:off x="1447800" y="24955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00" b="1">
                <a:solidFill>
                  <a:srgbClr val="36E0F2"/>
                </a:solidFill>
                <a:latin typeface="Aptos"/>
                <a:ea typeface="Aptos"/>
                <a:cs typeface="Aptos"/>
              </a:defRPr>
            </a:pPr>
            <a:r>
              <a:rPr sz="1800" b="1">
                <a:solidFill>
                  <a:srgbClr val="36E0F2"/>
                </a:solidFill>
                <a:latin typeface="Aptos"/>
                <a:ea typeface="Aptos"/>
                <a:cs typeface="Aptos"/>
              </a:rPr>
              <a:t>Nicht kopieren</a:t>
            </a:r>
          </a:p>
        </p:txBody>
      </p:sp>
      <p:sp>
        <p:nvSpPr>
          <p:cNvPr id="10" name="">
            <a:extLst xmlns:a="http://schemas.openxmlformats.org/drawingml/2006/main">
              <a:ext uri="{FF2B5EF4-FFF2-40B4-BE49-F238E27FC236}">
                <a16:creationId xmlns:a16="http://schemas.microsoft.com/office/drawing/2014/main" id="{E6F53027-D06A-4F82-AE8C-6E182BCB2496}"/>
              </a:ext>
            </a:extLst>
          </p:cNvPr>
          <p:cNvSpPr>
            <a:spLocks xmlns:a="http://schemas.openxmlformats.org/drawingml/2006/main" noGrp="1"/>
          </p:cNvSpPr>
          <p:nvPr/>
        </p:nvSpPr>
        <p:spPr>
          <a:xfrm xmlns:a="http://schemas.openxmlformats.org/drawingml/2006/main">
            <a:off x="4095750" y="251460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650" b="0">
                <a:solidFill>
                  <a:srgbClr val="CBD5E1"/>
                </a:solidFill>
                <a:latin typeface="Aptos"/>
                <a:ea typeface="Aptos"/>
                <a:cs typeface="Aptos"/>
              </a:defRPr>
            </a:pPr>
            <a:r>
              <a:rPr sz="1650" b="0">
                <a:solidFill>
                  <a:srgbClr val="CBD5E1"/>
                </a:solidFill>
                <a:latin typeface="Aptos"/>
                <a:ea typeface="Aptos"/>
                <a:cs typeface="Aptos"/>
              </a:rPr>
              <a:t>Produktprinzip verstehen statt UI nachmalen</a:t>
            </a:r>
          </a:p>
        </p:txBody>
      </p:sp>
      <p:sp>
        <p:nvSpPr>
          <p:cNvPr id="11" name="">
            <a:extLst xmlns:a="http://schemas.openxmlformats.org/drawingml/2006/main">
              <a:ext uri="{FF2B5EF4-FFF2-40B4-BE49-F238E27FC236}">
                <a16:creationId xmlns:a16="http://schemas.microsoft.com/office/drawing/2014/main" id="{618D701C-4988-4C09-B077-60D3F8BBB108}"/>
              </a:ext>
            </a:extLst>
          </p:cNvPr>
          <p:cNvSpPr>
            <a:spLocks xmlns:a="http://schemas.openxmlformats.org/drawingml/2006/main" noGrp="1"/>
          </p:cNvSpPr>
          <p:nvPr/>
        </p:nvSpPr>
        <p:spPr>
          <a:xfrm xmlns:a="http://schemas.openxmlformats.org/drawingml/2006/main">
            <a:off x="1123950" y="3371850"/>
            <a:ext cx="9944100" cy="762000"/>
          </a:xfrm>
          <a:prstGeom xmlns:a="http://schemas.openxmlformats.org/drawingml/2006/main" prst="roundRect">
            <a:avLst>
              <a:gd name="adj" fmla="val 22500"/>
            </a:avLst>
          </a:prstGeom>
          <a:solidFill xmlns:a="http://schemas.openxmlformats.org/drawingml/2006/main">
            <a:srgbClr val="34D399">
              <a:alpha val="9000"/>
            </a:srgbClr>
          </a:solidFill>
          <a:ln xmlns:a="http://schemas.openxmlformats.org/drawingml/2006/main" w="9525">
            <a:solidFill>
              <a:srgbClr val="34D399">
                <a:alpha val="52000"/>
              </a:srgbClr>
            </a:solidFill>
            <a:prstDash val="solid"/>
          </a:ln>
        </p:spPr>
      </p:sp>
      <p:sp>
        <p:nvSpPr>
          <p:cNvPr id="12" name="">
            <a:extLst xmlns:a="http://schemas.openxmlformats.org/drawingml/2006/main">
              <a:ext uri="{FF2B5EF4-FFF2-40B4-BE49-F238E27FC236}">
                <a16:creationId xmlns:a16="http://schemas.microsoft.com/office/drawing/2014/main" id="{918FC831-F4D3-4A16-9A4F-DA17ADF702D1}"/>
              </a:ext>
            </a:extLst>
          </p:cNvPr>
          <p:cNvSpPr>
            <a:spLocks xmlns:a="http://schemas.openxmlformats.org/drawingml/2006/main" noGrp="1"/>
          </p:cNvSpPr>
          <p:nvPr/>
        </p:nvSpPr>
        <p:spPr>
          <a:xfrm xmlns:a="http://schemas.openxmlformats.org/drawingml/2006/main">
            <a:off x="1447800" y="35623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00" b="1">
                <a:solidFill>
                  <a:srgbClr val="34D399"/>
                </a:solidFill>
                <a:latin typeface="Aptos"/>
                <a:ea typeface="Aptos"/>
                <a:cs typeface="Aptos"/>
              </a:defRPr>
            </a:pPr>
            <a:r>
              <a:rPr sz="1800" b="1">
                <a:solidFill>
                  <a:srgbClr val="34D399"/>
                </a:solidFill>
                <a:latin typeface="Aptos"/>
                <a:ea typeface="Aptos"/>
                <a:cs typeface="Aptos"/>
              </a:rPr>
              <a:t>Grounding erzwingen</a:t>
            </a:r>
          </a:p>
        </p:txBody>
      </p:sp>
      <p:sp>
        <p:nvSpPr>
          <p:cNvPr id="13" name="">
            <a:extLst xmlns:a="http://schemas.openxmlformats.org/drawingml/2006/main">
              <a:ext uri="{FF2B5EF4-FFF2-40B4-BE49-F238E27FC236}">
                <a16:creationId xmlns:a16="http://schemas.microsoft.com/office/drawing/2014/main" id="{15322448-15BE-4380-BB9B-C06D7EBFF05B}"/>
              </a:ext>
            </a:extLst>
          </p:cNvPr>
          <p:cNvSpPr>
            <a:spLocks xmlns:a="http://schemas.openxmlformats.org/drawingml/2006/main" noGrp="1"/>
          </p:cNvSpPr>
          <p:nvPr/>
        </p:nvSpPr>
        <p:spPr>
          <a:xfrm xmlns:a="http://schemas.openxmlformats.org/drawingml/2006/main">
            <a:off x="4095750" y="358140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650" b="0">
                <a:solidFill>
                  <a:srgbClr val="CBD5E1"/>
                </a:solidFill>
                <a:latin typeface="Aptos"/>
                <a:ea typeface="Aptos"/>
                <a:cs typeface="Aptos"/>
              </a:defRPr>
            </a:pPr>
            <a:r>
              <a:rPr sz="1650" b="0">
                <a:solidFill>
                  <a:srgbClr val="CBD5E1"/>
                </a:solidFill>
                <a:latin typeface="Aptos"/>
                <a:ea typeface="Aptos"/>
                <a:cs typeface="Aptos"/>
              </a:rPr>
              <a:t>Chat und Studio aus derselben Evidence</a:t>
            </a:r>
          </a:p>
        </p:txBody>
      </p:sp>
      <p:sp>
        <p:nvSpPr>
          <p:cNvPr id="14" name="">
            <a:extLst xmlns:a="http://schemas.openxmlformats.org/drawingml/2006/main">
              <a:ext uri="{FF2B5EF4-FFF2-40B4-BE49-F238E27FC236}">
                <a16:creationId xmlns:a16="http://schemas.microsoft.com/office/drawing/2014/main" id="{A0F29A34-0244-4480-B9BF-5AE0835F50F9}"/>
              </a:ext>
            </a:extLst>
          </p:cNvPr>
          <p:cNvSpPr>
            <a:spLocks xmlns:a="http://schemas.openxmlformats.org/drawingml/2006/main" noGrp="1"/>
          </p:cNvSpPr>
          <p:nvPr/>
        </p:nvSpPr>
        <p:spPr>
          <a:xfrm xmlns:a="http://schemas.openxmlformats.org/drawingml/2006/main">
            <a:off x="1123950" y="4438650"/>
            <a:ext cx="9944100" cy="762000"/>
          </a:xfrm>
          <a:prstGeom xmlns:a="http://schemas.openxmlformats.org/drawingml/2006/main" prst="roundRect">
            <a:avLst>
              <a:gd name="adj" fmla="val 22500"/>
            </a:avLst>
          </a:prstGeom>
          <a:solidFill xmlns:a="http://schemas.openxmlformats.org/drawingml/2006/main">
            <a:srgbClr val="FBBF24">
              <a:alpha val="9000"/>
            </a:srgbClr>
          </a:solidFill>
          <a:ln xmlns:a="http://schemas.openxmlformats.org/drawingml/2006/main" w="9525">
            <a:solidFill>
              <a:srgbClr val="FBBF24">
                <a:alpha val="52000"/>
              </a:srgbClr>
            </a:solidFill>
            <a:prstDash val="solid"/>
          </a:ln>
        </p:spPr>
      </p:sp>
      <p:sp>
        <p:nvSpPr>
          <p:cNvPr id="15" name="">
            <a:extLst xmlns:a="http://schemas.openxmlformats.org/drawingml/2006/main">
              <a:ext uri="{FF2B5EF4-FFF2-40B4-BE49-F238E27FC236}">
                <a16:creationId xmlns:a16="http://schemas.microsoft.com/office/drawing/2014/main" id="{2158FD22-F428-4B77-85E7-646EBDA9C984}"/>
              </a:ext>
            </a:extLst>
          </p:cNvPr>
          <p:cNvSpPr>
            <a:spLocks xmlns:a="http://schemas.openxmlformats.org/drawingml/2006/main" noGrp="1"/>
          </p:cNvSpPr>
          <p:nvPr/>
        </p:nvSpPr>
        <p:spPr>
          <a:xfrm xmlns:a="http://schemas.openxmlformats.org/drawingml/2006/main">
            <a:off x="1447800" y="4629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800" b="1">
                <a:solidFill>
                  <a:srgbClr val="FBBF24"/>
                </a:solidFill>
                <a:latin typeface="Aptos"/>
                <a:ea typeface="Aptos"/>
                <a:cs typeface="Aptos"/>
              </a:defRPr>
            </a:pPr>
            <a:r>
              <a:rPr sz="1800" b="1">
                <a:solidFill>
                  <a:srgbClr val="FBBF24"/>
                </a:solidFill>
                <a:latin typeface="Aptos"/>
                <a:ea typeface="Aptos"/>
                <a:cs typeface="Aptos"/>
              </a:rPr>
              <a:t>Auditierbar bleiben</a:t>
            </a:r>
          </a:p>
        </p:txBody>
      </p:sp>
      <p:sp>
        <p:nvSpPr>
          <p:cNvPr id="16" name="">
            <a:extLst xmlns:a="http://schemas.openxmlformats.org/drawingml/2006/main">
              <a:ext uri="{FF2B5EF4-FFF2-40B4-BE49-F238E27FC236}">
                <a16:creationId xmlns:a16="http://schemas.microsoft.com/office/drawing/2014/main" id="{6DDC09B7-20AD-43C2-858E-5A718C158CEF}"/>
              </a:ext>
            </a:extLst>
          </p:cNvPr>
          <p:cNvSpPr>
            <a:spLocks xmlns:a="http://schemas.openxmlformats.org/drawingml/2006/main" noGrp="1"/>
          </p:cNvSpPr>
          <p:nvPr/>
        </p:nvSpPr>
        <p:spPr>
          <a:xfrm xmlns:a="http://schemas.openxmlformats.org/drawingml/2006/main">
            <a:off x="4095750" y="4648200"/>
            <a:ext cx="657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650" b="0">
                <a:solidFill>
                  <a:srgbClr val="CBD5E1"/>
                </a:solidFill>
                <a:latin typeface="Aptos"/>
                <a:ea typeface="Aptos"/>
                <a:cs typeface="Aptos"/>
              </a:defRPr>
            </a:pPr>
            <a:r>
              <a:rPr sz="1650" b="0">
                <a:solidFill>
                  <a:srgbClr val="CBD5E1"/>
                </a:solidFill>
                <a:latin typeface="Aptos"/>
                <a:ea typeface="Aptos"/>
                <a:cs typeface="Aptos"/>
              </a:rPr>
              <a:t>Retrieval Runs, Evidence Packs, Citation Ledger</a:t>
            </a:r>
          </a:p>
        </p:txBody>
      </p:sp>
    </p:spTree>
    <p:extLst>
      <p:ext uri="{BB962C8B-B14F-4D97-AF65-F5344CB8AC3E}">
        <p14:creationId xmlns:p14="http://schemas.microsoft.com/office/powerpoint/2010/main" val="1736741433"/>
      </p:ext>
    </p:extLst>
  </p:cSld>
</p:sld>
</file>

<file path=ppt/slides/slide7.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A8043E-D7BB-42A3-B5FB-A7E9D34C2B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BC286C-6B78-4B5D-AB19-7110B5D75BF9}"/>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027AEF42-E98D-4060-85D8-B394345B0137}"/>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AA50448E-A8A7-4E31-8A3F-140F6FFE9C44}"/>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07 / 22</a:t>
            </a:r>
          </a:p>
        </p:txBody>
      </p:sp>
      <p:sp>
        <p:nvSpPr>
          <p:cNvPr id="5" name="">
            <a:extLst xmlns:a="http://schemas.openxmlformats.org/drawingml/2006/main">
              <a:ext uri="{FF2B5EF4-FFF2-40B4-BE49-F238E27FC236}">
                <a16:creationId xmlns:a16="http://schemas.microsoft.com/office/drawing/2014/main" id="{6077A391-D41D-4BDE-8287-2B661C8D39AF}"/>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2D1A66C6-4D0E-4908-9A9B-27F80F95AB57}"/>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SCREENSHARE</a:t>
            </a:r>
          </a:p>
        </p:txBody>
      </p:sp>
      <p:sp>
        <p:nvSpPr>
          <p:cNvPr id="7" name="">
            <a:extLst xmlns:a="http://schemas.openxmlformats.org/drawingml/2006/main">
              <a:ext uri="{FF2B5EF4-FFF2-40B4-BE49-F238E27FC236}">
                <a16:creationId xmlns:a16="http://schemas.microsoft.com/office/drawing/2014/main" id="{057221F8-9EAF-464B-98C5-8F32DCAFDB74}"/>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Live-Demo 1: Der Research Workspace</a:t>
            </a:r>
          </a:p>
        </p:txBody>
      </p:sp>
      <p:sp>
        <p:nvSpPr>
          <p:cNvPr id="8" name="">
            <a:extLst xmlns:a="http://schemas.openxmlformats.org/drawingml/2006/main">
              <a:ext uri="{FF2B5EF4-FFF2-40B4-BE49-F238E27FC236}">
                <a16:creationId xmlns:a16="http://schemas.microsoft.com/office/drawing/2014/main" id="{D98E74B8-D1CF-458D-ADB7-E4B40D087231}"/>
              </a:ext>
            </a:extLst>
          </p:cNvPr>
          <p:cNvSpPr>
            <a:spLocks xmlns:a="http://schemas.openxmlformats.org/drawingml/2006/main" noGrp="1"/>
          </p:cNvSpPr>
          <p:nvPr/>
        </p:nvSpPr>
        <p:spPr>
          <a:xfrm xmlns:a="http://schemas.openxmlformats.org/drawingml/2006/main">
            <a:off x="857250" y="2238375"/>
            <a:ext cx="10477500" cy="3095625"/>
          </a:xfrm>
          <a:prstGeom xmlns:a="http://schemas.openxmlformats.org/drawingml/2006/main" prst="roundRect">
            <a:avLst>
              <a:gd name="adj" fmla="val 6769"/>
            </a:avLst>
          </a:prstGeom>
          <a:solidFill xmlns:a="http://schemas.openxmlformats.org/drawingml/2006/main">
            <a:srgbClr val="36E0F2">
              <a:alpha val="8000"/>
            </a:srgbClr>
          </a:solidFill>
          <a:ln xmlns:a="http://schemas.openxmlformats.org/drawingml/2006/main" w="11430">
            <a:solidFill>
              <a:srgbClr val="36E0F2">
                <a:alpha val="45000"/>
              </a:srgbClr>
            </a:solidFill>
            <a:prstDash val="solid"/>
          </a:ln>
        </p:spPr>
      </p:sp>
      <p:sp>
        <p:nvSpPr>
          <p:cNvPr id="9" name="">
            <a:extLst xmlns:a="http://schemas.openxmlformats.org/drawingml/2006/main">
              <a:ext uri="{FF2B5EF4-FFF2-40B4-BE49-F238E27FC236}">
                <a16:creationId xmlns:a16="http://schemas.microsoft.com/office/drawing/2014/main" id="{9585F9A6-2F02-4C23-9572-5A72E4FBCC16}"/>
              </a:ext>
            </a:extLst>
          </p:cNvPr>
          <p:cNvSpPr>
            <a:spLocks xmlns:a="http://schemas.openxmlformats.org/drawingml/2006/main" noGrp="1"/>
          </p:cNvSpPr>
          <p:nvPr/>
        </p:nvSpPr>
        <p:spPr>
          <a:xfrm xmlns:a="http://schemas.openxmlformats.org/drawingml/2006/main">
            <a:off x="1219200"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025" b="1">
                <a:solidFill>
                  <a:srgbClr val="36E0F2"/>
                </a:solidFill>
                <a:latin typeface="Aptos"/>
                <a:ea typeface="Aptos"/>
                <a:cs typeface="Aptos"/>
              </a:defRPr>
            </a:pPr>
            <a:r>
              <a:rPr sz="2025" b="1">
                <a:solidFill>
                  <a:srgbClr val="36E0F2"/>
                </a:solidFill>
                <a:latin typeface="Aptos"/>
                <a:ea typeface="Aptos"/>
                <a:cs typeface="Aptos"/>
              </a:rPr>
              <a:t>Screenshare-Cue</a:t>
            </a:r>
          </a:p>
        </p:txBody>
      </p:sp>
      <p:sp>
        <p:nvSpPr>
          <p:cNvPr id="10" name="">
            <a:extLst xmlns:a="http://schemas.openxmlformats.org/drawingml/2006/main">
              <a:ext uri="{FF2B5EF4-FFF2-40B4-BE49-F238E27FC236}">
                <a16:creationId xmlns:a16="http://schemas.microsoft.com/office/drawing/2014/main" id="{4F2AE0D3-FF86-4BD3-AEA3-EB7E3901305E}"/>
              </a:ext>
            </a:extLst>
          </p:cNvPr>
          <p:cNvSpPr>
            <a:spLocks xmlns:a="http://schemas.openxmlformats.org/drawingml/2006/main" noGrp="1"/>
          </p:cNvSpPr>
          <p:nvPr/>
        </p:nvSpPr>
        <p:spPr>
          <a:xfrm xmlns:a="http://schemas.openxmlformats.org/drawingml/2006/main">
            <a:off x="1257300" y="32194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1" name="">
            <a:extLst xmlns:a="http://schemas.openxmlformats.org/drawingml/2006/main">
              <a:ext uri="{FF2B5EF4-FFF2-40B4-BE49-F238E27FC236}">
                <a16:creationId xmlns:a16="http://schemas.microsoft.com/office/drawing/2014/main" id="{14C83AC3-D86C-4141-8FF2-DC19729B791E}"/>
              </a:ext>
            </a:extLst>
          </p:cNvPr>
          <p:cNvSpPr>
            <a:spLocks xmlns:a="http://schemas.openxmlformats.org/drawingml/2006/main" noGrp="1"/>
          </p:cNvSpPr>
          <p:nvPr/>
        </p:nvSpPr>
        <p:spPr>
          <a:xfrm xmlns:a="http://schemas.openxmlformats.org/drawingml/2006/main">
            <a:off x="1466850" y="314325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Sources links: aktive und inaktive Quellen zeigen.</a:t>
            </a:r>
          </a:p>
        </p:txBody>
      </p:sp>
      <p:sp>
        <p:nvSpPr>
          <p:cNvPr id="12" name="">
            <a:extLst xmlns:a="http://schemas.openxmlformats.org/drawingml/2006/main">
              <a:ext uri="{FF2B5EF4-FFF2-40B4-BE49-F238E27FC236}">
                <a16:creationId xmlns:a16="http://schemas.microsoft.com/office/drawing/2014/main" id="{36ADD953-7437-4A83-9ACA-4715E5650CAB}"/>
              </a:ext>
            </a:extLst>
          </p:cNvPr>
          <p:cNvSpPr>
            <a:spLocks xmlns:a="http://schemas.openxmlformats.org/drawingml/2006/main" noGrp="1"/>
          </p:cNvSpPr>
          <p:nvPr/>
        </p:nvSpPr>
        <p:spPr>
          <a:xfrm xmlns:a="http://schemas.openxmlformats.org/drawingml/2006/main">
            <a:off x="1257300" y="36957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3" name="">
            <a:extLst xmlns:a="http://schemas.openxmlformats.org/drawingml/2006/main">
              <a:ext uri="{FF2B5EF4-FFF2-40B4-BE49-F238E27FC236}">
                <a16:creationId xmlns:a16="http://schemas.microsoft.com/office/drawing/2014/main" id="{6EAC459A-B6C0-4891-BF7D-72FF4D3EBF1A}"/>
              </a:ext>
            </a:extLst>
          </p:cNvPr>
          <p:cNvSpPr>
            <a:spLocks xmlns:a="http://schemas.openxmlformats.org/drawingml/2006/main" noGrp="1"/>
          </p:cNvSpPr>
          <p:nvPr/>
        </p:nvSpPr>
        <p:spPr>
          <a:xfrm xmlns:a="http://schemas.openxmlformats.org/drawingml/2006/main">
            <a:off x="1466850" y="36195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Chat in der Mitte: eine quellengebundene Frage vorbereiten.</a:t>
            </a:r>
          </a:p>
        </p:txBody>
      </p:sp>
      <p:sp>
        <p:nvSpPr>
          <p:cNvPr id="14" name="">
            <a:extLst xmlns:a="http://schemas.openxmlformats.org/drawingml/2006/main">
              <a:ext uri="{FF2B5EF4-FFF2-40B4-BE49-F238E27FC236}">
                <a16:creationId xmlns:a16="http://schemas.microsoft.com/office/drawing/2014/main" id="{4D87D092-C315-4CEA-BD84-24384949E338}"/>
              </a:ext>
            </a:extLst>
          </p:cNvPr>
          <p:cNvSpPr>
            <a:spLocks xmlns:a="http://schemas.openxmlformats.org/drawingml/2006/main" noGrp="1"/>
          </p:cNvSpPr>
          <p:nvPr/>
        </p:nvSpPr>
        <p:spPr>
          <a:xfrm xmlns:a="http://schemas.openxmlformats.org/drawingml/2006/main">
            <a:off x="1257300" y="4171950"/>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5" name="">
            <a:extLst xmlns:a="http://schemas.openxmlformats.org/drawingml/2006/main">
              <a:ext uri="{FF2B5EF4-FFF2-40B4-BE49-F238E27FC236}">
                <a16:creationId xmlns:a16="http://schemas.microsoft.com/office/drawing/2014/main" id="{C57189F9-D525-45CD-891B-6995F9EEFDF3}"/>
              </a:ext>
            </a:extLst>
          </p:cNvPr>
          <p:cNvSpPr>
            <a:spLocks xmlns:a="http://schemas.openxmlformats.org/drawingml/2006/main" noGrp="1"/>
          </p:cNvSpPr>
          <p:nvPr/>
        </p:nvSpPr>
        <p:spPr>
          <a:xfrm xmlns:a="http://schemas.openxmlformats.org/drawingml/2006/main">
            <a:off x="1466850" y="409575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Studio rechts: mögliche Artefakte kurz zeigen.</a:t>
            </a:r>
          </a:p>
        </p:txBody>
      </p:sp>
      <p:sp>
        <p:nvSpPr>
          <p:cNvPr id="16" name="">
            <a:extLst xmlns:a="http://schemas.openxmlformats.org/drawingml/2006/main">
              <a:ext uri="{FF2B5EF4-FFF2-40B4-BE49-F238E27FC236}">
                <a16:creationId xmlns:a16="http://schemas.microsoft.com/office/drawing/2014/main" id="{662CE550-CA5A-4893-AFCF-FC0D6259D995}"/>
              </a:ext>
            </a:extLst>
          </p:cNvPr>
          <p:cNvSpPr>
            <a:spLocks xmlns:a="http://schemas.openxmlformats.org/drawingml/2006/main" noGrp="1"/>
          </p:cNvSpPr>
          <p:nvPr/>
        </p:nvSpPr>
        <p:spPr>
          <a:xfrm xmlns:a="http://schemas.openxmlformats.org/drawingml/2006/main">
            <a:off x="1257300" y="4648200"/>
            <a:ext cx="85725" cy="85725"/>
          </a:xfrm>
          <a:prstGeom xmlns:a="http://schemas.openxmlformats.org/drawingml/2006/main" prst="ellipse">
            <a:avLst/>
          </a:prstGeom>
          <a:solidFill xmlns:a="http://schemas.openxmlformats.org/drawingml/2006/main">
            <a:srgbClr val="A78BFA"/>
          </a:solidFill>
          <a:ln xmlns:a="http://schemas.openxmlformats.org/drawingml/2006/main" w="0">
            <a:solidFill>
              <a:srgbClr val="A78BFA"/>
            </a:solidFill>
            <a:prstDash val="solid"/>
          </a:ln>
        </p:spPr>
      </p:sp>
      <p:sp>
        <p:nvSpPr>
          <p:cNvPr id="17" name="">
            <a:extLst xmlns:a="http://schemas.openxmlformats.org/drawingml/2006/main">
              <a:ext uri="{FF2B5EF4-FFF2-40B4-BE49-F238E27FC236}">
                <a16:creationId xmlns:a16="http://schemas.microsoft.com/office/drawing/2014/main" id="{362B74ED-C39A-420E-96FF-6DB4C33C5C7E}"/>
              </a:ext>
            </a:extLst>
          </p:cNvPr>
          <p:cNvSpPr>
            <a:spLocks xmlns:a="http://schemas.openxmlformats.org/drawingml/2006/main" noGrp="1"/>
          </p:cNvSpPr>
          <p:nvPr/>
        </p:nvSpPr>
        <p:spPr>
          <a:xfrm xmlns:a="http://schemas.openxmlformats.org/drawingml/2006/main">
            <a:off x="1466850" y="45720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Topbar: Provider-Status und lokaler Fallback erklären.</a:t>
            </a:r>
          </a:p>
        </p:txBody>
      </p:sp>
    </p:spTree>
    <p:extLst>
      <p:ext uri="{BB962C8B-B14F-4D97-AF65-F5344CB8AC3E}">
        <p14:creationId xmlns:p14="http://schemas.microsoft.com/office/powerpoint/2010/main" val="740685630"/>
      </p:ext>
    </p:extLst>
  </p:cSld>
</p:sld>
</file>

<file path=ppt/slides/slide8.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197D0D-C5E7-455D-91B3-32F246003A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F11E52-B4A8-42C3-AE2C-D897D8E53749}"/>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4394E2F0-8823-4FD0-B9BE-225FA30EFA1E}"/>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AA9C1FF4-7E46-43F5-AACB-3664E47096D6}"/>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08 / 22</a:t>
            </a:r>
          </a:p>
        </p:txBody>
      </p:sp>
      <p:sp>
        <p:nvSpPr>
          <p:cNvPr id="5" name="">
            <a:extLst xmlns:a="http://schemas.openxmlformats.org/drawingml/2006/main">
              <a:ext uri="{FF2B5EF4-FFF2-40B4-BE49-F238E27FC236}">
                <a16:creationId xmlns:a16="http://schemas.microsoft.com/office/drawing/2014/main" id="{2838A2B4-5FDF-48BD-8088-475886A09DC5}"/>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D359415E-B62C-4702-807A-4807EAD5F3FE}"/>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GESAMTBILD</a:t>
            </a:r>
          </a:p>
        </p:txBody>
      </p:sp>
      <p:sp>
        <p:nvSpPr>
          <p:cNvPr id="7" name="">
            <a:extLst xmlns:a="http://schemas.openxmlformats.org/drawingml/2006/main">
              <a:ext uri="{FF2B5EF4-FFF2-40B4-BE49-F238E27FC236}">
                <a16:creationId xmlns:a16="http://schemas.microsoft.com/office/drawing/2014/main" id="{B5DFEB2B-E531-49D5-9BE0-B4FB57618CD8}"/>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Die Architektur ist eine Evidence-Pipeline</a:t>
            </a:r>
          </a:p>
        </p:txBody>
      </p:sp>
      <p:sp>
        <p:nvSpPr>
          <p:cNvPr id="8" name="">
            <a:extLst xmlns:a="http://schemas.openxmlformats.org/drawingml/2006/main">
              <a:ext uri="{FF2B5EF4-FFF2-40B4-BE49-F238E27FC236}">
                <a16:creationId xmlns:a16="http://schemas.microsoft.com/office/drawing/2014/main" id="{16E04247-ED53-4186-BE6D-A199E913548D}"/>
              </a:ext>
            </a:extLst>
          </p:cNvPr>
          <p:cNvSpPr>
            <a:spLocks xmlns:a="http://schemas.openxmlformats.org/drawingml/2006/main" noGrp="1"/>
          </p:cNvSpPr>
          <p:nvPr/>
        </p:nvSpPr>
        <p:spPr>
          <a:xfrm xmlns:a="http://schemas.openxmlformats.org/drawingml/2006/main">
            <a:off x="838200" y="2838450"/>
            <a:ext cx="1381125" cy="819150"/>
          </a:xfrm>
          <a:prstGeom xmlns:a="http://schemas.openxmlformats.org/drawingml/2006/main" prst="roundRect">
            <a:avLst>
              <a:gd name="adj" fmla="val 18605"/>
            </a:avLst>
          </a:prstGeom>
          <a:solidFill xmlns:a="http://schemas.openxmlformats.org/drawingml/2006/main">
            <a:srgbClr val="36E0F2">
              <a:alpha val="11000"/>
            </a:srgbClr>
          </a:solidFill>
          <a:ln xmlns:a="http://schemas.openxmlformats.org/drawingml/2006/main" w="11430">
            <a:solidFill>
              <a:srgbClr val="36E0F2">
                <a:alpha val="58000"/>
              </a:srgbClr>
            </a:solidFill>
            <a:prstDash val="solid"/>
          </a:ln>
        </p:spPr>
      </p:sp>
      <p:sp>
        <p:nvSpPr>
          <p:cNvPr id="9" name="">
            <a:extLst xmlns:a="http://schemas.openxmlformats.org/drawingml/2006/main">
              <a:ext uri="{FF2B5EF4-FFF2-40B4-BE49-F238E27FC236}">
                <a16:creationId xmlns:a16="http://schemas.microsoft.com/office/drawing/2014/main" id="{2019B2A3-7900-4CE7-AC67-70BF827CE2A5}"/>
              </a:ext>
            </a:extLst>
          </p:cNvPr>
          <p:cNvSpPr>
            <a:spLocks xmlns:a="http://schemas.openxmlformats.org/drawingml/2006/main" noGrp="1"/>
          </p:cNvSpPr>
          <p:nvPr/>
        </p:nvSpPr>
        <p:spPr>
          <a:xfrm xmlns:a="http://schemas.openxmlformats.org/drawingml/2006/main">
            <a:off x="933450"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React</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Workbench</a:t>
            </a:r>
          </a:p>
        </p:txBody>
      </p:sp>
      <p:sp>
        <p:nvSpPr>
          <p:cNvPr id="10" name="">
            <a:extLst xmlns:a="http://schemas.openxmlformats.org/drawingml/2006/main">
              <a:ext uri="{FF2B5EF4-FFF2-40B4-BE49-F238E27FC236}">
                <a16:creationId xmlns:a16="http://schemas.microsoft.com/office/drawing/2014/main" id="{C9FD9911-8D27-43E6-B8CB-608E520890CB}"/>
              </a:ext>
            </a:extLst>
          </p:cNvPr>
          <p:cNvSpPr>
            <a:spLocks xmlns:a="http://schemas.openxmlformats.org/drawingml/2006/main" noGrp="1"/>
          </p:cNvSpPr>
          <p:nvPr/>
        </p:nvSpPr>
        <p:spPr>
          <a:xfrm xmlns:a="http://schemas.openxmlformats.org/drawingml/2006/main">
            <a:off x="2657475" y="2838450"/>
            <a:ext cx="1381125" cy="819150"/>
          </a:xfrm>
          <a:prstGeom xmlns:a="http://schemas.openxmlformats.org/drawingml/2006/main" prst="roundRect">
            <a:avLst>
              <a:gd name="adj" fmla="val 18605"/>
            </a:avLst>
          </a:prstGeom>
          <a:solidFill xmlns:a="http://schemas.openxmlformats.org/drawingml/2006/main">
            <a:srgbClr val="6D7BFF">
              <a:alpha val="11000"/>
            </a:srgbClr>
          </a:solidFill>
          <a:ln xmlns:a="http://schemas.openxmlformats.org/drawingml/2006/main" w="11430">
            <a:solidFill>
              <a:srgbClr val="6D7BFF">
                <a:alpha val="58000"/>
              </a:srgbClr>
            </a:solidFill>
            <a:prstDash val="solid"/>
          </a:ln>
        </p:spPr>
      </p:sp>
      <p:sp>
        <p:nvSpPr>
          <p:cNvPr id="11" name="">
            <a:extLst xmlns:a="http://schemas.openxmlformats.org/drawingml/2006/main">
              <a:ext uri="{FF2B5EF4-FFF2-40B4-BE49-F238E27FC236}">
                <a16:creationId xmlns:a16="http://schemas.microsoft.com/office/drawing/2014/main" id="{93BD2579-7683-4EB1-8FC1-87EF3BE24A2C}"/>
              </a:ext>
            </a:extLst>
          </p:cNvPr>
          <p:cNvSpPr>
            <a:spLocks xmlns:a="http://schemas.openxmlformats.org/drawingml/2006/main" noGrp="1"/>
          </p:cNvSpPr>
          <p:nvPr/>
        </p:nvSpPr>
        <p:spPr>
          <a:xfrm xmlns:a="http://schemas.openxmlformats.org/drawingml/2006/main">
            <a:off x="2752725"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Express</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API</a:t>
            </a:r>
          </a:p>
        </p:txBody>
      </p:sp>
      <p:sp>
        <p:nvSpPr>
          <p:cNvPr id="12" name="">
            <a:extLst xmlns:a="http://schemas.openxmlformats.org/drawingml/2006/main">
              <a:ext uri="{FF2B5EF4-FFF2-40B4-BE49-F238E27FC236}">
                <a16:creationId xmlns:a16="http://schemas.microsoft.com/office/drawing/2014/main" id="{FAB95C15-A094-46EF-B89C-53523D94401D}"/>
              </a:ext>
            </a:extLst>
          </p:cNvPr>
          <p:cNvSpPr>
            <a:spLocks xmlns:a="http://schemas.openxmlformats.org/drawingml/2006/main" noGrp="1"/>
          </p:cNvSpPr>
          <p:nvPr/>
        </p:nvSpPr>
        <p:spPr>
          <a:xfrm xmlns:a="http://schemas.openxmlformats.org/drawingml/2006/main">
            <a:off x="4476750" y="2838450"/>
            <a:ext cx="1381125" cy="819150"/>
          </a:xfrm>
          <a:prstGeom xmlns:a="http://schemas.openxmlformats.org/drawingml/2006/main" prst="roundRect">
            <a:avLst>
              <a:gd name="adj" fmla="val 18605"/>
            </a:avLst>
          </a:prstGeom>
          <a:solidFill xmlns:a="http://schemas.openxmlformats.org/drawingml/2006/main">
            <a:srgbClr val="34D399">
              <a:alpha val="11000"/>
            </a:srgbClr>
          </a:solidFill>
          <a:ln xmlns:a="http://schemas.openxmlformats.org/drawingml/2006/main" w="11430">
            <a:solidFill>
              <a:srgbClr val="34D399">
                <a:alpha val="58000"/>
              </a:srgbClr>
            </a:solidFill>
            <a:prstDash val="solid"/>
          </a:ln>
        </p:spPr>
      </p:sp>
      <p:sp>
        <p:nvSpPr>
          <p:cNvPr id="13" name="">
            <a:extLst xmlns:a="http://schemas.openxmlformats.org/drawingml/2006/main">
              <a:ext uri="{FF2B5EF4-FFF2-40B4-BE49-F238E27FC236}">
                <a16:creationId xmlns:a16="http://schemas.microsoft.com/office/drawing/2014/main" id="{B9122826-EE5D-46E6-ACD8-202F1D2351CD}"/>
              </a:ext>
            </a:extLst>
          </p:cNvPr>
          <p:cNvSpPr>
            <a:spLocks xmlns:a="http://schemas.openxmlformats.org/drawingml/2006/main" noGrp="1"/>
          </p:cNvSpPr>
          <p:nvPr/>
        </p:nvSpPr>
        <p:spPr>
          <a:xfrm xmlns:a="http://schemas.openxmlformats.org/drawingml/2006/main">
            <a:off x="4572000"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Canonical</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Source Model</a:t>
            </a:r>
          </a:p>
        </p:txBody>
      </p:sp>
      <p:sp>
        <p:nvSpPr>
          <p:cNvPr id="14" name="">
            <a:extLst xmlns:a="http://schemas.openxmlformats.org/drawingml/2006/main">
              <a:ext uri="{FF2B5EF4-FFF2-40B4-BE49-F238E27FC236}">
                <a16:creationId xmlns:a16="http://schemas.microsoft.com/office/drawing/2014/main" id="{4377F59B-7C24-4593-AE5C-04E6250B0FE9}"/>
              </a:ext>
            </a:extLst>
          </p:cNvPr>
          <p:cNvSpPr>
            <a:spLocks xmlns:a="http://schemas.openxmlformats.org/drawingml/2006/main" noGrp="1"/>
          </p:cNvSpPr>
          <p:nvPr/>
        </p:nvSpPr>
        <p:spPr>
          <a:xfrm xmlns:a="http://schemas.openxmlformats.org/drawingml/2006/main">
            <a:off x="6296025" y="2838450"/>
            <a:ext cx="1381125" cy="819150"/>
          </a:xfrm>
          <a:prstGeom xmlns:a="http://schemas.openxmlformats.org/drawingml/2006/main" prst="roundRect">
            <a:avLst>
              <a:gd name="adj" fmla="val 18605"/>
            </a:avLst>
          </a:prstGeom>
          <a:solidFill xmlns:a="http://schemas.openxmlformats.org/drawingml/2006/main">
            <a:srgbClr val="FBBF24">
              <a:alpha val="11000"/>
            </a:srgbClr>
          </a:solidFill>
          <a:ln xmlns:a="http://schemas.openxmlformats.org/drawingml/2006/main" w="11430">
            <a:solidFill>
              <a:srgbClr val="FBBF24">
                <a:alpha val="58000"/>
              </a:srgbClr>
            </a:solidFill>
            <a:prstDash val="solid"/>
          </a:ln>
        </p:spPr>
      </p:sp>
      <p:sp>
        <p:nvSpPr>
          <p:cNvPr id="15" name="">
            <a:extLst xmlns:a="http://schemas.openxmlformats.org/drawingml/2006/main">
              <a:ext uri="{FF2B5EF4-FFF2-40B4-BE49-F238E27FC236}">
                <a16:creationId xmlns:a16="http://schemas.microsoft.com/office/drawing/2014/main" id="{B5DFD369-0A8C-4AB1-9809-7F9D6FFC0134}"/>
              </a:ext>
            </a:extLst>
          </p:cNvPr>
          <p:cNvSpPr>
            <a:spLocks xmlns:a="http://schemas.openxmlformats.org/drawingml/2006/main" noGrp="1"/>
          </p:cNvSpPr>
          <p:nvPr/>
        </p:nvSpPr>
        <p:spPr>
          <a:xfrm xmlns:a="http://schemas.openxmlformats.org/drawingml/2006/main">
            <a:off x="6391275"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Retrieval</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Run</a:t>
            </a:r>
          </a:p>
        </p:txBody>
      </p:sp>
      <p:sp>
        <p:nvSpPr>
          <p:cNvPr id="16" name="">
            <a:extLst xmlns:a="http://schemas.openxmlformats.org/drawingml/2006/main">
              <a:ext uri="{FF2B5EF4-FFF2-40B4-BE49-F238E27FC236}">
                <a16:creationId xmlns:a16="http://schemas.microsoft.com/office/drawing/2014/main" id="{EFEE31BB-6EBC-409E-B7C7-E5B596E74E50}"/>
              </a:ext>
            </a:extLst>
          </p:cNvPr>
          <p:cNvSpPr>
            <a:spLocks xmlns:a="http://schemas.openxmlformats.org/drawingml/2006/main" noGrp="1"/>
          </p:cNvSpPr>
          <p:nvPr/>
        </p:nvSpPr>
        <p:spPr>
          <a:xfrm xmlns:a="http://schemas.openxmlformats.org/drawingml/2006/main">
            <a:off x="8115300" y="2838450"/>
            <a:ext cx="1381125" cy="819150"/>
          </a:xfrm>
          <a:prstGeom xmlns:a="http://schemas.openxmlformats.org/drawingml/2006/main" prst="roundRect">
            <a:avLst>
              <a:gd name="adj" fmla="val 18605"/>
            </a:avLst>
          </a:prstGeom>
          <a:solidFill xmlns:a="http://schemas.openxmlformats.org/drawingml/2006/main">
            <a:srgbClr val="A78BFA">
              <a:alpha val="11000"/>
            </a:srgbClr>
          </a:solidFill>
          <a:ln xmlns:a="http://schemas.openxmlformats.org/drawingml/2006/main" w="11430">
            <a:solidFill>
              <a:srgbClr val="A78BFA">
                <a:alpha val="58000"/>
              </a:srgbClr>
            </a:solidFill>
            <a:prstDash val="solid"/>
          </a:ln>
        </p:spPr>
      </p:sp>
      <p:sp>
        <p:nvSpPr>
          <p:cNvPr id="17" name="">
            <a:extLst xmlns:a="http://schemas.openxmlformats.org/drawingml/2006/main">
              <a:ext uri="{FF2B5EF4-FFF2-40B4-BE49-F238E27FC236}">
                <a16:creationId xmlns:a16="http://schemas.microsoft.com/office/drawing/2014/main" id="{4C395CCA-2795-44C4-B653-8F62D7B7BE22}"/>
              </a:ext>
            </a:extLst>
          </p:cNvPr>
          <p:cNvSpPr>
            <a:spLocks xmlns:a="http://schemas.openxmlformats.org/drawingml/2006/main" noGrp="1"/>
          </p:cNvSpPr>
          <p:nvPr/>
        </p:nvSpPr>
        <p:spPr>
          <a:xfrm xmlns:a="http://schemas.openxmlformats.org/drawingml/2006/main">
            <a:off x="8210550"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Evidence</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Pack</a:t>
            </a:r>
          </a:p>
        </p:txBody>
      </p:sp>
      <p:sp>
        <p:nvSpPr>
          <p:cNvPr id="18" name="">
            <a:extLst xmlns:a="http://schemas.openxmlformats.org/drawingml/2006/main">
              <a:ext uri="{FF2B5EF4-FFF2-40B4-BE49-F238E27FC236}">
                <a16:creationId xmlns:a16="http://schemas.microsoft.com/office/drawing/2014/main" id="{17B854BA-7C5B-4CC8-84B5-9A4D41B6F48E}"/>
              </a:ext>
            </a:extLst>
          </p:cNvPr>
          <p:cNvSpPr>
            <a:spLocks xmlns:a="http://schemas.openxmlformats.org/drawingml/2006/main" noGrp="1"/>
          </p:cNvSpPr>
          <p:nvPr/>
        </p:nvSpPr>
        <p:spPr>
          <a:xfrm xmlns:a="http://schemas.openxmlformats.org/drawingml/2006/main">
            <a:off x="9934575" y="2838450"/>
            <a:ext cx="1381125" cy="819150"/>
          </a:xfrm>
          <a:prstGeom xmlns:a="http://schemas.openxmlformats.org/drawingml/2006/main" prst="roundRect">
            <a:avLst>
              <a:gd name="adj" fmla="val 18605"/>
            </a:avLst>
          </a:prstGeom>
          <a:solidFill xmlns:a="http://schemas.openxmlformats.org/drawingml/2006/main">
            <a:srgbClr val="36E0F2">
              <a:alpha val="11000"/>
            </a:srgbClr>
          </a:solidFill>
          <a:ln xmlns:a="http://schemas.openxmlformats.org/drawingml/2006/main" w="11430">
            <a:solidFill>
              <a:srgbClr val="36E0F2">
                <a:alpha val="58000"/>
              </a:srgbClr>
            </a:solidFill>
            <a:prstDash val="solid"/>
          </a:ln>
        </p:spPr>
      </p:sp>
      <p:sp>
        <p:nvSpPr>
          <p:cNvPr id="19" name="">
            <a:extLst xmlns:a="http://schemas.openxmlformats.org/drawingml/2006/main">
              <a:ext uri="{FF2B5EF4-FFF2-40B4-BE49-F238E27FC236}">
                <a16:creationId xmlns:a16="http://schemas.microsoft.com/office/drawing/2014/main" id="{F81E8692-D151-4DB5-9B8D-7445CF15906B}"/>
              </a:ext>
            </a:extLst>
          </p:cNvPr>
          <p:cNvSpPr>
            <a:spLocks xmlns:a="http://schemas.openxmlformats.org/drawingml/2006/main" noGrp="1"/>
          </p:cNvSpPr>
          <p:nvPr/>
        </p:nvSpPr>
        <p:spPr>
          <a:xfrm xmlns:a="http://schemas.openxmlformats.org/drawingml/2006/main">
            <a:off x="10029825" y="30099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Verified</a:t>
            </a:r>
          </a:p>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Outputs</a:t>
            </a:r>
          </a:p>
        </p:txBody>
      </p:sp>
      <p:cxnSp>
        <p:nvCxnSpPr>
          <p:cNvPr id="50" name=""/>
          <p:cNvCxnSpPr>
            <a:stCxn xmlns:a="http://schemas.openxmlformats.org/drawingml/2006/main" id="8" idx="3"/>
            <a:endCxn xmlns:a="http://schemas.openxmlformats.org/drawingml/2006/main" id="10" idx="1"/>
          </p:cNvCxnSpPr>
          <p:nvPr/>
        </p:nvCxnSpPr>
        <p:spPr>
          <a:xfrm xmlns:a="http://schemas.openxmlformats.org/drawingml/2006/main">
            <a:off x="2219325" y="3248025"/>
            <a:ext cx="43815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cxnSp>
        <p:nvCxnSpPr>
          <p:cNvPr id="51" name=""/>
          <p:cNvCxnSpPr>
            <a:stCxn xmlns:a="http://schemas.openxmlformats.org/drawingml/2006/main" id="10" idx="3"/>
            <a:endCxn xmlns:a="http://schemas.openxmlformats.org/drawingml/2006/main" id="12" idx="1"/>
          </p:cNvCxnSpPr>
          <p:nvPr/>
        </p:nvCxnSpPr>
        <p:spPr>
          <a:xfrm xmlns:a="http://schemas.openxmlformats.org/drawingml/2006/main">
            <a:off x="4038600" y="3248025"/>
            <a:ext cx="43815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cxnSp>
        <p:nvCxnSpPr>
          <p:cNvPr id="52" name=""/>
          <p:cNvCxnSpPr>
            <a:stCxn xmlns:a="http://schemas.openxmlformats.org/drawingml/2006/main" id="12" idx="3"/>
            <a:endCxn xmlns:a="http://schemas.openxmlformats.org/drawingml/2006/main" id="14" idx="1"/>
          </p:cNvCxnSpPr>
          <p:nvPr/>
        </p:nvCxnSpPr>
        <p:spPr>
          <a:xfrm xmlns:a="http://schemas.openxmlformats.org/drawingml/2006/main">
            <a:off x="5857875" y="3248025"/>
            <a:ext cx="43815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cxnSp>
        <p:nvCxnSpPr>
          <p:cNvPr id="53" name=""/>
          <p:cNvCxnSpPr>
            <a:stCxn xmlns:a="http://schemas.openxmlformats.org/drawingml/2006/main" id="14" idx="3"/>
            <a:endCxn xmlns:a="http://schemas.openxmlformats.org/drawingml/2006/main" id="16" idx="1"/>
          </p:cNvCxnSpPr>
          <p:nvPr/>
        </p:nvCxnSpPr>
        <p:spPr>
          <a:xfrm xmlns:a="http://schemas.openxmlformats.org/drawingml/2006/main">
            <a:off x="7677150" y="3248025"/>
            <a:ext cx="43815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cxnSp>
        <p:nvCxnSpPr>
          <p:cNvPr id="54" name=""/>
          <p:cNvCxnSpPr>
            <a:stCxn xmlns:a="http://schemas.openxmlformats.org/drawingml/2006/main" id="16" idx="3"/>
            <a:endCxn xmlns:a="http://schemas.openxmlformats.org/drawingml/2006/main" id="18" idx="1"/>
          </p:cNvCxnSpPr>
          <p:nvPr/>
        </p:nvCxnSpPr>
        <p:spPr>
          <a:xfrm xmlns:a="http://schemas.openxmlformats.org/drawingml/2006/main">
            <a:off x="9496425" y="3248025"/>
            <a:ext cx="43815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5" name="">
            <a:extLst xmlns:a="http://schemas.openxmlformats.org/drawingml/2006/main">
              <a:ext uri="{FF2B5EF4-FFF2-40B4-BE49-F238E27FC236}">
                <a16:creationId xmlns:a16="http://schemas.microsoft.com/office/drawing/2014/main" id="{FE59965E-CE29-4D97-BDD9-205E54E376C4}"/>
              </a:ext>
            </a:extLst>
          </p:cNvPr>
          <p:cNvSpPr>
            <a:spLocks xmlns:a="http://schemas.openxmlformats.org/drawingml/2006/main" noGrp="1"/>
          </p:cNvSpPr>
          <p:nvPr/>
        </p:nvSpPr>
        <p:spPr>
          <a:xfrm xmlns:a="http://schemas.openxmlformats.org/drawingml/2006/main">
            <a:off x="2095500" y="4514850"/>
            <a:ext cx="2428875" cy="361950"/>
          </a:xfrm>
          <a:prstGeom xmlns:a="http://schemas.openxmlformats.org/drawingml/2006/main" prst="roundRect">
            <a:avLst>
              <a:gd name="adj" fmla="val 47368"/>
            </a:avLst>
          </a:prstGeom>
          <a:solidFill xmlns:a="http://schemas.openxmlformats.org/drawingml/2006/main">
            <a:srgbClr val="34D399">
              <a:alpha val="14000"/>
            </a:srgbClr>
          </a:solidFill>
          <a:ln xmlns:a="http://schemas.openxmlformats.org/drawingml/2006/main" w="9525">
            <a:solidFill>
              <a:srgbClr val="34D399">
                <a:alpha val="60000"/>
              </a:srgbClr>
            </a:solidFill>
            <a:prstDash val="solid"/>
          </a:ln>
        </p:spPr>
      </p:sp>
      <p:sp>
        <p:nvSpPr>
          <p:cNvPr id="26" name="">
            <a:extLst xmlns:a="http://schemas.openxmlformats.org/drawingml/2006/main">
              <a:ext uri="{FF2B5EF4-FFF2-40B4-BE49-F238E27FC236}">
                <a16:creationId xmlns:a16="http://schemas.microsoft.com/office/drawing/2014/main" id="{28809DFB-4C51-4DF6-A364-09ED24DFFF1E}"/>
              </a:ext>
            </a:extLst>
          </p:cNvPr>
          <p:cNvSpPr>
            <a:spLocks xmlns:a="http://schemas.openxmlformats.org/drawingml/2006/main" noGrp="1"/>
          </p:cNvSpPr>
          <p:nvPr/>
        </p:nvSpPr>
        <p:spPr>
          <a:xfrm xmlns:a="http://schemas.openxmlformats.org/drawingml/2006/main">
            <a:off x="2228850" y="4581525"/>
            <a:ext cx="2162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34D399"/>
                </a:solidFill>
                <a:latin typeface="Aptos"/>
                <a:ea typeface="Aptos"/>
                <a:cs typeface="Aptos"/>
              </a:defRPr>
            </a:pPr>
            <a:r>
              <a:rPr sz="1050" b="1">
                <a:solidFill>
                  <a:srgbClr val="34D399"/>
                </a:solidFill>
                <a:latin typeface="Aptos"/>
                <a:ea typeface="Aptos"/>
                <a:cs typeface="Aptos"/>
              </a:rPr>
              <a:t>Sources, Blocks, Chunks, Embeddings</a:t>
            </a:r>
          </a:p>
        </p:txBody>
      </p:sp>
      <p:sp>
        <p:nvSpPr>
          <p:cNvPr id="27" name="">
            <a:extLst xmlns:a="http://schemas.openxmlformats.org/drawingml/2006/main">
              <a:ext uri="{FF2B5EF4-FFF2-40B4-BE49-F238E27FC236}">
                <a16:creationId xmlns:a16="http://schemas.microsoft.com/office/drawing/2014/main" id="{9B5D0CB6-4501-4305-9880-1CEFBC235A7E}"/>
              </a:ext>
            </a:extLst>
          </p:cNvPr>
          <p:cNvSpPr>
            <a:spLocks xmlns:a="http://schemas.openxmlformats.org/drawingml/2006/main" noGrp="1"/>
          </p:cNvSpPr>
          <p:nvPr/>
        </p:nvSpPr>
        <p:spPr>
          <a:xfrm xmlns:a="http://schemas.openxmlformats.org/drawingml/2006/main">
            <a:off x="4810125" y="4514850"/>
            <a:ext cx="2428875" cy="361950"/>
          </a:xfrm>
          <a:prstGeom xmlns:a="http://schemas.openxmlformats.org/drawingml/2006/main" prst="roundRect">
            <a:avLst>
              <a:gd name="adj" fmla="val 47368"/>
            </a:avLst>
          </a:prstGeom>
          <a:solidFill xmlns:a="http://schemas.openxmlformats.org/drawingml/2006/main">
            <a:srgbClr val="FBBF24">
              <a:alpha val="14000"/>
            </a:srgbClr>
          </a:solidFill>
          <a:ln xmlns:a="http://schemas.openxmlformats.org/drawingml/2006/main" w="9525">
            <a:solidFill>
              <a:srgbClr val="FBBF24">
                <a:alpha val="60000"/>
              </a:srgbClr>
            </a:solidFill>
            <a:prstDash val="solid"/>
          </a:ln>
        </p:spPr>
      </p:sp>
      <p:sp>
        <p:nvSpPr>
          <p:cNvPr id="28" name="">
            <a:extLst xmlns:a="http://schemas.openxmlformats.org/drawingml/2006/main">
              <a:ext uri="{FF2B5EF4-FFF2-40B4-BE49-F238E27FC236}">
                <a16:creationId xmlns:a16="http://schemas.microsoft.com/office/drawing/2014/main" id="{D5BFB173-DA20-4E76-993D-8A16DAB7BAA8}"/>
              </a:ext>
            </a:extLst>
          </p:cNvPr>
          <p:cNvSpPr>
            <a:spLocks xmlns:a="http://schemas.openxmlformats.org/drawingml/2006/main" noGrp="1"/>
          </p:cNvSpPr>
          <p:nvPr/>
        </p:nvSpPr>
        <p:spPr>
          <a:xfrm xmlns:a="http://schemas.openxmlformats.org/drawingml/2006/main">
            <a:off x="4943475" y="4581525"/>
            <a:ext cx="2162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FBBF24"/>
                </a:solidFill>
                <a:latin typeface="Aptos"/>
                <a:ea typeface="Aptos"/>
                <a:cs typeface="Aptos"/>
              </a:defRPr>
            </a:pPr>
            <a:r>
              <a:rPr sz="1050" b="1">
                <a:solidFill>
                  <a:srgbClr val="FBBF24"/>
                </a:solidFill>
                <a:latin typeface="Aptos"/>
                <a:ea typeface="Aptos"/>
                <a:cs typeface="Aptos"/>
              </a:rPr>
              <a:t>Knowledge Objects, Retrieval Runs</a:t>
            </a:r>
          </a:p>
        </p:txBody>
      </p:sp>
      <p:sp>
        <p:nvSpPr>
          <p:cNvPr id="29" name="">
            <a:extLst xmlns:a="http://schemas.openxmlformats.org/drawingml/2006/main">
              <a:ext uri="{FF2B5EF4-FFF2-40B4-BE49-F238E27FC236}">
                <a16:creationId xmlns:a16="http://schemas.microsoft.com/office/drawing/2014/main" id="{0B3276A8-3BCA-4FEE-B759-E2BDF6327B60}"/>
              </a:ext>
            </a:extLst>
          </p:cNvPr>
          <p:cNvSpPr>
            <a:spLocks xmlns:a="http://schemas.openxmlformats.org/drawingml/2006/main" noGrp="1"/>
          </p:cNvSpPr>
          <p:nvPr/>
        </p:nvSpPr>
        <p:spPr>
          <a:xfrm xmlns:a="http://schemas.openxmlformats.org/drawingml/2006/main">
            <a:off x="7524750" y="4514850"/>
            <a:ext cx="2428875" cy="361950"/>
          </a:xfrm>
          <a:prstGeom xmlns:a="http://schemas.openxmlformats.org/drawingml/2006/main" prst="roundRect">
            <a:avLst>
              <a:gd name="adj" fmla="val 47368"/>
            </a:avLst>
          </a:prstGeom>
          <a:solidFill xmlns:a="http://schemas.openxmlformats.org/drawingml/2006/main">
            <a:srgbClr val="A78BFA">
              <a:alpha val="14000"/>
            </a:srgbClr>
          </a:solidFill>
          <a:ln xmlns:a="http://schemas.openxmlformats.org/drawingml/2006/main" w="9525">
            <a:solidFill>
              <a:srgbClr val="A78BFA">
                <a:alpha val="60000"/>
              </a:srgbClr>
            </a:solidFill>
            <a:prstDash val="solid"/>
          </a:ln>
        </p:spPr>
      </p:sp>
      <p:sp>
        <p:nvSpPr>
          <p:cNvPr id="30" name="">
            <a:extLst xmlns:a="http://schemas.openxmlformats.org/drawingml/2006/main">
              <a:ext uri="{FF2B5EF4-FFF2-40B4-BE49-F238E27FC236}">
                <a16:creationId xmlns:a16="http://schemas.microsoft.com/office/drawing/2014/main" id="{AC11ADA7-D5A1-4098-8F50-DBE6414105C7}"/>
              </a:ext>
            </a:extLst>
          </p:cNvPr>
          <p:cNvSpPr>
            <a:spLocks xmlns:a="http://schemas.openxmlformats.org/drawingml/2006/main" noGrp="1"/>
          </p:cNvSpPr>
          <p:nvPr/>
        </p:nvSpPr>
        <p:spPr>
          <a:xfrm xmlns:a="http://schemas.openxmlformats.org/drawingml/2006/main">
            <a:off x="7658100" y="4581525"/>
            <a:ext cx="2162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A78BFA"/>
                </a:solidFill>
                <a:latin typeface="Aptos"/>
                <a:ea typeface="Aptos"/>
                <a:cs typeface="Aptos"/>
              </a:defRPr>
            </a:pPr>
            <a:r>
              <a:rPr sz="1050" b="1">
                <a:solidFill>
                  <a:srgbClr val="A78BFA"/>
                </a:solidFill>
                <a:latin typeface="Aptos"/>
                <a:ea typeface="Aptos"/>
                <a:cs typeface="Aptos"/>
              </a:rPr>
              <a:t>Citation Ledgers, Artifact Jobs, Model Runs</a:t>
            </a:r>
          </a:p>
        </p:txBody>
      </p:sp>
    </p:spTree>
    <p:extLst>
      <p:ext uri="{BB962C8B-B14F-4D97-AF65-F5344CB8AC3E}">
        <p14:creationId xmlns:p14="http://schemas.microsoft.com/office/powerpoint/2010/main" val="1973052539"/>
      </p:ext>
    </p:extLst>
  </p:cSld>
</p:sld>
</file>

<file path=ppt/slides/slide9.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68EC29-69F6-4AA3-884A-BD698582DD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0FD8E2-4150-4143-9D6D-3960140D387C}"/>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38488E38-D294-4E8B-A57A-88FB416B2654}"/>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94A539D6-D4A2-4EF0-8D39-E01D74B75C60}"/>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09 / 22</a:t>
            </a:r>
          </a:p>
        </p:txBody>
      </p:sp>
      <p:sp>
        <p:nvSpPr>
          <p:cNvPr id="5" name="">
            <a:extLst xmlns:a="http://schemas.openxmlformats.org/drawingml/2006/main">
              <a:ext uri="{FF2B5EF4-FFF2-40B4-BE49-F238E27FC236}">
                <a16:creationId xmlns:a16="http://schemas.microsoft.com/office/drawing/2014/main" id="{D0124CCB-11FD-496D-803A-C9EEF35F00FF}"/>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18A0F645-C098-41E7-B7B0-2405ABC6E586}"/>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SOURCE PIPELINE</a:t>
            </a:r>
          </a:p>
        </p:txBody>
      </p:sp>
      <p:sp>
        <p:nvSpPr>
          <p:cNvPr id="7" name="">
            <a:extLst xmlns:a="http://schemas.openxmlformats.org/drawingml/2006/main">
              <a:ext uri="{FF2B5EF4-FFF2-40B4-BE49-F238E27FC236}">
                <a16:creationId xmlns:a16="http://schemas.microsoft.com/office/drawing/2014/main" id="{A6B9E9EB-29A5-476A-924C-ACEE0813B2FF}"/>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Ingestion macht verschiedene Quellen gleich behandelbar</a:t>
            </a:r>
          </a:p>
        </p:txBody>
      </p:sp>
      <p:sp>
        <p:nvSpPr>
          <p:cNvPr id="8" name="">
            <a:extLst xmlns:a="http://schemas.openxmlformats.org/drawingml/2006/main">
              <a:ext uri="{FF2B5EF4-FFF2-40B4-BE49-F238E27FC236}">
                <a16:creationId xmlns:a16="http://schemas.microsoft.com/office/drawing/2014/main" id="{5657A36E-9235-40D0-8067-E4125AE36D37}"/>
              </a:ext>
            </a:extLst>
          </p:cNvPr>
          <p:cNvSpPr>
            <a:spLocks xmlns:a="http://schemas.openxmlformats.org/drawingml/2006/main" noGrp="1"/>
          </p:cNvSpPr>
          <p:nvPr/>
        </p:nvSpPr>
        <p:spPr>
          <a:xfrm xmlns:a="http://schemas.openxmlformats.org/drawingml/2006/main">
            <a:off x="1028700" y="2428875"/>
            <a:ext cx="2095500" cy="361950"/>
          </a:xfrm>
          <a:prstGeom xmlns:a="http://schemas.openxmlformats.org/drawingml/2006/main" prst="roundRect">
            <a:avLst>
              <a:gd name="adj" fmla="val 47368"/>
            </a:avLst>
          </a:prstGeom>
          <a:solidFill xmlns:a="http://schemas.openxmlformats.org/drawingml/2006/main">
            <a:srgbClr val="36E0F2">
              <a:alpha val="14000"/>
            </a:srgbClr>
          </a:solidFill>
          <a:ln xmlns:a="http://schemas.openxmlformats.org/drawingml/2006/main" w="9525">
            <a:solidFill>
              <a:srgbClr val="36E0F2">
                <a:alpha val="60000"/>
              </a:srgbClr>
            </a:solidFill>
            <a:prstDash val="solid"/>
          </a:ln>
        </p:spPr>
      </p:sp>
      <p:sp>
        <p:nvSpPr>
          <p:cNvPr id="9" name="">
            <a:extLst xmlns:a="http://schemas.openxmlformats.org/drawingml/2006/main">
              <a:ext uri="{FF2B5EF4-FFF2-40B4-BE49-F238E27FC236}">
                <a16:creationId xmlns:a16="http://schemas.microsoft.com/office/drawing/2014/main" id="{91F7F6F6-ECE2-4BF5-B05F-767DFD0E1787}"/>
              </a:ext>
            </a:extLst>
          </p:cNvPr>
          <p:cNvSpPr>
            <a:spLocks xmlns:a="http://schemas.openxmlformats.org/drawingml/2006/main" noGrp="1"/>
          </p:cNvSpPr>
          <p:nvPr/>
        </p:nvSpPr>
        <p:spPr>
          <a:xfrm xmlns:a="http://schemas.openxmlformats.org/drawingml/2006/main">
            <a:off x="1162050" y="24955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36E0F2"/>
                </a:solidFill>
                <a:latin typeface="Aptos"/>
                <a:ea typeface="Aptos"/>
                <a:cs typeface="Aptos"/>
              </a:defRPr>
            </a:pPr>
            <a:r>
              <a:rPr sz="1050" b="1">
                <a:solidFill>
                  <a:srgbClr val="36E0F2"/>
                </a:solidFill>
                <a:latin typeface="Aptos"/>
                <a:ea typeface="Aptos"/>
                <a:cs typeface="Aptos"/>
              </a:rPr>
              <a:t>Markdown / Text</a:t>
            </a:r>
          </a:p>
        </p:txBody>
      </p:sp>
      <p:sp>
        <p:nvSpPr>
          <p:cNvPr id="10" name="">
            <a:extLst xmlns:a="http://schemas.openxmlformats.org/drawingml/2006/main">
              <a:ext uri="{FF2B5EF4-FFF2-40B4-BE49-F238E27FC236}">
                <a16:creationId xmlns:a16="http://schemas.microsoft.com/office/drawing/2014/main" id="{06945EAE-F58A-4F34-A7AC-12AA0B5B199B}"/>
              </a:ext>
            </a:extLst>
          </p:cNvPr>
          <p:cNvSpPr>
            <a:spLocks xmlns:a="http://schemas.openxmlformats.org/drawingml/2006/main" noGrp="1"/>
          </p:cNvSpPr>
          <p:nvPr/>
        </p:nvSpPr>
        <p:spPr>
          <a:xfrm xmlns:a="http://schemas.openxmlformats.org/drawingml/2006/main">
            <a:off x="1028700" y="2962275"/>
            <a:ext cx="2095500" cy="361950"/>
          </a:xfrm>
          <a:prstGeom xmlns:a="http://schemas.openxmlformats.org/drawingml/2006/main" prst="roundRect">
            <a:avLst>
              <a:gd name="adj" fmla="val 47368"/>
            </a:avLst>
          </a:prstGeom>
          <a:solidFill xmlns:a="http://schemas.openxmlformats.org/drawingml/2006/main">
            <a:srgbClr val="34D399">
              <a:alpha val="14000"/>
            </a:srgbClr>
          </a:solidFill>
          <a:ln xmlns:a="http://schemas.openxmlformats.org/drawingml/2006/main" w="9525">
            <a:solidFill>
              <a:srgbClr val="34D399">
                <a:alpha val="60000"/>
              </a:srgbClr>
            </a:solidFill>
            <a:prstDash val="solid"/>
          </a:ln>
        </p:spPr>
      </p:sp>
      <p:sp>
        <p:nvSpPr>
          <p:cNvPr id="11" name="">
            <a:extLst xmlns:a="http://schemas.openxmlformats.org/drawingml/2006/main">
              <a:ext uri="{FF2B5EF4-FFF2-40B4-BE49-F238E27FC236}">
                <a16:creationId xmlns:a16="http://schemas.microsoft.com/office/drawing/2014/main" id="{1B7464ED-69C5-4DA8-8CE0-1ACBC8D7FC7F}"/>
              </a:ext>
            </a:extLst>
          </p:cNvPr>
          <p:cNvSpPr>
            <a:spLocks xmlns:a="http://schemas.openxmlformats.org/drawingml/2006/main" noGrp="1"/>
          </p:cNvSpPr>
          <p:nvPr/>
        </p:nvSpPr>
        <p:spPr>
          <a:xfrm xmlns:a="http://schemas.openxmlformats.org/drawingml/2006/main">
            <a:off x="1162050" y="30289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34D399"/>
                </a:solidFill>
                <a:latin typeface="Aptos"/>
                <a:ea typeface="Aptos"/>
                <a:cs typeface="Aptos"/>
              </a:defRPr>
            </a:pPr>
            <a:r>
              <a:rPr sz="1050" b="1">
                <a:solidFill>
                  <a:srgbClr val="34D399"/>
                </a:solidFill>
                <a:latin typeface="Aptos"/>
                <a:ea typeface="Aptos"/>
                <a:cs typeface="Aptos"/>
              </a:rPr>
              <a:t>Notes</a:t>
            </a:r>
          </a:p>
        </p:txBody>
      </p:sp>
      <p:sp>
        <p:nvSpPr>
          <p:cNvPr id="12" name="">
            <a:extLst xmlns:a="http://schemas.openxmlformats.org/drawingml/2006/main">
              <a:ext uri="{FF2B5EF4-FFF2-40B4-BE49-F238E27FC236}">
                <a16:creationId xmlns:a16="http://schemas.microsoft.com/office/drawing/2014/main" id="{6B8D781F-F1C6-44A2-9793-1BE3A6DD36EE}"/>
              </a:ext>
            </a:extLst>
          </p:cNvPr>
          <p:cNvSpPr>
            <a:spLocks xmlns:a="http://schemas.openxmlformats.org/drawingml/2006/main" noGrp="1"/>
          </p:cNvSpPr>
          <p:nvPr/>
        </p:nvSpPr>
        <p:spPr>
          <a:xfrm xmlns:a="http://schemas.openxmlformats.org/drawingml/2006/main">
            <a:off x="1028700" y="3495675"/>
            <a:ext cx="2095500" cy="361950"/>
          </a:xfrm>
          <a:prstGeom xmlns:a="http://schemas.openxmlformats.org/drawingml/2006/main" prst="roundRect">
            <a:avLst>
              <a:gd name="adj" fmla="val 47368"/>
            </a:avLst>
          </a:prstGeom>
          <a:solidFill xmlns:a="http://schemas.openxmlformats.org/drawingml/2006/main">
            <a:srgbClr val="FBBF24">
              <a:alpha val="14000"/>
            </a:srgbClr>
          </a:solidFill>
          <a:ln xmlns:a="http://schemas.openxmlformats.org/drawingml/2006/main" w="9525">
            <a:solidFill>
              <a:srgbClr val="FBBF24">
                <a:alpha val="60000"/>
              </a:srgbClr>
            </a:solidFill>
            <a:prstDash val="solid"/>
          </a:ln>
        </p:spPr>
      </p:sp>
      <p:sp>
        <p:nvSpPr>
          <p:cNvPr id="13" name="">
            <a:extLst xmlns:a="http://schemas.openxmlformats.org/drawingml/2006/main">
              <a:ext uri="{FF2B5EF4-FFF2-40B4-BE49-F238E27FC236}">
                <a16:creationId xmlns:a16="http://schemas.microsoft.com/office/drawing/2014/main" id="{F625C2ED-E8C2-458C-B891-E8036DFEB0ED}"/>
              </a:ext>
            </a:extLst>
          </p:cNvPr>
          <p:cNvSpPr>
            <a:spLocks xmlns:a="http://schemas.openxmlformats.org/drawingml/2006/main" noGrp="1"/>
          </p:cNvSpPr>
          <p:nvPr/>
        </p:nvSpPr>
        <p:spPr>
          <a:xfrm xmlns:a="http://schemas.openxmlformats.org/drawingml/2006/main">
            <a:off x="1162050" y="35623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FBBF24"/>
                </a:solidFill>
                <a:latin typeface="Aptos"/>
                <a:ea typeface="Aptos"/>
                <a:cs typeface="Aptos"/>
              </a:defRPr>
            </a:pPr>
            <a:r>
              <a:rPr sz="1050" b="1">
                <a:solidFill>
                  <a:srgbClr val="FBBF24"/>
                </a:solidFill>
                <a:latin typeface="Aptos"/>
                <a:ea typeface="Aptos"/>
                <a:cs typeface="Aptos"/>
              </a:rPr>
              <a:t>URLs</a:t>
            </a:r>
          </a:p>
        </p:txBody>
      </p:sp>
      <p:sp>
        <p:nvSpPr>
          <p:cNvPr id="14" name="">
            <a:extLst xmlns:a="http://schemas.openxmlformats.org/drawingml/2006/main">
              <a:ext uri="{FF2B5EF4-FFF2-40B4-BE49-F238E27FC236}">
                <a16:creationId xmlns:a16="http://schemas.microsoft.com/office/drawing/2014/main" id="{3EE7DD71-84BE-479D-B0AE-EB1426500737}"/>
              </a:ext>
            </a:extLst>
          </p:cNvPr>
          <p:cNvSpPr>
            <a:spLocks xmlns:a="http://schemas.openxmlformats.org/drawingml/2006/main" noGrp="1"/>
          </p:cNvSpPr>
          <p:nvPr/>
        </p:nvSpPr>
        <p:spPr>
          <a:xfrm xmlns:a="http://schemas.openxmlformats.org/drawingml/2006/main">
            <a:off x="1028700" y="4029075"/>
            <a:ext cx="2095500" cy="361950"/>
          </a:xfrm>
          <a:prstGeom xmlns:a="http://schemas.openxmlformats.org/drawingml/2006/main" prst="roundRect">
            <a:avLst>
              <a:gd name="adj" fmla="val 47368"/>
            </a:avLst>
          </a:prstGeom>
          <a:solidFill xmlns:a="http://schemas.openxmlformats.org/drawingml/2006/main">
            <a:srgbClr val="A78BFA">
              <a:alpha val="14000"/>
            </a:srgbClr>
          </a:solidFill>
          <a:ln xmlns:a="http://schemas.openxmlformats.org/drawingml/2006/main" w="9525">
            <a:solidFill>
              <a:srgbClr val="A78BFA">
                <a:alpha val="60000"/>
              </a:srgbClr>
            </a:solidFill>
            <a:prstDash val="solid"/>
          </a:ln>
        </p:spPr>
      </p:sp>
      <p:sp>
        <p:nvSpPr>
          <p:cNvPr id="15" name="">
            <a:extLst xmlns:a="http://schemas.openxmlformats.org/drawingml/2006/main">
              <a:ext uri="{FF2B5EF4-FFF2-40B4-BE49-F238E27FC236}">
                <a16:creationId xmlns:a16="http://schemas.microsoft.com/office/drawing/2014/main" id="{0E03FB60-7390-415A-B269-3C04B89505F9}"/>
              </a:ext>
            </a:extLst>
          </p:cNvPr>
          <p:cNvSpPr>
            <a:spLocks xmlns:a="http://schemas.openxmlformats.org/drawingml/2006/main" noGrp="1"/>
          </p:cNvSpPr>
          <p:nvPr/>
        </p:nvSpPr>
        <p:spPr>
          <a:xfrm xmlns:a="http://schemas.openxmlformats.org/drawingml/2006/main">
            <a:off x="1162050" y="4095750"/>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1">
                <a:solidFill>
                  <a:srgbClr val="A78BFA"/>
                </a:solidFill>
                <a:latin typeface="Aptos"/>
                <a:ea typeface="Aptos"/>
                <a:cs typeface="Aptos"/>
              </a:defRPr>
            </a:pPr>
            <a:r>
              <a:rPr sz="1050" b="1">
                <a:solidFill>
                  <a:srgbClr val="A78BFA"/>
                </a:solidFill>
                <a:latin typeface="Aptos"/>
                <a:ea typeface="Aptos"/>
                <a:cs typeface="Aptos"/>
              </a:rPr>
              <a:t>PDF-Fallback</a:t>
            </a:r>
          </a:p>
        </p:txBody>
      </p:sp>
      <p:sp>
        <p:nvSpPr>
          <p:cNvPr id="16" name="">
            <a:extLst xmlns:a="http://schemas.openxmlformats.org/drawingml/2006/main">
              <a:ext uri="{FF2B5EF4-FFF2-40B4-BE49-F238E27FC236}">
                <a16:creationId xmlns:a16="http://schemas.microsoft.com/office/drawing/2014/main" id="{B8C22B1B-1981-4C28-B245-34CF4BF0A2A1}"/>
              </a:ext>
            </a:extLst>
          </p:cNvPr>
          <p:cNvSpPr>
            <a:spLocks xmlns:a="http://schemas.openxmlformats.org/drawingml/2006/main" noGrp="1"/>
          </p:cNvSpPr>
          <p:nvPr/>
        </p:nvSpPr>
        <p:spPr>
          <a:xfrm xmlns:a="http://schemas.openxmlformats.org/drawingml/2006/main">
            <a:off x="4476750" y="3143250"/>
            <a:ext cx="2095500" cy="819150"/>
          </a:xfrm>
          <a:prstGeom xmlns:a="http://schemas.openxmlformats.org/drawingml/2006/main" prst="roundRect">
            <a:avLst>
              <a:gd name="adj" fmla="val 18605"/>
            </a:avLst>
          </a:prstGeom>
          <a:solidFill xmlns:a="http://schemas.openxmlformats.org/drawingml/2006/main">
            <a:srgbClr val="6D7BFF">
              <a:alpha val="11000"/>
            </a:srgbClr>
          </a:solidFill>
          <a:ln xmlns:a="http://schemas.openxmlformats.org/drawingml/2006/main" w="11430">
            <a:solidFill>
              <a:srgbClr val="6D7BFF">
                <a:alpha val="58000"/>
              </a:srgbClr>
            </a:solidFill>
            <a:prstDash val="solid"/>
          </a:ln>
        </p:spPr>
      </p:sp>
      <p:sp>
        <p:nvSpPr>
          <p:cNvPr id="17" name="">
            <a:extLst xmlns:a="http://schemas.openxmlformats.org/drawingml/2006/main">
              <a:ext uri="{FF2B5EF4-FFF2-40B4-BE49-F238E27FC236}">
                <a16:creationId xmlns:a16="http://schemas.microsoft.com/office/drawing/2014/main" id="{5D144909-96E0-48EE-AF26-384D3FF6F4EE}"/>
              </a:ext>
            </a:extLst>
          </p:cNvPr>
          <p:cNvSpPr>
            <a:spLocks xmlns:a="http://schemas.openxmlformats.org/drawingml/2006/main" noGrp="1"/>
          </p:cNvSpPr>
          <p:nvPr/>
        </p:nvSpPr>
        <p:spPr>
          <a:xfrm xmlns:a="http://schemas.openxmlformats.org/drawingml/2006/main">
            <a:off x="4572000" y="3314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ParsedDocument</a:t>
            </a:r>
          </a:p>
        </p:txBody>
      </p:sp>
      <p:sp>
        <p:nvSpPr>
          <p:cNvPr id="18" name="">
            <a:extLst xmlns:a="http://schemas.openxmlformats.org/drawingml/2006/main">
              <a:ext uri="{FF2B5EF4-FFF2-40B4-BE49-F238E27FC236}">
                <a16:creationId xmlns:a16="http://schemas.microsoft.com/office/drawing/2014/main" id="{540CF5F6-0D57-4E25-BAD5-47B7005F7684}"/>
              </a:ext>
            </a:extLst>
          </p:cNvPr>
          <p:cNvSpPr>
            <a:spLocks xmlns:a="http://schemas.openxmlformats.org/drawingml/2006/main" noGrp="1"/>
          </p:cNvSpPr>
          <p:nvPr/>
        </p:nvSpPr>
        <p:spPr>
          <a:xfrm xmlns:a="http://schemas.openxmlformats.org/drawingml/2006/main">
            <a:off x="4572000" y="36004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normalisierte Struktur</a:t>
            </a:r>
          </a:p>
        </p:txBody>
      </p:sp>
      <p:sp>
        <p:nvSpPr>
          <p:cNvPr id="19" name="">
            <a:extLst xmlns:a="http://schemas.openxmlformats.org/drawingml/2006/main">
              <a:ext uri="{FF2B5EF4-FFF2-40B4-BE49-F238E27FC236}">
                <a16:creationId xmlns:a16="http://schemas.microsoft.com/office/drawing/2014/main" id="{F359B792-293E-407D-8F15-71BCA3890419}"/>
              </a:ext>
            </a:extLst>
          </p:cNvPr>
          <p:cNvSpPr>
            <a:spLocks xmlns:a="http://schemas.openxmlformats.org/drawingml/2006/main" noGrp="1"/>
          </p:cNvSpPr>
          <p:nvPr/>
        </p:nvSpPr>
        <p:spPr>
          <a:xfrm xmlns:a="http://schemas.openxmlformats.org/drawingml/2006/main">
            <a:off x="8020050" y="3143250"/>
            <a:ext cx="2095500" cy="819150"/>
          </a:xfrm>
          <a:prstGeom xmlns:a="http://schemas.openxmlformats.org/drawingml/2006/main" prst="roundRect">
            <a:avLst>
              <a:gd name="adj" fmla="val 18605"/>
            </a:avLst>
          </a:prstGeom>
          <a:solidFill xmlns:a="http://schemas.openxmlformats.org/drawingml/2006/main">
            <a:srgbClr val="34D399">
              <a:alpha val="11000"/>
            </a:srgbClr>
          </a:solidFill>
          <a:ln xmlns:a="http://schemas.openxmlformats.org/drawingml/2006/main" w="11430">
            <a:solidFill>
              <a:srgbClr val="34D399">
                <a:alpha val="58000"/>
              </a:srgbClr>
            </a:solidFill>
            <a:prstDash val="solid"/>
          </a:ln>
        </p:spPr>
      </p:sp>
      <p:sp>
        <p:nvSpPr>
          <p:cNvPr id="20" name="">
            <a:extLst xmlns:a="http://schemas.openxmlformats.org/drawingml/2006/main">
              <a:ext uri="{FF2B5EF4-FFF2-40B4-BE49-F238E27FC236}">
                <a16:creationId xmlns:a16="http://schemas.microsoft.com/office/drawing/2014/main" id="{5F8C7590-129F-4CDF-814D-1BC31B4BAED7}"/>
              </a:ext>
            </a:extLst>
          </p:cNvPr>
          <p:cNvSpPr>
            <a:spLocks xmlns:a="http://schemas.openxmlformats.org/drawingml/2006/main" noGrp="1"/>
          </p:cNvSpPr>
          <p:nvPr/>
        </p:nvSpPr>
        <p:spPr>
          <a:xfrm xmlns:a="http://schemas.openxmlformats.org/drawingml/2006/main">
            <a:off x="8115300" y="33147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Source Blocks</a:t>
            </a:r>
          </a:p>
        </p:txBody>
      </p:sp>
      <p:sp>
        <p:nvSpPr>
          <p:cNvPr id="21" name="">
            <a:extLst xmlns:a="http://schemas.openxmlformats.org/drawingml/2006/main">
              <a:ext uri="{FF2B5EF4-FFF2-40B4-BE49-F238E27FC236}">
                <a16:creationId xmlns:a16="http://schemas.microsoft.com/office/drawing/2014/main" id="{56B66317-014F-4313-872A-3A22F699AC59}"/>
              </a:ext>
            </a:extLst>
          </p:cNvPr>
          <p:cNvSpPr>
            <a:spLocks xmlns:a="http://schemas.openxmlformats.org/drawingml/2006/main" noGrp="1"/>
          </p:cNvSpPr>
          <p:nvPr/>
        </p:nvSpPr>
        <p:spPr>
          <a:xfrm xmlns:a="http://schemas.openxmlformats.org/drawingml/2006/main">
            <a:off x="8115300" y="36004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stabile Zitieranker</a:t>
            </a:r>
          </a:p>
        </p:txBody>
      </p:sp>
      <p:sp>
        <p:nvSpPr>
          <p:cNvPr id="22" name="">
            <a:extLst xmlns:a="http://schemas.openxmlformats.org/drawingml/2006/main">
              <a:ext uri="{FF2B5EF4-FFF2-40B4-BE49-F238E27FC236}">
                <a16:creationId xmlns:a16="http://schemas.microsoft.com/office/drawing/2014/main" id="{B6DAB6EA-F60C-42BF-89C5-76223AAEEFBD}"/>
              </a:ext>
            </a:extLst>
          </p:cNvPr>
          <p:cNvSpPr>
            <a:spLocks xmlns:a="http://schemas.openxmlformats.org/drawingml/2006/main" noGrp="1"/>
          </p:cNvSpPr>
          <p:nvPr/>
        </p:nvSpPr>
        <p:spPr>
          <a:xfrm xmlns:a="http://schemas.openxmlformats.org/drawingml/2006/main">
            <a:off x="3333750" y="2552700"/>
            <a:ext cx="114300" cy="11430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4" name=""/>
          <p:cNvCxnSpPr>
            <a:stCxn xmlns:a="http://schemas.openxmlformats.org/drawingml/2006/main" id="22" idx="6"/>
            <a:endCxn xmlns:a="http://schemas.openxmlformats.org/drawingml/2006/main" id="16" idx="1"/>
          </p:cNvCxnSpPr>
          <p:nvPr/>
        </p:nvCxnSpPr>
        <p:spPr>
          <a:xfrm xmlns:a="http://schemas.openxmlformats.org/drawingml/2006/main">
            <a:off x="3448050" y="2609850"/>
            <a:ext cx="1028700" cy="942975"/>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4" name="">
            <a:extLst xmlns:a="http://schemas.openxmlformats.org/drawingml/2006/main">
              <a:ext uri="{FF2B5EF4-FFF2-40B4-BE49-F238E27FC236}">
                <a16:creationId xmlns:a16="http://schemas.microsoft.com/office/drawing/2014/main" id="{084CB344-EF10-498E-8BA8-4FD69A5F045A}"/>
              </a:ext>
            </a:extLst>
          </p:cNvPr>
          <p:cNvSpPr>
            <a:spLocks xmlns:a="http://schemas.openxmlformats.org/drawingml/2006/main" noGrp="1"/>
          </p:cNvSpPr>
          <p:nvPr/>
        </p:nvSpPr>
        <p:spPr>
          <a:xfrm xmlns:a="http://schemas.openxmlformats.org/drawingml/2006/main">
            <a:off x="3333750" y="3086100"/>
            <a:ext cx="114300" cy="11430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6" name=""/>
          <p:cNvCxnSpPr>
            <a:stCxn xmlns:a="http://schemas.openxmlformats.org/drawingml/2006/main" id="24" idx="6"/>
            <a:endCxn xmlns:a="http://schemas.openxmlformats.org/drawingml/2006/main" id="16" idx="1"/>
          </p:cNvCxnSpPr>
          <p:nvPr/>
        </p:nvCxnSpPr>
        <p:spPr>
          <a:xfrm xmlns:a="http://schemas.openxmlformats.org/drawingml/2006/main">
            <a:off x="3448050" y="3143250"/>
            <a:ext cx="1028700" cy="409575"/>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6" name="">
            <a:extLst xmlns:a="http://schemas.openxmlformats.org/drawingml/2006/main">
              <a:ext uri="{FF2B5EF4-FFF2-40B4-BE49-F238E27FC236}">
                <a16:creationId xmlns:a16="http://schemas.microsoft.com/office/drawing/2014/main" id="{C96D7EAB-9E8C-44C9-A65D-E751E6B8AC7A}"/>
              </a:ext>
            </a:extLst>
          </p:cNvPr>
          <p:cNvSpPr>
            <a:spLocks xmlns:a="http://schemas.openxmlformats.org/drawingml/2006/main" noGrp="1"/>
          </p:cNvSpPr>
          <p:nvPr/>
        </p:nvSpPr>
        <p:spPr>
          <a:xfrm xmlns:a="http://schemas.openxmlformats.org/drawingml/2006/main">
            <a:off x="3333750" y="3619500"/>
            <a:ext cx="114300" cy="11430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8" name=""/>
          <p:cNvCxnSpPr>
            <a:stCxn xmlns:a="http://schemas.openxmlformats.org/drawingml/2006/main" id="26" idx="6"/>
            <a:endCxn xmlns:a="http://schemas.openxmlformats.org/drawingml/2006/main" id="16" idx="1"/>
          </p:cNvCxnSpPr>
          <p:nvPr/>
        </p:nvCxnSpPr>
        <p:spPr>
          <a:xfrm xmlns:a="http://schemas.openxmlformats.org/drawingml/2006/main" flipV="1">
            <a:off x="3448050" y="3552825"/>
            <a:ext cx="1028700" cy="123825"/>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8" name="">
            <a:extLst xmlns:a="http://schemas.openxmlformats.org/drawingml/2006/main">
              <a:ext uri="{FF2B5EF4-FFF2-40B4-BE49-F238E27FC236}">
                <a16:creationId xmlns:a16="http://schemas.microsoft.com/office/drawing/2014/main" id="{6F130A8A-1A0C-409E-B37B-D5A8CBB3DEB4}"/>
              </a:ext>
            </a:extLst>
          </p:cNvPr>
          <p:cNvSpPr>
            <a:spLocks xmlns:a="http://schemas.openxmlformats.org/drawingml/2006/main" noGrp="1"/>
          </p:cNvSpPr>
          <p:nvPr/>
        </p:nvSpPr>
        <p:spPr>
          <a:xfrm xmlns:a="http://schemas.openxmlformats.org/drawingml/2006/main">
            <a:off x="3333750" y="4152900"/>
            <a:ext cx="114300" cy="11430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60" name=""/>
          <p:cNvCxnSpPr>
            <a:stCxn xmlns:a="http://schemas.openxmlformats.org/drawingml/2006/main" id="28" idx="6"/>
            <a:endCxn xmlns:a="http://schemas.openxmlformats.org/drawingml/2006/main" id="16" idx="1"/>
          </p:cNvCxnSpPr>
          <p:nvPr/>
        </p:nvCxnSpPr>
        <p:spPr>
          <a:xfrm xmlns:a="http://schemas.openxmlformats.org/drawingml/2006/main" flipV="1">
            <a:off x="3448050" y="3552825"/>
            <a:ext cx="1028700" cy="657225"/>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cxnSp>
        <p:nvCxnSpPr>
          <p:cNvPr id="61" name=""/>
          <p:cNvCxnSpPr>
            <a:stCxn xmlns:a="http://schemas.openxmlformats.org/drawingml/2006/main" id="16" idx="3"/>
            <a:endCxn xmlns:a="http://schemas.openxmlformats.org/drawingml/2006/main" id="19" idx="1"/>
          </p:cNvCxnSpPr>
          <p:nvPr/>
        </p:nvCxnSpPr>
        <p:spPr>
          <a:xfrm xmlns:a="http://schemas.openxmlformats.org/drawingml/2006/main">
            <a:off x="6572250" y="3552825"/>
            <a:ext cx="1447800" cy="0"/>
          </a:xfrm>
          <a:prstGeom xmlns:a="http://schemas.openxmlformats.org/drawingml/2006/main" prst="straightConnector1">
            <a:avLst/>
          </a:prstGeom>
          <a:ln xmlns:a="http://schemas.openxmlformats.org/drawingml/2006/main" w="19050">
            <a:solidFill>
              <a:srgbClr val="34D399">
                <a:alpha val="70000"/>
              </a:srgbClr>
            </a:solidFill>
            <a:prstDash val="solid"/>
            <a:headEnd type="arrow" w="sm" len="sm"/>
          </a:ln>
        </p:spPr>
      </p:cxnSp>
      <p:sp>
        <p:nvSpPr>
          <p:cNvPr id="31" name="">
            <a:extLst xmlns:a="http://schemas.openxmlformats.org/drawingml/2006/main">
              <a:ext uri="{FF2B5EF4-FFF2-40B4-BE49-F238E27FC236}">
                <a16:creationId xmlns:a16="http://schemas.microsoft.com/office/drawing/2014/main" id="{F64347A0-A3B7-400D-A3C3-15B6E89617C0}"/>
              </a:ext>
            </a:extLst>
          </p:cNvPr>
          <p:cNvSpPr>
            <a:spLocks xmlns:a="http://schemas.openxmlformats.org/drawingml/2006/main" noGrp="1"/>
          </p:cNvSpPr>
          <p:nvPr/>
        </p:nvSpPr>
        <p:spPr>
          <a:xfrm xmlns:a="http://schemas.openxmlformats.org/drawingml/2006/main">
            <a:off x="2762250" y="4762500"/>
            <a:ext cx="666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725" b="1">
                <a:solidFill>
                  <a:srgbClr val="CBD5E1"/>
                </a:solidFill>
                <a:latin typeface="Aptos"/>
                <a:ea typeface="Aptos"/>
                <a:cs typeface="Aptos"/>
              </a:defRPr>
            </a:pPr>
            <a:r>
              <a:rPr sz="1725" b="1">
                <a:solidFill>
                  <a:srgbClr val="CBD5E1"/>
                </a:solidFill>
                <a:latin typeface="Aptos"/>
                <a:ea typeface="Aptos"/>
                <a:cs typeface="Aptos"/>
              </a:rPr>
              <a:t>Ab hier arbeitet das System nicht mehr mit Dateien,</a:t>
            </a:r>
          </a:p>
          <a:p xmlns:a="http://schemas.openxmlformats.org/drawingml/2006/main">
            <a:pPr algn="ctr">
              <a:lnSpc>
                <a:spcPct val="108000"/>
              </a:lnSpc>
              <a:buNone/>
              <a:defRPr sz="1725" b="1">
                <a:solidFill>
                  <a:srgbClr val="CBD5E1"/>
                </a:solidFill>
                <a:latin typeface="Aptos"/>
                <a:ea typeface="Aptos"/>
                <a:cs typeface="Aptos"/>
              </a:defRPr>
            </a:pPr>
            <a:r>
              <a:rPr sz="1725" b="1">
                <a:solidFill>
                  <a:srgbClr val="CBD5E1"/>
                </a:solidFill>
                <a:latin typeface="Aptos"/>
                <a:ea typeface="Aptos"/>
                <a:cs typeface="Aptos"/>
              </a:rPr>
              <a:t>sondern mit strukturierten Einheiten.</a:t>
            </a:r>
          </a:p>
        </p:txBody>
      </p:sp>
    </p:spTree>
    <p:extLst>
      <p:ext uri="{BB962C8B-B14F-4D97-AF65-F5344CB8AC3E}">
        <p14:creationId xmlns:p14="http://schemas.microsoft.com/office/powerpoint/2010/main" val="649298173"/>
      </p:ext>
    </p:extLst>
  </p:cSld>
</p:sld>
</file>

<file path=ppt/slides/slide10.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CA4007-2B3C-42F7-87AA-2971EAB642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6C6183-6CBE-4AF0-A90F-1FEDDDEAF2AE}"/>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6F75E958-5EED-45F3-8606-481E8CD0D1F6}"/>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C249BECC-A4E4-40F5-B33C-986EA822D1CE}"/>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10 / 22</a:t>
            </a:r>
          </a:p>
        </p:txBody>
      </p:sp>
      <p:sp>
        <p:nvSpPr>
          <p:cNvPr id="5" name="">
            <a:extLst xmlns:a="http://schemas.openxmlformats.org/drawingml/2006/main">
              <a:ext uri="{FF2B5EF4-FFF2-40B4-BE49-F238E27FC236}">
                <a16:creationId xmlns:a16="http://schemas.microsoft.com/office/drawing/2014/main" id="{20005A93-C10D-4301-809D-C683D00DB8DC}"/>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781CA6E9-FB64-4478-BD3D-C2C98FD5D2CF}"/>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PROVENANCE</a:t>
            </a:r>
          </a:p>
        </p:txBody>
      </p:sp>
      <p:sp>
        <p:nvSpPr>
          <p:cNvPr id="7" name="">
            <a:extLst xmlns:a="http://schemas.openxmlformats.org/drawingml/2006/main">
              <a:ext uri="{FF2B5EF4-FFF2-40B4-BE49-F238E27FC236}">
                <a16:creationId xmlns:a16="http://schemas.microsoft.com/office/drawing/2014/main" id="{B72B8652-BA6A-4811-BFFD-649CD5041C4F}"/>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Source Blocks sind die kleinste zitierbare Einheit</a:t>
            </a:r>
          </a:p>
        </p:txBody>
      </p:sp>
      <p:sp>
        <p:nvSpPr>
          <p:cNvPr id="8" name="">
            <a:extLst xmlns:a="http://schemas.openxmlformats.org/drawingml/2006/main">
              <a:ext uri="{FF2B5EF4-FFF2-40B4-BE49-F238E27FC236}">
                <a16:creationId xmlns:a16="http://schemas.microsoft.com/office/drawing/2014/main" id="{BF5A407E-F805-4083-9928-C3750F3EDDCA}"/>
              </a:ext>
            </a:extLst>
          </p:cNvPr>
          <p:cNvSpPr>
            <a:spLocks xmlns:a="http://schemas.openxmlformats.org/drawingml/2006/main" noGrp="1"/>
          </p:cNvSpPr>
          <p:nvPr/>
        </p:nvSpPr>
        <p:spPr>
          <a:xfrm xmlns:a="http://schemas.openxmlformats.org/drawingml/2006/main">
            <a:off x="1104900" y="2419350"/>
            <a:ext cx="4762500" cy="2428875"/>
          </a:xfrm>
          <a:prstGeom xmlns:a="http://schemas.openxmlformats.org/drawingml/2006/main" prst="roundRect">
            <a:avLst>
              <a:gd name="adj" fmla="val 6275"/>
            </a:avLst>
          </a:prstGeom>
          <a:solidFill xmlns:a="http://schemas.openxmlformats.org/drawingml/2006/main">
            <a:srgbClr val="07111C"/>
          </a:solidFill>
          <a:ln xmlns:a="http://schemas.openxmlformats.org/drawingml/2006/main" w="11430">
            <a:solidFill>
              <a:srgbClr val="36E0F2">
                <a:alpha val="52000"/>
              </a:srgbClr>
            </a:solidFill>
            <a:prstDash val="solid"/>
          </a:ln>
        </p:spPr>
      </p:sp>
      <p:sp>
        <p:nvSpPr>
          <p:cNvPr id="9" name="">
            <a:extLst xmlns:a="http://schemas.openxmlformats.org/drawingml/2006/main">
              <a:ext uri="{FF2B5EF4-FFF2-40B4-BE49-F238E27FC236}">
                <a16:creationId xmlns:a16="http://schemas.microsoft.com/office/drawing/2014/main" id="{A5EBD752-2D05-49D5-837D-82C0AB017F69}"/>
              </a:ext>
            </a:extLst>
          </p:cNvPr>
          <p:cNvSpPr>
            <a:spLocks xmlns:a="http://schemas.openxmlformats.org/drawingml/2006/main" noGrp="1"/>
          </p:cNvSpPr>
          <p:nvPr/>
        </p:nvSpPr>
        <p:spPr>
          <a:xfrm xmlns:a="http://schemas.openxmlformats.org/drawingml/2006/main">
            <a:off x="1428750" y="2743200"/>
            <a:ext cx="4095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8000"/>
              </a:lnSpc>
              <a:buNone/>
              <a:defRPr sz="1500" b="0">
                <a:solidFill>
                  <a:srgbClr val="CBD5E1"/>
                </a:solidFill>
                <a:latin typeface="Aptos Mono"/>
                <a:ea typeface="Aptos Mono"/>
                <a:cs typeface="Aptos Mono"/>
              </a:defRPr>
            </a:pPr>
            <a:r>
              <a:rPr sz="1500" b="0">
                <a:solidFill>
                  <a:srgbClr val="CBD5E1"/>
                </a:solidFill>
                <a:latin typeface="Aptos Mono"/>
                <a:ea typeface="Aptos Mono"/>
                <a:cs typeface="Aptos Mono"/>
              </a:rPr>
              <a:t>block_id: src_3:block_14</a:t>
            </a:r>
          </a:p>
          <a:p xmlns:a="http://schemas.openxmlformats.org/drawingml/2006/main">
            <a:pPr algn="l">
              <a:lnSpc>
                <a:spcPct val="118000"/>
              </a:lnSpc>
              <a:buNone/>
              <a:defRPr sz="1500" b="0">
                <a:solidFill>
                  <a:srgbClr val="CBD5E1"/>
                </a:solidFill>
                <a:latin typeface="Aptos Mono"/>
                <a:ea typeface="Aptos Mono"/>
                <a:cs typeface="Aptos Mono"/>
              </a:defRPr>
            </a:pPr>
            <a:r>
              <a:rPr sz="1500" b="0">
                <a:solidFill>
                  <a:srgbClr val="CBD5E1"/>
                </a:solidFill>
                <a:latin typeface="Aptos Mono"/>
                <a:ea typeface="Aptos Mono"/>
                <a:cs typeface="Aptos Mono"/>
              </a:rPr>
              <a:t>source_id: architecture_notes</a:t>
            </a:r>
          </a:p>
          <a:p xmlns:a="http://schemas.openxmlformats.org/drawingml/2006/main">
            <a:pPr algn="l">
              <a:lnSpc>
                <a:spcPct val="118000"/>
              </a:lnSpc>
              <a:buNone/>
              <a:defRPr sz="1500" b="0">
                <a:solidFill>
                  <a:srgbClr val="CBD5E1"/>
                </a:solidFill>
                <a:latin typeface="Aptos Mono"/>
                <a:ea typeface="Aptos Mono"/>
                <a:cs typeface="Aptos Mono"/>
              </a:defRPr>
            </a:pPr>
            <a:r>
              <a:rPr sz="1500" b="0">
                <a:solidFill>
                  <a:srgbClr val="CBD5E1"/>
                </a:solidFill>
                <a:latin typeface="Aptos Mono"/>
                <a:ea typeface="Aptos Mono"/>
                <a:cs typeface="Aptos Mono"/>
              </a:rPr>
              <a:t>heading_path: Retrieval / Evidence</a:t>
            </a:r>
          </a:p>
          <a:p xmlns:a="http://schemas.openxmlformats.org/drawingml/2006/main">
            <a:pPr algn="l">
              <a:lnSpc>
                <a:spcPct val="118000"/>
              </a:lnSpc>
              <a:buNone/>
              <a:defRPr sz="1500" b="0">
                <a:solidFill>
                  <a:srgbClr val="CBD5E1"/>
                </a:solidFill>
                <a:latin typeface="Aptos Mono"/>
                <a:ea typeface="Aptos Mono"/>
                <a:cs typeface="Aptos Mono"/>
              </a:defRPr>
            </a:pPr>
            <a:r>
              <a:rPr sz="1500" b="0">
                <a:solidFill>
                  <a:srgbClr val="CBD5E1"/>
                </a:solidFill>
                <a:latin typeface="Aptos Mono"/>
                <a:ea typeface="Aptos Mono"/>
                <a:cs typeface="Aptos Mono"/>
              </a:rPr>
              <a:t>char_range: 4821-5190</a:t>
            </a:r>
          </a:p>
          <a:p xmlns:a="http://schemas.openxmlformats.org/drawingml/2006/main">
            <a:pPr algn="l">
              <a:lnSpc>
                <a:spcPct val="118000"/>
              </a:lnSpc>
              <a:buNone/>
              <a:defRPr sz="1500" b="0">
                <a:solidFill>
                  <a:srgbClr val="CBD5E1"/>
                </a:solidFill>
                <a:latin typeface="Aptos Mono"/>
                <a:ea typeface="Aptos Mono"/>
                <a:cs typeface="Aptos Mono"/>
              </a:defRPr>
            </a:pPr>
            <a:r>
              <a:rPr sz="1500" b="0">
                <a:solidFill>
                  <a:srgbClr val="CBD5E1"/>
                </a:solidFill>
                <a:latin typeface="Aptos Mono"/>
                <a:ea typeface="Aptos Mono"/>
                <a:cs typeface="Aptos Mono"/>
              </a:rPr>
              <a:t>text: "Chunks keep source references..."</a:t>
            </a:r>
          </a:p>
        </p:txBody>
      </p:sp>
      <p:sp>
        <p:nvSpPr>
          <p:cNvPr id="10" name="">
            <a:extLst xmlns:a="http://schemas.openxmlformats.org/drawingml/2006/main">
              <a:ext uri="{FF2B5EF4-FFF2-40B4-BE49-F238E27FC236}">
                <a16:creationId xmlns:a16="http://schemas.microsoft.com/office/drawing/2014/main" id="{5BD44BEA-40CB-4658-B3F2-0341BAB15B5B}"/>
              </a:ext>
            </a:extLst>
          </p:cNvPr>
          <p:cNvSpPr>
            <a:spLocks xmlns:a="http://schemas.openxmlformats.org/drawingml/2006/main" noGrp="1"/>
          </p:cNvSpPr>
          <p:nvPr/>
        </p:nvSpPr>
        <p:spPr>
          <a:xfrm xmlns:a="http://schemas.openxmlformats.org/drawingml/2006/main">
            <a:off x="1428750" y="4286250"/>
            <a:ext cx="1762125" cy="323850"/>
          </a:xfrm>
          <a:prstGeom xmlns:a="http://schemas.openxmlformats.org/drawingml/2006/main" prst="roundRect">
            <a:avLst>
              <a:gd name="adj" fmla="val 29412"/>
            </a:avLst>
          </a:prstGeom>
          <a:solidFill xmlns:a="http://schemas.openxmlformats.org/drawingml/2006/main">
            <a:srgbClr val="36E0F2">
              <a:alpha val="10000"/>
            </a:srgbClr>
          </a:solidFill>
          <a:ln xmlns:a="http://schemas.openxmlformats.org/drawingml/2006/main" w="9525">
            <a:solidFill>
              <a:srgbClr val="36E0F2">
                <a:alpha val="55000"/>
              </a:srgbClr>
            </a:solidFill>
            <a:prstDash val="solid"/>
          </a:ln>
        </p:spPr>
      </p:sp>
      <p:sp>
        <p:nvSpPr>
          <p:cNvPr id="11" name="">
            <a:extLst xmlns:a="http://schemas.openxmlformats.org/drawingml/2006/main">
              <a:ext uri="{FF2B5EF4-FFF2-40B4-BE49-F238E27FC236}">
                <a16:creationId xmlns:a16="http://schemas.microsoft.com/office/drawing/2014/main" id="{B4EDED07-50C4-407D-806B-E88E4F07BE57}"/>
              </a:ext>
            </a:extLst>
          </p:cNvPr>
          <p:cNvSpPr>
            <a:spLocks xmlns:a="http://schemas.openxmlformats.org/drawingml/2006/main" noGrp="1"/>
          </p:cNvSpPr>
          <p:nvPr/>
        </p:nvSpPr>
        <p:spPr>
          <a:xfrm xmlns:a="http://schemas.openxmlformats.org/drawingml/2006/main">
            <a:off x="1524000" y="43624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00" b="1">
                <a:solidFill>
                  <a:srgbClr val="36E0F2"/>
                </a:solidFill>
                <a:latin typeface="Aptos Mono"/>
                <a:ea typeface="Aptos Mono"/>
                <a:cs typeface="Aptos Mono"/>
              </a:defRPr>
            </a:pPr>
            <a:r>
              <a:rPr sz="900" b="1">
                <a:solidFill>
                  <a:srgbClr val="36E0F2"/>
                </a:solidFill>
                <a:latin typeface="Aptos Mono"/>
                <a:ea typeface="Aptos Mono"/>
                <a:cs typeface="Aptos Mono"/>
              </a:rPr>
              <a:t>src_3:block_14</a:t>
            </a:r>
          </a:p>
        </p:txBody>
      </p:sp>
      <p:sp>
        <p:nvSpPr>
          <p:cNvPr id="12" name="">
            <a:extLst xmlns:a="http://schemas.openxmlformats.org/drawingml/2006/main">
              <a:ext uri="{FF2B5EF4-FFF2-40B4-BE49-F238E27FC236}">
                <a16:creationId xmlns:a16="http://schemas.microsoft.com/office/drawing/2014/main" id="{4F10CCA5-7B38-40E4-9A4F-3A43E5A98DDA}"/>
              </a:ext>
            </a:extLst>
          </p:cNvPr>
          <p:cNvSpPr>
            <a:spLocks xmlns:a="http://schemas.openxmlformats.org/drawingml/2006/main" noGrp="1"/>
          </p:cNvSpPr>
          <p:nvPr/>
        </p:nvSpPr>
        <p:spPr>
          <a:xfrm xmlns:a="http://schemas.openxmlformats.org/drawingml/2006/main">
            <a:off x="6667500" y="2857500"/>
            <a:ext cx="4095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175" b="1">
                <a:solidFill>
                  <a:srgbClr val="F8FAFC"/>
                </a:solidFill>
                <a:latin typeface="Aptos"/>
                <a:ea typeface="Aptos"/>
                <a:cs typeface="Aptos"/>
              </a:defRPr>
            </a:pPr>
            <a:r>
              <a:rPr sz="2175" b="1">
                <a:solidFill>
                  <a:srgbClr val="F8FAFC"/>
                </a:solidFill>
                <a:latin typeface="Aptos"/>
                <a:ea typeface="Aptos"/>
                <a:cs typeface="Aptos"/>
              </a:rPr>
              <a:t>Citation Chips sind keine Dekoration.</a:t>
            </a:r>
          </a:p>
          <a:p xmlns:a="http://schemas.openxmlformats.org/drawingml/2006/main">
            <a:pPr algn="l">
              <a:lnSpc>
                <a:spcPct val="108000"/>
              </a:lnSpc>
              <a:buNone/>
              <a:defRPr sz="2175" b="1">
                <a:solidFill>
                  <a:srgbClr val="F8FAFC"/>
                </a:solidFill>
                <a:latin typeface="Aptos"/>
                <a:ea typeface="Aptos"/>
                <a:cs typeface="Aptos"/>
              </a:defRPr>
            </a:pPr>
            <a:r>
              <a:rPr sz="2175" b="1">
                <a:solidFill>
                  <a:srgbClr val="F8FAFC"/>
                </a:solidFill>
                <a:latin typeface="Aptos"/>
                <a:ea typeface="Aptos"/>
                <a:cs typeface="Aptos"/>
              </a:rPr>
              <a:t>Sie sind Navigationsanker zurück zur Evidence.</a:t>
            </a:r>
          </a:p>
        </p:txBody>
      </p:sp>
      <p:sp>
        <p:nvSpPr>
          <p:cNvPr id="13" name="">
            <a:extLst xmlns:a="http://schemas.openxmlformats.org/drawingml/2006/main">
              <a:ext uri="{FF2B5EF4-FFF2-40B4-BE49-F238E27FC236}">
                <a16:creationId xmlns:a16="http://schemas.microsoft.com/office/drawing/2014/main" id="{79FEA423-2714-4034-8F8D-08B1A2ABCB66}"/>
              </a:ext>
            </a:extLst>
          </p:cNvPr>
          <p:cNvSpPr>
            <a:spLocks xmlns:a="http://schemas.openxmlformats.org/drawingml/2006/main" noGrp="1"/>
          </p:cNvSpPr>
          <p:nvPr/>
        </p:nvSpPr>
        <p:spPr>
          <a:xfrm xmlns:a="http://schemas.openxmlformats.org/drawingml/2006/main">
            <a:off x="6705600" y="44005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4" name="">
            <a:extLst xmlns:a="http://schemas.openxmlformats.org/drawingml/2006/main">
              <a:ext uri="{FF2B5EF4-FFF2-40B4-BE49-F238E27FC236}">
                <a16:creationId xmlns:a16="http://schemas.microsoft.com/office/drawing/2014/main" id="{3A7ED7BA-B500-4DFC-AE72-6F423F07A5A2}"/>
              </a:ext>
            </a:extLst>
          </p:cNvPr>
          <p:cNvSpPr>
            <a:spLocks xmlns:a="http://schemas.openxmlformats.org/drawingml/2006/main" noGrp="1"/>
          </p:cNvSpPr>
          <p:nvPr/>
        </p:nvSpPr>
        <p:spPr>
          <a:xfrm xmlns:a="http://schemas.openxmlformats.org/drawingml/2006/main">
            <a:off x="6915150" y="4324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500" b="0">
                <a:solidFill>
                  <a:srgbClr val="CBD5E1"/>
                </a:solidFill>
                <a:latin typeface="Aptos"/>
                <a:ea typeface="Aptos"/>
                <a:cs typeface="Aptos"/>
              </a:defRPr>
            </a:pPr>
            <a:r>
              <a:rPr sz="1500" b="0">
                <a:solidFill>
                  <a:srgbClr val="CBD5E1"/>
                </a:solidFill>
                <a:latin typeface="Aptos"/>
                <a:ea typeface="Aptos"/>
                <a:cs typeface="Aptos"/>
              </a:rPr>
              <a:t>Konkreter Block statt nur Dokumentname</a:t>
            </a:r>
          </a:p>
        </p:txBody>
      </p:sp>
      <p:sp>
        <p:nvSpPr>
          <p:cNvPr id="15" name="">
            <a:extLst xmlns:a="http://schemas.openxmlformats.org/drawingml/2006/main">
              <a:ext uri="{FF2B5EF4-FFF2-40B4-BE49-F238E27FC236}">
                <a16:creationId xmlns:a16="http://schemas.microsoft.com/office/drawing/2014/main" id="{BDAB45DF-36F9-4542-BDF6-D0B22E92C057}"/>
              </a:ext>
            </a:extLst>
          </p:cNvPr>
          <p:cNvSpPr>
            <a:spLocks xmlns:a="http://schemas.openxmlformats.org/drawingml/2006/main" noGrp="1"/>
          </p:cNvSpPr>
          <p:nvPr/>
        </p:nvSpPr>
        <p:spPr>
          <a:xfrm xmlns:a="http://schemas.openxmlformats.org/drawingml/2006/main">
            <a:off x="6705600" y="4867275"/>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6" name="">
            <a:extLst xmlns:a="http://schemas.openxmlformats.org/drawingml/2006/main">
              <a:ext uri="{FF2B5EF4-FFF2-40B4-BE49-F238E27FC236}">
                <a16:creationId xmlns:a16="http://schemas.microsoft.com/office/drawing/2014/main" id="{7A7DBFD3-D240-4BE9-81D1-0A6A30627DBE}"/>
              </a:ext>
            </a:extLst>
          </p:cNvPr>
          <p:cNvSpPr>
            <a:spLocks xmlns:a="http://schemas.openxmlformats.org/drawingml/2006/main" noGrp="1"/>
          </p:cNvSpPr>
          <p:nvPr/>
        </p:nvSpPr>
        <p:spPr>
          <a:xfrm xmlns:a="http://schemas.openxmlformats.org/drawingml/2006/main">
            <a:off x="6915150" y="4791075"/>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500" b="0">
                <a:solidFill>
                  <a:srgbClr val="CBD5E1"/>
                </a:solidFill>
                <a:latin typeface="Aptos"/>
                <a:ea typeface="Aptos"/>
                <a:cs typeface="Aptos"/>
              </a:defRPr>
            </a:pPr>
            <a:r>
              <a:rPr sz="1500" b="0">
                <a:solidFill>
                  <a:srgbClr val="CBD5E1"/>
                </a:solidFill>
                <a:latin typeface="Aptos"/>
                <a:ea typeface="Aptos"/>
                <a:cs typeface="Aptos"/>
              </a:rPr>
              <a:t>UI kann exakt hervorheben</a:t>
            </a:r>
          </a:p>
        </p:txBody>
      </p:sp>
    </p:spTree>
    <p:extLst>
      <p:ext uri="{BB962C8B-B14F-4D97-AF65-F5344CB8AC3E}">
        <p14:creationId xmlns:p14="http://schemas.microsoft.com/office/powerpoint/2010/main" val="1499881747"/>
      </p:ext>
    </p:extLst>
  </p:cSld>
</p:sld>
</file>

<file path=ppt/slides/slide11.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A76E5B-CE15-49DF-A5A4-28C0C8A9C3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E54C4D-1889-4036-BFFF-5158612CEE98}"/>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AA73944E-887D-47BD-8666-47CEDBE03B34}"/>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F7D01640-4902-4FEC-8B88-F1270D8B55B0}"/>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11 / 22</a:t>
            </a:r>
          </a:p>
        </p:txBody>
      </p:sp>
      <p:sp>
        <p:nvSpPr>
          <p:cNvPr id="5" name="">
            <a:extLst xmlns:a="http://schemas.openxmlformats.org/drawingml/2006/main">
              <a:ext uri="{FF2B5EF4-FFF2-40B4-BE49-F238E27FC236}">
                <a16:creationId xmlns:a16="http://schemas.microsoft.com/office/drawing/2014/main" id="{F1014933-CB77-4CF3-B6E2-845AC320A842}"/>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429667B5-0F17-4B03-868D-D3F3E3E5433A}"/>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RAG-GRUNDLAGE</a:t>
            </a:r>
          </a:p>
        </p:txBody>
      </p:sp>
      <p:sp>
        <p:nvSpPr>
          <p:cNvPr id="7" name="">
            <a:extLst xmlns:a="http://schemas.openxmlformats.org/drawingml/2006/main">
              <a:ext uri="{FF2B5EF4-FFF2-40B4-BE49-F238E27FC236}">
                <a16:creationId xmlns:a16="http://schemas.microsoft.com/office/drawing/2014/main" id="{DD5B2803-C7AC-4423-B6FC-A8CF3BD433C9}"/>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Chunking balanciert Kontext und Präzision</a:t>
            </a:r>
          </a:p>
        </p:txBody>
      </p:sp>
      <p:sp>
        <p:nvSpPr>
          <p:cNvPr id="8" name="">
            <a:extLst xmlns:a="http://schemas.openxmlformats.org/drawingml/2006/main">
              <a:ext uri="{FF2B5EF4-FFF2-40B4-BE49-F238E27FC236}">
                <a16:creationId xmlns:a16="http://schemas.microsoft.com/office/drawing/2014/main" id="{24E89B3A-F43B-477F-BDBC-D643FF53158B}"/>
              </a:ext>
            </a:extLst>
          </p:cNvPr>
          <p:cNvSpPr>
            <a:spLocks xmlns:a="http://schemas.openxmlformats.org/drawingml/2006/main" noGrp="1"/>
          </p:cNvSpPr>
          <p:nvPr/>
        </p:nvSpPr>
        <p:spPr>
          <a:xfrm xmlns:a="http://schemas.openxmlformats.org/drawingml/2006/main">
            <a:off x="876300" y="2647950"/>
            <a:ext cx="2571750" cy="1714500"/>
          </a:xfrm>
          <a:prstGeom xmlns:a="http://schemas.openxmlformats.org/drawingml/2006/main" prst="roundRect">
            <a:avLst>
              <a:gd name="adj" fmla="val 7778"/>
            </a:avLst>
          </a:prstGeom>
          <a:solidFill xmlns:a="http://schemas.openxmlformats.org/drawingml/2006/main">
            <a:srgbClr val="7E8AA2">
              <a:alpha val="12000"/>
            </a:srgbClr>
          </a:solidFill>
          <a:ln xmlns:a="http://schemas.openxmlformats.org/drawingml/2006/main" w="9525">
            <a:solidFill>
              <a:srgbClr val="7E8AA2">
                <a:alpha val="50000"/>
              </a:srgbClr>
            </a:solidFill>
            <a:prstDash val="solid"/>
          </a:ln>
        </p:spPr>
      </p:sp>
      <p:sp>
        <p:nvSpPr>
          <p:cNvPr id="9" name="">
            <a:extLst xmlns:a="http://schemas.openxmlformats.org/drawingml/2006/main">
              <a:ext uri="{FF2B5EF4-FFF2-40B4-BE49-F238E27FC236}">
                <a16:creationId xmlns:a16="http://schemas.microsoft.com/office/drawing/2014/main" id="{7D238DF7-113E-45DD-B130-51F14597824C}"/>
              </a:ext>
            </a:extLst>
          </p:cNvPr>
          <p:cNvSpPr>
            <a:spLocks xmlns:a="http://schemas.openxmlformats.org/drawingml/2006/main" noGrp="1"/>
          </p:cNvSpPr>
          <p:nvPr/>
        </p:nvSpPr>
        <p:spPr>
          <a:xfrm xmlns:a="http://schemas.openxmlformats.org/drawingml/2006/main">
            <a:off x="1162050" y="323850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CBD5E1"/>
                </a:solidFill>
                <a:latin typeface="Aptos"/>
                <a:ea typeface="Aptos"/>
                <a:cs typeface="Aptos"/>
              </a:defRPr>
            </a:pPr>
            <a:r>
              <a:rPr sz="1650" b="1">
                <a:solidFill>
                  <a:srgbClr val="CBD5E1"/>
                </a:solidFill>
                <a:latin typeface="Aptos"/>
                <a:ea typeface="Aptos"/>
                <a:cs typeface="Aptos"/>
              </a:rPr>
              <a:t>Langer Source Block</a:t>
            </a:r>
          </a:p>
          <a:p xmlns:a="http://schemas.openxmlformats.org/drawingml/2006/main">
            <a:pPr algn="ctr">
              <a:lnSpc>
                <a:spcPct val="108000"/>
              </a:lnSpc>
              <a:buNone/>
              <a:defRPr sz="1650" b="1">
                <a:solidFill>
                  <a:srgbClr val="CBD5E1"/>
                </a:solidFill>
                <a:latin typeface="Aptos"/>
                <a:ea typeface="Aptos"/>
                <a:cs typeface="Aptos"/>
              </a:defRPr>
            </a:pPr>
            <a:r>
              <a:rPr sz="1650" b="1">
                <a:solidFill>
                  <a:srgbClr val="CBD5E1"/>
                </a:solidFill>
                <a:latin typeface="Aptos"/>
                <a:ea typeface="Aptos"/>
                <a:cs typeface="Aptos"/>
              </a:rPr>
              <a:t>mit mehreren Themen</a:t>
            </a:r>
          </a:p>
        </p:txBody>
      </p:sp>
      <p:sp>
        <p:nvSpPr>
          <p:cNvPr id="10" name="">
            <a:extLst xmlns:a="http://schemas.openxmlformats.org/drawingml/2006/main">
              <a:ext uri="{FF2B5EF4-FFF2-40B4-BE49-F238E27FC236}">
                <a16:creationId xmlns:a16="http://schemas.microsoft.com/office/drawing/2014/main" id="{19E57B2B-E144-4A0E-A9BA-33CAA153DB39}"/>
              </a:ext>
            </a:extLst>
          </p:cNvPr>
          <p:cNvSpPr>
            <a:spLocks xmlns:a="http://schemas.openxmlformats.org/drawingml/2006/main" noGrp="1"/>
          </p:cNvSpPr>
          <p:nvPr/>
        </p:nvSpPr>
        <p:spPr>
          <a:xfrm xmlns:a="http://schemas.openxmlformats.org/drawingml/2006/main">
            <a:off x="4238625" y="2381250"/>
            <a:ext cx="2714625" cy="781050"/>
          </a:xfrm>
          <a:prstGeom xmlns:a="http://schemas.openxmlformats.org/drawingml/2006/main" prst="roundRect">
            <a:avLst>
              <a:gd name="adj" fmla="val 14634"/>
            </a:avLst>
          </a:prstGeom>
          <a:solidFill xmlns:a="http://schemas.openxmlformats.org/drawingml/2006/main">
            <a:srgbClr val="36E0F2">
              <a:alpha val="12000"/>
            </a:srgbClr>
          </a:solidFill>
          <a:ln xmlns:a="http://schemas.openxmlformats.org/drawingml/2006/main" w="10478">
            <a:solidFill>
              <a:srgbClr val="36E0F2">
                <a:alpha val="58000"/>
              </a:srgbClr>
            </a:solidFill>
            <a:prstDash val="solid"/>
          </a:ln>
        </p:spPr>
      </p:sp>
      <p:sp>
        <p:nvSpPr>
          <p:cNvPr id="11" name="">
            <a:extLst xmlns:a="http://schemas.openxmlformats.org/drawingml/2006/main">
              <a:ext uri="{FF2B5EF4-FFF2-40B4-BE49-F238E27FC236}">
                <a16:creationId xmlns:a16="http://schemas.microsoft.com/office/drawing/2014/main" id="{5E195501-27B8-452A-AF68-9955DF9A6676}"/>
              </a:ext>
            </a:extLst>
          </p:cNvPr>
          <p:cNvSpPr>
            <a:spLocks xmlns:a="http://schemas.openxmlformats.org/drawingml/2006/main" noGrp="1"/>
          </p:cNvSpPr>
          <p:nvPr/>
        </p:nvSpPr>
        <p:spPr>
          <a:xfrm xmlns:a="http://schemas.openxmlformats.org/drawingml/2006/main">
            <a:off x="4429125" y="25527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36E0F2"/>
                </a:solidFill>
                <a:latin typeface="Aptos"/>
                <a:ea typeface="Aptos"/>
                <a:cs typeface="Aptos"/>
              </a:defRPr>
            </a:pPr>
            <a:r>
              <a:rPr sz="1575" b="1">
                <a:solidFill>
                  <a:srgbClr val="36E0F2"/>
                </a:solidFill>
                <a:latin typeface="Aptos"/>
                <a:ea typeface="Aptos"/>
                <a:cs typeface="Aptos"/>
              </a:rPr>
              <a:t>Chunk A</a:t>
            </a:r>
          </a:p>
        </p:txBody>
      </p:sp>
      <p:sp>
        <p:nvSpPr>
          <p:cNvPr id="12" name="">
            <a:extLst xmlns:a="http://schemas.openxmlformats.org/drawingml/2006/main">
              <a:ext uri="{FF2B5EF4-FFF2-40B4-BE49-F238E27FC236}">
                <a16:creationId xmlns:a16="http://schemas.microsoft.com/office/drawing/2014/main" id="{513270F0-A5A5-487F-B5D2-ABB46E0E3857}"/>
              </a:ext>
            </a:extLst>
          </p:cNvPr>
          <p:cNvSpPr>
            <a:spLocks xmlns:a="http://schemas.openxmlformats.org/drawingml/2006/main" noGrp="1"/>
          </p:cNvSpPr>
          <p:nvPr/>
        </p:nvSpPr>
        <p:spPr>
          <a:xfrm xmlns:a="http://schemas.openxmlformats.org/drawingml/2006/main">
            <a:off x="4429125" y="28384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0">
                <a:solidFill>
                  <a:srgbClr val="7E8AA2"/>
                </a:solidFill>
                <a:latin typeface="Aptos"/>
                <a:ea typeface="Aptos"/>
                <a:cs typeface="Aptos"/>
              </a:defRPr>
            </a:pPr>
            <a:r>
              <a:rPr sz="975" b="0">
                <a:solidFill>
                  <a:srgbClr val="7E8AA2"/>
                </a:solidFill>
                <a:latin typeface="Aptos"/>
                <a:ea typeface="Aptos"/>
                <a:cs typeface="Aptos"/>
              </a:rPr>
              <a:t>Heading + Overlap + Source Ref</a:t>
            </a:r>
          </a:p>
        </p:txBody>
      </p:sp>
      <p:sp>
        <p:nvSpPr>
          <p:cNvPr id="13" name="">
            <a:extLst xmlns:a="http://schemas.openxmlformats.org/drawingml/2006/main">
              <a:ext uri="{FF2B5EF4-FFF2-40B4-BE49-F238E27FC236}">
                <a16:creationId xmlns:a16="http://schemas.microsoft.com/office/drawing/2014/main" id="{8D09ED7D-094F-4321-8E28-C947B6711F75}"/>
              </a:ext>
            </a:extLst>
          </p:cNvPr>
          <p:cNvSpPr>
            <a:spLocks xmlns:a="http://schemas.openxmlformats.org/drawingml/2006/main" noGrp="1"/>
          </p:cNvSpPr>
          <p:nvPr/>
        </p:nvSpPr>
        <p:spPr>
          <a:xfrm xmlns:a="http://schemas.openxmlformats.org/drawingml/2006/main">
            <a:off x="4619625" y="3067050"/>
            <a:ext cx="2714625" cy="781050"/>
          </a:xfrm>
          <a:prstGeom xmlns:a="http://schemas.openxmlformats.org/drawingml/2006/main" prst="roundRect">
            <a:avLst>
              <a:gd name="adj" fmla="val 14634"/>
            </a:avLst>
          </a:prstGeom>
          <a:solidFill xmlns:a="http://schemas.openxmlformats.org/drawingml/2006/main">
            <a:srgbClr val="34D399">
              <a:alpha val="12000"/>
            </a:srgbClr>
          </a:solidFill>
          <a:ln xmlns:a="http://schemas.openxmlformats.org/drawingml/2006/main" w="10478">
            <a:solidFill>
              <a:srgbClr val="34D399">
                <a:alpha val="58000"/>
              </a:srgbClr>
            </a:solidFill>
            <a:prstDash val="solid"/>
          </a:ln>
        </p:spPr>
      </p:sp>
      <p:sp>
        <p:nvSpPr>
          <p:cNvPr id="14" name="">
            <a:extLst xmlns:a="http://schemas.openxmlformats.org/drawingml/2006/main">
              <a:ext uri="{FF2B5EF4-FFF2-40B4-BE49-F238E27FC236}">
                <a16:creationId xmlns:a16="http://schemas.microsoft.com/office/drawing/2014/main" id="{A2C7C3C0-6E46-42D7-A95A-9BE0C6715A83}"/>
              </a:ext>
            </a:extLst>
          </p:cNvPr>
          <p:cNvSpPr>
            <a:spLocks xmlns:a="http://schemas.openxmlformats.org/drawingml/2006/main" noGrp="1"/>
          </p:cNvSpPr>
          <p:nvPr/>
        </p:nvSpPr>
        <p:spPr>
          <a:xfrm xmlns:a="http://schemas.openxmlformats.org/drawingml/2006/main">
            <a:off x="4810125" y="32385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34D399"/>
                </a:solidFill>
                <a:latin typeface="Aptos"/>
                <a:ea typeface="Aptos"/>
                <a:cs typeface="Aptos"/>
              </a:defRPr>
            </a:pPr>
            <a:r>
              <a:rPr sz="1575" b="1">
                <a:solidFill>
                  <a:srgbClr val="34D399"/>
                </a:solidFill>
                <a:latin typeface="Aptos"/>
                <a:ea typeface="Aptos"/>
                <a:cs typeface="Aptos"/>
              </a:rPr>
              <a:t>Chunk B</a:t>
            </a:r>
          </a:p>
        </p:txBody>
      </p:sp>
      <p:sp>
        <p:nvSpPr>
          <p:cNvPr id="15" name="">
            <a:extLst xmlns:a="http://schemas.openxmlformats.org/drawingml/2006/main">
              <a:ext uri="{FF2B5EF4-FFF2-40B4-BE49-F238E27FC236}">
                <a16:creationId xmlns:a16="http://schemas.microsoft.com/office/drawing/2014/main" id="{6DC92B83-F581-412E-9E93-C9FBB02F551D}"/>
              </a:ext>
            </a:extLst>
          </p:cNvPr>
          <p:cNvSpPr>
            <a:spLocks xmlns:a="http://schemas.openxmlformats.org/drawingml/2006/main" noGrp="1"/>
          </p:cNvSpPr>
          <p:nvPr/>
        </p:nvSpPr>
        <p:spPr>
          <a:xfrm xmlns:a="http://schemas.openxmlformats.org/drawingml/2006/main">
            <a:off x="4810125" y="35242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0">
                <a:solidFill>
                  <a:srgbClr val="7E8AA2"/>
                </a:solidFill>
                <a:latin typeface="Aptos"/>
                <a:ea typeface="Aptos"/>
                <a:cs typeface="Aptos"/>
              </a:defRPr>
            </a:pPr>
            <a:r>
              <a:rPr sz="975" b="0">
                <a:solidFill>
                  <a:srgbClr val="7E8AA2"/>
                </a:solidFill>
                <a:latin typeface="Aptos"/>
                <a:ea typeface="Aptos"/>
                <a:cs typeface="Aptos"/>
              </a:rPr>
              <a:t>Heading + Overlap + Source Ref</a:t>
            </a:r>
          </a:p>
        </p:txBody>
      </p:sp>
      <p:sp>
        <p:nvSpPr>
          <p:cNvPr id="16" name="">
            <a:extLst xmlns:a="http://schemas.openxmlformats.org/drawingml/2006/main">
              <a:ext uri="{FF2B5EF4-FFF2-40B4-BE49-F238E27FC236}">
                <a16:creationId xmlns:a16="http://schemas.microsoft.com/office/drawing/2014/main" id="{104FBC2F-F8B4-4DD8-A43F-8EB752312FB7}"/>
              </a:ext>
            </a:extLst>
          </p:cNvPr>
          <p:cNvSpPr>
            <a:spLocks xmlns:a="http://schemas.openxmlformats.org/drawingml/2006/main" noGrp="1"/>
          </p:cNvSpPr>
          <p:nvPr/>
        </p:nvSpPr>
        <p:spPr>
          <a:xfrm xmlns:a="http://schemas.openxmlformats.org/drawingml/2006/main">
            <a:off x="5000625" y="3752850"/>
            <a:ext cx="2714625" cy="781050"/>
          </a:xfrm>
          <a:prstGeom xmlns:a="http://schemas.openxmlformats.org/drawingml/2006/main" prst="roundRect">
            <a:avLst>
              <a:gd name="adj" fmla="val 14634"/>
            </a:avLst>
          </a:prstGeom>
          <a:solidFill xmlns:a="http://schemas.openxmlformats.org/drawingml/2006/main">
            <a:srgbClr val="FBBF24">
              <a:alpha val="12000"/>
            </a:srgbClr>
          </a:solidFill>
          <a:ln xmlns:a="http://schemas.openxmlformats.org/drawingml/2006/main" w="10478">
            <a:solidFill>
              <a:srgbClr val="FBBF24">
                <a:alpha val="58000"/>
              </a:srgbClr>
            </a:solidFill>
            <a:prstDash val="solid"/>
          </a:ln>
        </p:spPr>
      </p:sp>
      <p:sp>
        <p:nvSpPr>
          <p:cNvPr id="17" name="">
            <a:extLst xmlns:a="http://schemas.openxmlformats.org/drawingml/2006/main">
              <a:ext uri="{FF2B5EF4-FFF2-40B4-BE49-F238E27FC236}">
                <a16:creationId xmlns:a16="http://schemas.microsoft.com/office/drawing/2014/main" id="{F240885C-DF14-4A98-B437-6E705E7C1259}"/>
              </a:ext>
            </a:extLst>
          </p:cNvPr>
          <p:cNvSpPr>
            <a:spLocks xmlns:a="http://schemas.openxmlformats.org/drawingml/2006/main" noGrp="1"/>
          </p:cNvSpPr>
          <p:nvPr/>
        </p:nvSpPr>
        <p:spPr>
          <a:xfrm xmlns:a="http://schemas.openxmlformats.org/drawingml/2006/main">
            <a:off x="5191125" y="3924300"/>
            <a:ext cx="2333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FBBF24"/>
                </a:solidFill>
                <a:latin typeface="Aptos"/>
                <a:ea typeface="Aptos"/>
                <a:cs typeface="Aptos"/>
              </a:defRPr>
            </a:pPr>
            <a:r>
              <a:rPr sz="1575" b="1">
                <a:solidFill>
                  <a:srgbClr val="FBBF24"/>
                </a:solidFill>
                <a:latin typeface="Aptos"/>
                <a:ea typeface="Aptos"/>
                <a:cs typeface="Aptos"/>
              </a:rPr>
              <a:t>Chunk C</a:t>
            </a:r>
          </a:p>
        </p:txBody>
      </p:sp>
      <p:sp>
        <p:nvSpPr>
          <p:cNvPr id="18" name="">
            <a:extLst xmlns:a="http://schemas.openxmlformats.org/drawingml/2006/main">
              <a:ext uri="{FF2B5EF4-FFF2-40B4-BE49-F238E27FC236}">
                <a16:creationId xmlns:a16="http://schemas.microsoft.com/office/drawing/2014/main" id="{162FD62D-234D-4CD7-9442-F8CAA829C62C}"/>
              </a:ext>
            </a:extLst>
          </p:cNvPr>
          <p:cNvSpPr>
            <a:spLocks xmlns:a="http://schemas.openxmlformats.org/drawingml/2006/main" noGrp="1"/>
          </p:cNvSpPr>
          <p:nvPr/>
        </p:nvSpPr>
        <p:spPr>
          <a:xfrm xmlns:a="http://schemas.openxmlformats.org/drawingml/2006/main">
            <a:off x="5191125" y="42100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0">
                <a:solidFill>
                  <a:srgbClr val="7E8AA2"/>
                </a:solidFill>
                <a:latin typeface="Aptos"/>
                <a:ea typeface="Aptos"/>
                <a:cs typeface="Aptos"/>
              </a:defRPr>
            </a:pPr>
            <a:r>
              <a:rPr sz="975" b="0">
                <a:solidFill>
                  <a:srgbClr val="7E8AA2"/>
                </a:solidFill>
                <a:latin typeface="Aptos"/>
                <a:ea typeface="Aptos"/>
                <a:cs typeface="Aptos"/>
              </a:rPr>
              <a:t>Heading + Overlap + Source Ref</a:t>
            </a:r>
          </a:p>
        </p:txBody>
      </p:sp>
      <p:sp>
        <p:nvSpPr>
          <p:cNvPr id="19" name="">
            <a:extLst xmlns:a="http://schemas.openxmlformats.org/drawingml/2006/main">
              <a:ext uri="{FF2B5EF4-FFF2-40B4-BE49-F238E27FC236}">
                <a16:creationId xmlns:a16="http://schemas.microsoft.com/office/drawing/2014/main" id="{72B01FC7-8A0E-410E-9913-75EB39413640}"/>
              </a:ext>
            </a:extLst>
          </p:cNvPr>
          <p:cNvSpPr>
            <a:spLocks xmlns:a="http://schemas.openxmlformats.org/drawingml/2006/main" noGrp="1"/>
          </p:cNvSpPr>
          <p:nvPr/>
        </p:nvSpPr>
        <p:spPr>
          <a:xfrm xmlns:a="http://schemas.openxmlformats.org/drawingml/2006/main">
            <a:off x="8429625" y="2686050"/>
            <a:ext cx="2809875" cy="1809750"/>
          </a:xfrm>
          <a:prstGeom xmlns:a="http://schemas.openxmlformats.org/drawingml/2006/main" prst="roundRect">
            <a:avLst>
              <a:gd name="adj" fmla="val 8421"/>
            </a:avLst>
          </a:prstGeom>
          <a:solidFill xmlns:a="http://schemas.openxmlformats.org/drawingml/2006/main">
            <a:srgbClr val="A78BFA">
              <a:alpha val="10000"/>
            </a:srgbClr>
          </a:solidFill>
          <a:ln xmlns:a="http://schemas.openxmlformats.org/drawingml/2006/main" w="10478">
            <a:solidFill>
              <a:srgbClr val="A78BFA">
                <a:alpha val="52000"/>
              </a:srgbClr>
            </a:solidFill>
            <a:prstDash val="solid"/>
          </a:ln>
        </p:spPr>
      </p:sp>
      <p:sp>
        <p:nvSpPr>
          <p:cNvPr id="20" name="">
            <a:extLst xmlns:a="http://schemas.openxmlformats.org/drawingml/2006/main">
              <a:ext uri="{FF2B5EF4-FFF2-40B4-BE49-F238E27FC236}">
                <a16:creationId xmlns:a16="http://schemas.microsoft.com/office/drawing/2014/main" id="{FDE188C1-294A-49DF-AD4C-A1DB9EC8000A}"/>
              </a:ext>
            </a:extLst>
          </p:cNvPr>
          <p:cNvSpPr>
            <a:spLocks xmlns:a="http://schemas.openxmlformats.org/drawingml/2006/main" noGrp="1"/>
          </p:cNvSpPr>
          <p:nvPr/>
        </p:nvSpPr>
        <p:spPr>
          <a:xfrm xmlns:a="http://schemas.openxmlformats.org/drawingml/2006/main">
            <a:off x="8763000" y="3000375"/>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100" b="1">
                <a:solidFill>
                  <a:srgbClr val="A78BFA"/>
                </a:solidFill>
                <a:latin typeface="Aptos"/>
                <a:ea typeface="Aptos"/>
                <a:cs typeface="Aptos"/>
              </a:defRPr>
            </a:pPr>
            <a:r>
              <a:rPr sz="2100" b="1">
                <a:solidFill>
                  <a:srgbClr val="A78BFA"/>
                </a:solidFill>
                <a:latin typeface="Aptos"/>
                <a:ea typeface="Aptos"/>
                <a:cs typeface="Aptos"/>
              </a:rPr>
              <a:t>Ziel</a:t>
            </a:r>
          </a:p>
        </p:txBody>
      </p:sp>
      <p:sp>
        <p:nvSpPr>
          <p:cNvPr id="21" name="">
            <a:extLst xmlns:a="http://schemas.openxmlformats.org/drawingml/2006/main">
              <a:ext uri="{FF2B5EF4-FFF2-40B4-BE49-F238E27FC236}">
                <a16:creationId xmlns:a16="http://schemas.microsoft.com/office/drawing/2014/main" id="{D798FB68-DE72-426C-8A58-2A6EAA1E0474}"/>
              </a:ext>
            </a:extLst>
          </p:cNvPr>
          <p:cNvSpPr>
            <a:spLocks xmlns:a="http://schemas.openxmlformats.org/drawingml/2006/main" noGrp="1"/>
          </p:cNvSpPr>
          <p:nvPr/>
        </p:nvSpPr>
        <p:spPr>
          <a:xfrm xmlns:a="http://schemas.openxmlformats.org/drawingml/2006/main">
            <a:off x="8763000" y="3429000"/>
            <a:ext cx="2095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5000"/>
              </a:lnSpc>
              <a:buNone/>
              <a:defRPr sz="1650" b="1">
                <a:solidFill>
                  <a:srgbClr val="F8FAFC"/>
                </a:solidFill>
                <a:latin typeface="Aptos"/>
                <a:ea typeface="Aptos"/>
                <a:cs typeface="Aptos"/>
              </a:defRPr>
            </a:pPr>
            <a:r>
              <a:rPr sz="1650" b="1">
                <a:solidFill>
                  <a:srgbClr val="F8FAFC"/>
                </a:solidFill>
                <a:latin typeface="Aptos"/>
                <a:ea typeface="Aptos"/>
                <a:cs typeface="Aptos"/>
              </a:rPr>
              <a:t>genug Kontext</a:t>
            </a:r>
          </a:p>
          <a:p xmlns:a="http://schemas.openxmlformats.org/drawingml/2006/main">
            <a:pPr algn="ctr">
              <a:lnSpc>
                <a:spcPct val="105000"/>
              </a:lnSpc>
              <a:buNone/>
              <a:defRPr sz="1650" b="1">
                <a:solidFill>
                  <a:srgbClr val="F8FAFC"/>
                </a:solidFill>
                <a:latin typeface="Aptos"/>
                <a:ea typeface="Aptos"/>
                <a:cs typeface="Aptos"/>
              </a:defRPr>
            </a:pPr>
            <a:r>
              <a:rPr sz="1650" b="1">
                <a:solidFill>
                  <a:srgbClr val="F8FAFC"/>
                </a:solidFill>
                <a:latin typeface="Aptos"/>
                <a:ea typeface="Aptos"/>
                <a:cs typeface="Aptos"/>
              </a:rPr>
              <a:t>für Bedeutung,</a:t>
            </a:r>
          </a:p>
          <a:p xmlns:a="http://schemas.openxmlformats.org/drawingml/2006/main">
            <a:pPr algn="ctr">
              <a:lnSpc>
                <a:spcPct val="105000"/>
              </a:lnSpc>
              <a:buNone/>
              <a:defRPr sz="1650" b="1">
                <a:solidFill>
                  <a:srgbClr val="F8FAFC"/>
                </a:solidFill>
                <a:latin typeface="Aptos"/>
                <a:ea typeface="Aptos"/>
                <a:cs typeface="Aptos"/>
              </a:defRPr>
            </a:pPr>
            <a:r>
              <a:rPr sz="1650" b="1">
                <a:solidFill>
                  <a:srgbClr val="F8FAFC"/>
                </a:solidFill>
                <a:latin typeface="Aptos"/>
                <a:ea typeface="Aptos"/>
                <a:cs typeface="Aptos"/>
              </a:rPr>
              <a:t>klein genug</a:t>
            </a:r>
          </a:p>
          <a:p xmlns:a="http://schemas.openxmlformats.org/drawingml/2006/main">
            <a:pPr algn="ctr">
              <a:lnSpc>
                <a:spcPct val="105000"/>
              </a:lnSpc>
              <a:buNone/>
              <a:defRPr sz="1650" b="1">
                <a:solidFill>
                  <a:srgbClr val="F8FAFC"/>
                </a:solidFill>
                <a:latin typeface="Aptos"/>
                <a:ea typeface="Aptos"/>
                <a:cs typeface="Aptos"/>
              </a:defRPr>
            </a:pPr>
            <a:r>
              <a:rPr sz="1650" b="1">
                <a:solidFill>
                  <a:srgbClr val="F8FAFC"/>
                </a:solidFill>
                <a:latin typeface="Aptos"/>
                <a:ea typeface="Aptos"/>
                <a:cs typeface="Aptos"/>
              </a:rPr>
              <a:t>für Präzision</a:t>
            </a:r>
          </a:p>
        </p:txBody>
      </p:sp>
    </p:spTree>
    <p:extLst>
      <p:ext uri="{BB962C8B-B14F-4D97-AF65-F5344CB8AC3E}">
        <p14:creationId xmlns:p14="http://schemas.microsoft.com/office/powerpoint/2010/main" val="423412941"/>
      </p:ext>
    </p:extLst>
  </p:cSld>
</p:sld>
</file>

<file path=ppt/slides/slide12.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6FD7FA-ED7E-4D0B-B06E-55DA509BEC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745B85-3C66-4DF4-AA78-AAD0C6283663}"/>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22AB2599-CBFE-445F-A014-5DF7C969DE1F}"/>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F9810648-2C93-4D42-B148-3AC79BDC0E74}"/>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12 / 22</a:t>
            </a:r>
          </a:p>
        </p:txBody>
      </p:sp>
      <p:sp>
        <p:nvSpPr>
          <p:cNvPr id="5" name="">
            <a:extLst xmlns:a="http://schemas.openxmlformats.org/drawingml/2006/main">
              <a:ext uri="{FF2B5EF4-FFF2-40B4-BE49-F238E27FC236}">
                <a16:creationId xmlns:a16="http://schemas.microsoft.com/office/drawing/2014/main" id="{2870E090-1A1D-48E9-B935-FF46C9963C63}"/>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E2BC3A3F-8E44-4E3A-86E1-B1F3211AF331}"/>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INDEX</a:t>
            </a:r>
          </a:p>
        </p:txBody>
      </p:sp>
      <p:sp>
        <p:nvSpPr>
          <p:cNvPr id="7" name="">
            <a:extLst xmlns:a="http://schemas.openxmlformats.org/drawingml/2006/main">
              <a:ext uri="{FF2B5EF4-FFF2-40B4-BE49-F238E27FC236}">
                <a16:creationId xmlns:a16="http://schemas.microsoft.com/office/drawing/2014/main" id="{F32A6582-799A-4995-AFE3-85F8ED45DEA7}"/>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Embeddings machen Bedeutung suchbar</a:t>
            </a:r>
          </a:p>
        </p:txBody>
      </p:sp>
      <p:sp>
        <p:nvSpPr>
          <p:cNvPr id="8" name="">
            <a:extLst xmlns:a="http://schemas.openxmlformats.org/drawingml/2006/main">
              <a:ext uri="{FF2B5EF4-FFF2-40B4-BE49-F238E27FC236}">
                <a16:creationId xmlns:a16="http://schemas.microsoft.com/office/drawing/2014/main" id="{32828801-B89A-465E-B643-4BECD4D5E8CE}"/>
              </a:ext>
            </a:extLst>
          </p:cNvPr>
          <p:cNvSpPr>
            <a:spLocks xmlns:a="http://schemas.openxmlformats.org/drawingml/2006/main" noGrp="1"/>
          </p:cNvSpPr>
          <p:nvPr/>
        </p:nvSpPr>
        <p:spPr>
          <a:xfrm xmlns:a="http://schemas.openxmlformats.org/drawingml/2006/main">
            <a:off x="1238250" y="3048000"/>
            <a:ext cx="1809750" cy="819150"/>
          </a:xfrm>
          <a:prstGeom xmlns:a="http://schemas.openxmlformats.org/drawingml/2006/main" prst="roundRect">
            <a:avLst>
              <a:gd name="adj" fmla="val 18605"/>
            </a:avLst>
          </a:prstGeom>
          <a:solidFill xmlns:a="http://schemas.openxmlformats.org/drawingml/2006/main">
            <a:srgbClr val="36E0F2">
              <a:alpha val="11000"/>
            </a:srgbClr>
          </a:solidFill>
          <a:ln xmlns:a="http://schemas.openxmlformats.org/drawingml/2006/main" w="11430">
            <a:solidFill>
              <a:srgbClr val="36E0F2">
                <a:alpha val="58000"/>
              </a:srgbClr>
            </a:solidFill>
            <a:prstDash val="solid"/>
          </a:ln>
        </p:spPr>
      </p:sp>
      <p:sp>
        <p:nvSpPr>
          <p:cNvPr id="9" name="">
            <a:extLst xmlns:a="http://schemas.openxmlformats.org/drawingml/2006/main">
              <a:ext uri="{FF2B5EF4-FFF2-40B4-BE49-F238E27FC236}">
                <a16:creationId xmlns:a16="http://schemas.microsoft.com/office/drawing/2014/main" id="{F7EEE46B-F7EA-4533-B05F-5FF193BEF43E}"/>
              </a:ext>
            </a:extLst>
          </p:cNvPr>
          <p:cNvSpPr>
            <a:spLocks xmlns:a="http://schemas.openxmlformats.org/drawingml/2006/main" noGrp="1"/>
          </p:cNvSpPr>
          <p:nvPr/>
        </p:nvSpPr>
        <p:spPr>
          <a:xfrm xmlns:a="http://schemas.openxmlformats.org/drawingml/2006/main">
            <a:off x="1333500" y="3219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Chunk Text</a:t>
            </a:r>
          </a:p>
        </p:txBody>
      </p:sp>
      <p:sp>
        <p:nvSpPr>
          <p:cNvPr id="10" name="">
            <a:extLst xmlns:a="http://schemas.openxmlformats.org/drawingml/2006/main">
              <a:ext uri="{FF2B5EF4-FFF2-40B4-BE49-F238E27FC236}">
                <a16:creationId xmlns:a16="http://schemas.microsoft.com/office/drawing/2014/main" id="{84B20306-AF18-4564-8B4C-5E2935B298C4}"/>
              </a:ext>
            </a:extLst>
          </p:cNvPr>
          <p:cNvSpPr>
            <a:spLocks xmlns:a="http://schemas.openxmlformats.org/drawingml/2006/main" noGrp="1"/>
          </p:cNvSpPr>
          <p:nvPr/>
        </p:nvSpPr>
        <p:spPr>
          <a:xfrm xmlns:a="http://schemas.openxmlformats.org/drawingml/2006/main">
            <a:off x="1333500" y="35052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mit Source Ref</a:t>
            </a:r>
          </a:p>
        </p:txBody>
      </p:sp>
      <p:sp>
        <p:nvSpPr>
          <p:cNvPr id="11" name="">
            <a:extLst xmlns:a="http://schemas.openxmlformats.org/drawingml/2006/main">
              <a:ext uri="{FF2B5EF4-FFF2-40B4-BE49-F238E27FC236}">
                <a16:creationId xmlns:a16="http://schemas.microsoft.com/office/drawing/2014/main" id="{91353A67-F742-4932-A7ED-C4B887BCE1E8}"/>
              </a:ext>
            </a:extLst>
          </p:cNvPr>
          <p:cNvSpPr>
            <a:spLocks xmlns:a="http://schemas.openxmlformats.org/drawingml/2006/main" noGrp="1"/>
          </p:cNvSpPr>
          <p:nvPr/>
        </p:nvSpPr>
        <p:spPr>
          <a:xfrm xmlns:a="http://schemas.openxmlformats.org/drawingml/2006/main">
            <a:off x="4229100" y="3048000"/>
            <a:ext cx="1809750" cy="819150"/>
          </a:xfrm>
          <a:prstGeom xmlns:a="http://schemas.openxmlformats.org/drawingml/2006/main" prst="roundRect">
            <a:avLst>
              <a:gd name="adj" fmla="val 18605"/>
            </a:avLst>
          </a:prstGeom>
          <a:solidFill xmlns:a="http://schemas.openxmlformats.org/drawingml/2006/main">
            <a:srgbClr val="34D399">
              <a:alpha val="11000"/>
            </a:srgbClr>
          </a:solidFill>
          <a:ln xmlns:a="http://schemas.openxmlformats.org/drawingml/2006/main" w="11430">
            <a:solidFill>
              <a:srgbClr val="34D399">
                <a:alpha val="58000"/>
              </a:srgbClr>
            </a:solidFill>
            <a:prstDash val="solid"/>
          </a:ln>
        </p:spPr>
      </p:sp>
      <p:sp>
        <p:nvSpPr>
          <p:cNvPr id="12" name="">
            <a:extLst xmlns:a="http://schemas.openxmlformats.org/drawingml/2006/main">
              <a:ext uri="{FF2B5EF4-FFF2-40B4-BE49-F238E27FC236}">
                <a16:creationId xmlns:a16="http://schemas.microsoft.com/office/drawing/2014/main" id="{A57DB13E-BE19-4CBB-884A-518F4A74F50A}"/>
              </a:ext>
            </a:extLst>
          </p:cNvPr>
          <p:cNvSpPr>
            <a:spLocks xmlns:a="http://schemas.openxmlformats.org/drawingml/2006/main" noGrp="1"/>
          </p:cNvSpPr>
          <p:nvPr/>
        </p:nvSpPr>
        <p:spPr>
          <a:xfrm xmlns:a="http://schemas.openxmlformats.org/drawingml/2006/main">
            <a:off x="4324350" y="3219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Embedding</a:t>
            </a:r>
          </a:p>
        </p:txBody>
      </p:sp>
      <p:sp>
        <p:nvSpPr>
          <p:cNvPr id="13" name="">
            <a:extLst xmlns:a="http://schemas.openxmlformats.org/drawingml/2006/main">
              <a:ext uri="{FF2B5EF4-FFF2-40B4-BE49-F238E27FC236}">
                <a16:creationId xmlns:a16="http://schemas.microsoft.com/office/drawing/2014/main" id="{15148525-6072-4303-8B0D-C5E03FE94E63}"/>
              </a:ext>
            </a:extLst>
          </p:cNvPr>
          <p:cNvSpPr>
            <a:spLocks xmlns:a="http://schemas.openxmlformats.org/drawingml/2006/main" noGrp="1"/>
          </p:cNvSpPr>
          <p:nvPr/>
        </p:nvSpPr>
        <p:spPr>
          <a:xfrm xmlns:a="http://schemas.openxmlformats.org/drawingml/2006/main">
            <a:off x="4324350" y="35052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[0.14, -0.03, ...]</a:t>
            </a:r>
          </a:p>
        </p:txBody>
      </p:sp>
      <p:sp>
        <p:nvSpPr>
          <p:cNvPr id="14" name="">
            <a:extLst xmlns:a="http://schemas.openxmlformats.org/drawingml/2006/main">
              <a:ext uri="{FF2B5EF4-FFF2-40B4-BE49-F238E27FC236}">
                <a16:creationId xmlns:a16="http://schemas.microsoft.com/office/drawing/2014/main" id="{FA4A8832-F8DE-4097-8E6C-4E5E84509D5A}"/>
              </a:ext>
            </a:extLst>
          </p:cNvPr>
          <p:cNvSpPr>
            <a:spLocks xmlns:a="http://schemas.openxmlformats.org/drawingml/2006/main" noGrp="1"/>
          </p:cNvSpPr>
          <p:nvPr/>
        </p:nvSpPr>
        <p:spPr>
          <a:xfrm xmlns:a="http://schemas.openxmlformats.org/drawingml/2006/main">
            <a:off x="7219950" y="3048000"/>
            <a:ext cx="1809750" cy="819150"/>
          </a:xfrm>
          <a:prstGeom xmlns:a="http://schemas.openxmlformats.org/drawingml/2006/main" prst="roundRect">
            <a:avLst>
              <a:gd name="adj" fmla="val 18605"/>
            </a:avLst>
          </a:prstGeom>
          <a:solidFill xmlns:a="http://schemas.openxmlformats.org/drawingml/2006/main">
            <a:srgbClr val="FBBF24">
              <a:alpha val="11000"/>
            </a:srgbClr>
          </a:solidFill>
          <a:ln xmlns:a="http://schemas.openxmlformats.org/drawingml/2006/main" w="11430">
            <a:solidFill>
              <a:srgbClr val="FBBF24">
                <a:alpha val="58000"/>
              </a:srgbClr>
            </a:solidFill>
            <a:prstDash val="solid"/>
          </a:ln>
        </p:spPr>
      </p:sp>
      <p:sp>
        <p:nvSpPr>
          <p:cNvPr id="15" name="">
            <a:extLst xmlns:a="http://schemas.openxmlformats.org/drawingml/2006/main">
              <a:ext uri="{FF2B5EF4-FFF2-40B4-BE49-F238E27FC236}">
                <a16:creationId xmlns:a16="http://schemas.microsoft.com/office/drawing/2014/main" id="{DEF13B26-7B4D-41E9-85FF-33F29968FFDE}"/>
              </a:ext>
            </a:extLst>
          </p:cNvPr>
          <p:cNvSpPr>
            <a:spLocks xmlns:a="http://schemas.openxmlformats.org/drawingml/2006/main" noGrp="1"/>
          </p:cNvSpPr>
          <p:nvPr/>
        </p:nvSpPr>
        <p:spPr>
          <a:xfrm xmlns:a="http://schemas.openxmlformats.org/drawingml/2006/main">
            <a:off x="7315200" y="32194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Hybrid Index</a:t>
            </a:r>
          </a:p>
        </p:txBody>
      </p:sp>
      <p:sp>
        <p:nvSpPr>
          <p:cNvPr id="16" name="">
            <a:extLst xmlns:a="http://schemas.openxmlformats.org/drawingml/2006/main">
              <a:ext uri="{FF2B5EF4-FFF2-40B4-BE49-F238E27FC236}">
                <a16:creationId xmlns:a16="http://schemas.microsoft.com/office/drawing/2014/main" id="{ED7D8848-FB25-4BA5-8EE8-0FC9A6C7E695}"/>
              </a:ext>
            </a:extLst>
          </p:cNvPr>
          <p:cNvSpPr>
            <a:spLocks xmlns:a="http://schemas.openxmlformats.org/drawingml/2006/main" noGrp="1"/>
          </p:cNvSpPr>
          <p:nvPr/>
        </p:nvSpPr>
        <p:spPr>
          <a:xfrm xmlns:a="http://schemas.openxmlformats.org/drawingml/2006/main">
            <a:off x="7315200" y="35052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keyword + vector</a:t>
            </a:r>
          </a:p>
        </p:txBody>
      </p:sp>
      <p:sp>
        <p:nvSpPr>
          <p:cNvPr id="17" name="">
            <a:extLst xmlns:a="http://schemas.openxmlformats.org/drawingml/2006/main">
              <a:ext uri="{FF2B5EF4-FFF2-40B4-BE49-F238E27FC236}">
                <a16:creationId xmlns:a16="http://schemas.microsoft.com/office/drawing/2014/main" id="{CB69ECF5-DE6C-4500-8767-C0A478008003}"/>
              </a:ext>
            </a:extLst>
          </p:cNvPr>
          <p:cNvSpPr>
            <a:spLocks xmlns:a="http://schemas.openxmlformats.org/drawingml/2006/main" noGrp="1"/>
          </p:cNvSpPr>
          <p:nvPr/>
        </p:nvSpPr>
        <p:spPr>
          <a:xfrm xmlns:a="http://schemas.openxmlformats.org/drawingml/2006/main">
            <a:off x="9810750" y="3048000"/>
            <a:ext cx="1619250" cy="819150"/>
          </a:xfrm>
          <a:prstGeom xmlns:a="http://schemas.openxmlformats.org/drawingml/2006/main" prst="roundRect">
            <a:avLst>
              <a:gd name="adj" fmla="val 18605"/>
            </a:avLst>
          </a:prstGeom>
          <a:solidFill xmlns:a="http://schemas.openxmlformats.org/drawingml/2006/main">
            <a:srgbClr val="A78BFA">
              <a:alpha val="11000"/>
            </a:srgbClr>
          </a:solidFill>
          <a:ln xmlns:a="http://schemas.openxmlformats.org/drawingml/2006/main" w="11430">
            <a:solidFill>
              <a:srgbClr val="A78BFA">
                <a:alpha val="58000"/>
              </a:srgbClr>
            </a:solidFill>
            <a:prstDash val="solid"/>
          </a:ln>
        </p:spPr>
      </p:sp>
      <p:sp>
        <p:nvSpPr>
          <p:cNvPr id="18" name="">
            <a:extLst xmlns:a="http://schemas.openxmlformats.org/drawingml/2006/main">
              <a:ext uri="{FF2B5EF4-FFF2-40B4-BE49-F238E27FC236}">
                <a16:creationId xmlns:a16="http://schemas.microsoft.com/office/drawing/2014/main" id="{12AE5137-1DE4-462D-A55E-BA7193034226}"/>
              </a:ext>
            </a:extLst>
          </p:cNvPr>
          <p:cNvSpPr>
            <a:spLocks xmlns:a="http://schemas.openxmlformats.org/drawingml/2006/main" noGrp="1"/>
          </p:cNvSpPr>
          <p:nvPr/>
        </p:nvSpPr>
        <p:spPr>
          <a:xfrm xmlns:a="http://schemas.openxmlformats.org/drawingml/2006/main">
            <a:off x="9906000" y="32194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Candidate Evidence</a:t>
            </a:r>
          </a:p>
        </p:txBody>
      </p:sp>
      <p:sp>
        <p:nvSpPr>
          <p:cNvPr id="19" name="">
            <a:extLst xmlns:a="http://schemas.openxmlformats.org/drawingml/2006/main">
              <a:ext uri="{FF2B5EF4-FFF2-40B4-BE49-F238E27FC236}">
                <a16:creationId xmlns:a16="http://schemas.microsoft.com/office/drawing/2014/main" id="{CEF37CEF-8B45-4D58-91E6-4553B4DB2B03}"/>
              </a:ext>
            </a:extLst>
          </p:cNvPr>
          <p:cNvSpPr>
            <a:spLocks xmlns:a="http://schemas.openxmlformats.org/drawingml/2006/main" noGrp="1"/>
          </p:cNvSpPr>
          <p:nvPr/>
        </p:nvSpPr>
        <p:spPr>
          <a:xfrm xmlns:a="http://schemas.openxmlformats.org/drawingml/2006/main">
            <a:off x="9906000" y="3505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Top Treffer</a:t>
            </a:r>
          </a:p>
        </p:txBody>
      </p:sp>
      <p:cxnSp>
        <p:nvCxnSpPr>
          <p:cNvPr id="43" name=""/>
          <p:cNvCxnSpPr>
            <a:stCxn xmlns:a="http://schemas.openxmlformats.org/drawingml/2006/main" id="8" idx="3"/>
            <a:endCxn xmlns:a="http://schemas.openxmlformats.org/drawingml/2006/main" id="11" idx="1"/>
          </p:cNvCxnSpPr>
          <p:nvPr/>
        </p:nvCxnSpPr>
        <p:spPr>
          <a:xfrm xmlns:a="http://schemas.openxmlformats.org/drawingml/2006/main">
            <a:off x="3048000" y="3457575"/>
            <a:ext cx="1181100" cy="0"/>
          </a:xfrm>
          <a:prstGeom xmlns:a="http://schemas.openxmlformats.org/drawingml/2006/main" prst="straightConnector1">
            <a:avLst/>
          </a:prstGeom>
          <a:ln xmlns:a="http://schemas.openxmlformats.org/drawingml/2006/main" w="19050">
            <a:solidFill>
              <a:srgbClr val="36E0F2">
                <a:alpha val="70000"/>
              </a:srgbClr>
            </a:solidFill>
            <a:prstDash val="solid"/>
            <a:headEnd type="arrow" w="sm" len="sm"/>
          </a:ln>
        </p:spPr>
      </p:cxnSp>
      <p:cxnSp>
        <p:nvCxnSpPr>
          <p:cNvPr id="44" name=""/>
          <p:cNvCxnSpPr>
            <a:stCxn xmlns:a="http://schemas.openxmlformats.org/drawingml/2006/main" id="11" idx="3"/>
            <a:endCxn xmlns:a="http://schemas.openxmlformats.org/drawingml/2006/main" id="14" idx="1"/>
          </p:cNvCxnSpPr>
          <p:nvPr/>
        </p:nvCxnSpPr>
        <p:spPr>
          <a:xfrm xmlns:a="http://schemas.openxmlformats.org/drawingml/2006/main">
            <a:off x="6038850" y="3457575"/>
            <a:ext cx="1181100" cy="0"/>
          </a:xfrm>
          <a:prstGeom xmlns:a="http://schemas.openxmlformats.org/drawingml/2006/main" prst="straightConnector1">
            <a:avLst/>
          </a:prstGeom>
          <a:ln xmlns:a="http://schemas.openxmlformats.org/drawingml/2006/main" w="19050">
            <a:solidFill>
              <a:srgbClr val="34D399">
                <a:alpha val="70000"/>
              </a:srgbClr>
            </a:solidFill>
            <a:prstDash val="solid"/>
            <a:headEnd type="arrow" w="sm" len="sm"/>
          </a:ln>
        </p:spPr>
      </p:cxnSp>
      <p:cxnSp>
        <p:nvCxnSpPr>
          <p:cNvPr id="45" name=""/>
          <p:cNvCxnSpPr>
            <a:stCxn xmlns:a="http://schemas.openxmlformats.org/drawingml/2006/main" id="14" idx="3"/>
            <a:endCxn xmlns:a="http://schemas.openxmlformats.org/drawingml/2006/main" id="17" idx="1"/>
          </p:cNvCxnSpPr>
          <p:nvPr/>
        </p:nvCxnSpPr>
        <p:spPr>
          <a:xfrm xmlns:a="http://schemas.openxmlformats.org/drawingml/2006/main">
            <a:off x="9029700" y="3457575"/>
            <a:ext cx="781050" cy="0"/>
          </a:xfrm>
          <a:prstGeom xmlns:a="http://schemas.openxmlformats.org/drawingml/2006/main" prst="straightConnector1">
            <a:avLst/>
          </a:prstGeom>
          <a:ln xmlns:a="http://schemas.openxmlformats.org/drawingml/2006/main" w="19050">
            <a:solidFill>
              <a:srgbClr val="FBBF24">
                <a:alpha val="70000"/>
              </a:srgbClr>
            </a:solidFill>
            <a:prstDash val="solid"/>
            <a:headEnd type="arrow" w="sm" len="sm"/>
          </a:ln>
        </p:spPr>
      </p:cxnSp>
      <p:sp>
        <p:nvSpPr>
          <p:cNvPr id="23" name="">
            <a:extLst xmlns:a="http://schemas.openxmlformats.org/drawingml/2006/main">
              <a:ext uri="{FF2B5EF4-FFF2-40B4-BE49-F238E27FC236}">
                <a16:creationId xmlns:a16="http://schemas.microsoft.com/office/drawing/2014/main" id="{0EFAEECA-94A8-4786-A8CF-64EEFA6C310A}"/>
              </a:ext>
            </a:extLst>
          </p:cNvPr>
          <p:cNvSpPr>
            <a:spLocks xmlns:a="http://schemas.openxmlformats.org/drawingml/2006/main" noGrp="1"/>
          </p:cNvSpPr>
          <p:nvPr/>
        </p:nvSpPr>
        <p:spPr>
          <a:xfrm xmlns:a="http://schemas.openxmlformats.org/drawingml/2006/main">
            <a:off x="2000250" y="4686300"/>
            <a:ext cx="819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725" b="1">
                <a:solidFill>
                  <a:srgbClr val="CBD5E1"/>
                </a:solidFill>
                <a:latin typeface="Aptos"/>
                <a:ea typeface="Aptos"/>
                <a:cs typeface="Aptos"/>
              </a:defRPr>
            </a:pPr>
            <a:r>
              <a:rPr sz="1725" b="1">
                <a:solidFill>
                  <a:srgbClr val="CBD5E1"/>
                </a:solidFill>
                <a:latin typeface="Aptos"/>
                <a:ea typeface="Aptos"/>
                <a:cs typeface="Aptos"/>
              </a:rPr>
              <a:t>Der lokale Vektorpfad ist deterministisch, damit Tests und Demos reproduzierbar bleiben.</a:t>
            </a:r>
          </a:p>
        </p:txBody>
      </p:sp>
    </p:spTree>
    <p:extLst>
      <p:ext uri="{BB962C8B-B14F-4D97-AF65-F5344CB8AC3E}">
        <p14:creationId xmlns:p14="http://schemas.microsoft.com/office/powerpoint/2010/main" val="1436489514"/>
      </p:ext>
    </p:extLst>
  </p:cSld>
</p:sld>
</file>

<file path=ppt/slides/slide13.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E1F6CC-3787-4FE2-8554-29B6618B64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65E97B-C15D-40C9-9FA6-71A83DF506D4}"/>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F8361C24-E695-4EE7-B81E-26495286C124}"/>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158D807D-6363-442E-9854-B6ACD2156841}"/>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13 / 22</a:t>
            </a:r>
          </a:p>
        </p:txBody>
      </p:sp>
      <p:sp>
        <p:nvSpPr>
          <p:cNvPr id="5" name="">
            <a:extLst xmlns:a="http://schemas.openxmlformats.org/drawingml/2006/main">
              <a:ext uri="{FF2B5EF4-FFF2-40B4-BE49-F238E27FC236}">
                <a16:creationId xmlns:a16="http://schemas.microsoft.com/office/drawing/2014/main" id="{877159A6-EDEC-4C62-B4D1-ADAD6BFAEC07}"/>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6DE9DF98-952E-4862-8512-6C9D9AF8AAC4}"/>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RETRIEVAL</a:t>
            </a:r>
          </a:p>
        </p:txBody>
      </p:sp>
      <p:sp>
        <p:nvSpPr>
          <p:cNvPr id="7" name="">
            <a:extLst xmlns:a="http://schemas.openxmlformats.org/drawingml/2006/main">
              <a:ext uri="{FF2B5EF4-FFF2-40B4-BE49-F238E27FC236}">
                <a16:creationId xmlns:a16="http://schemas.microsoft.com/office/drawing/2014/main" id="{10F550FE-A88E-4973-AFF3-F956149C41AD}"/>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RAG ist zuerst eine Auswahlmaschine</a:t>
            </a:r>
          </a:p>
        </p:txBody>
      </p:sp>
      <p:sp>
        <p:nvSpPr>
          <p:cNvPr id="8" name="">
            <a:extLst xmlns:a="http://schemas.openxmlformats.org/drawingml/2006/main">
              <a:ext uri="{FF2B5EF4-FFF2-40B4-BE49-F238E27FC236}">
                <a16:creationId xmlns:a16="http://schemas.microsoft.com/office/drawing/2014/main" id="{C3226BF2-CA8C-4C16-9949-083D0A03DDBA}"/>
              </a:ext>
            </a:extLst>
          </p:cNvPr>
          <p:cNvSpPr>
            <a:spLocks xmlns:a="http://schemas.openxmlformats.org/drawingml/2006/main" noGrp="1"/>
          </p:cNvSpPr>
          <p:nvPr/>
        </p:nvSpPr>
        <p:spPr>
          <a:xfrm xmlns:a="http://schemas.openxmlformats.org/drawingml/2006/main">
            <a:off x="1085850" y="2228850"/>
            <a:ext cx="3238500" cy="495300"/>
          </a:xfrm>
          <a:prstGeom xmlns:a="http://schemas.openxmlformats.org/drawingml/2006/main" prst="roundRect">
            <a:avLst>
              <a:gd name="adj" fmla="val 25000"/>
            </a:avLst>
          </a:prstGeom>
          <a:solidFill xmlns:a="http://schemas.openxmlformats.org/drawingml/2006/main">
            <a:srgbClr val="36E0F2">
              <a:alpha val="10000"/>
            </a:srgbClr>
          </a:solidFill>
          <a:ln xmlns:a="http://schemas.openxmlformats.org/drawingml/2006/main" w="9525">
            <a:solidFill>
              <a:srgbClr val="36E0F2">
                <a:alpha val="52000"/>
              </a:srgbClr>
            </a:solidFill>
            <a:prstDash val="solid"/>
          </a:ln>
        </p:spPr>
      </p:sp>
      <p:sp>
        <p:nvSpPr>
          <p:cNvPr id="9" name="">
            <a:extLst xmlns:a="http://schemas.openxmlformats.org/drawingml/2006/main">
              <a:ext uri="{FF2B5EF4-FFF2-40B4-BE49-F238E27FC236}">
                <a16:creationId xmlns:a16="http://schemas.microsoft.com/office/drawing/2014/main" id="{EC91B3BA-FF32-48AF-9692-7389A3920A3D}"/>
              </a:ext>
            </a:extLst>
          </p:cNvPr>
          <p:cNvSpPr>
            <a:spLocks xmlns:a="http://schemas.openxmlformats.org/drawingml/2006/main" noGrp="1"/>
          </p:cNvSpPr>
          <p:nvPr/>
        </p:nvSpPr>
        <p:spPr>
          <a:xfrm xmlns:a="http://schemas.openxmlformats.org/drawingml/2006/main">
            <a:off x="1314450" y="23526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425" b="1">
                <a:solidFill>
                  <a:srgbClr val="F8FAFC"/>
                </a:solidFill>
                <a:latin typeface="Aptos"/>
                <a:ea typeface="Aptos"/>
                <a:cs typeface="Aptos"/>
              </a:defRPr>
            </a:pPr>
            <a:r>
              <a:rPr sz="1425" b="1">
                <a:solidFill>
                  <a:srgbClr val="F8FAFC"/>
                </a:solidFill>
                <a:latin typeface="Aptos"/>
                <a:ea typeface="Aptos"/>
                <a:cs typeface="Aptos"/>
              </a:rPr>
              <a:t>Active Sources</a:t>
            </a:r>
          </a:p>
        </p:txBody>
      </p:sp>
      <p:sp>
        <p:nvSpPr>
          <p:cNvPr id="10" name="">
            <a:extLst xmlns:a="http://schemas.openxmlformats.org/drawingml/2006/main">
              <a:ext uri="{FF2B5EF4-FFF2-40B4-BE49-F238E27FC236}">
                <a16:creationId xmlns:a16="http://schemas.microsoft.com/office/drawing/2014/main" id="{7423AF3C-01D1-456B-AD0A-27B493A23E6B}"/>
              </a:ext>
            </a:extLst>
          </p:cNvPr>
          <p:cNvSpPr>
            <a:spLocks xmlns:a="http://schemas.openxmlformats.org/drawingml/2006/main" noGrp="1"/>
          </p:cNvSpPr>
          <p:nvPr/>
        </p:nvSpPr>
        <p:spPr>
          <a:xfrm xmlns:a="http://schemas.openxmlformats.org/drawingml/2006/main">
            <a:off x="3257550" y="237172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1050" b="1">
                <a:solidFill>
                  <a:srgbClr val="36E0F2"/>
                </a:solidFill>
                <a:latin typeface="Aptos"/>
                <a:ea typeface="Aptos"/>
                <a:cs typeface="Aptos"/>
              </a:defRPr>
            </a:pPr>
            <a:r>
              <a:rPr sz="1050" b="1">
                <a:solidFill>
                  <a:srgbClr val="36E0F2"/>
                </a:solidFill>
                <a:latin typeface="Aptos"/>
                <a:ea typeface="Aptos"/>
                <a:cs typeface="Aptos"/>
              </a:rPr>
              <a:t>Scope</a:t>
            </a:r>
          </a:p>
        </p:txBody>
      </p:sp>
      <p:sp>
        <p:nvSpPr>
          <p:cNvPr id="11" name="">
            <a:extLst xmlns:a="http://schemas.openxmlformats.org/drawingml/2006/main">
              <a:ext uri="{FF2B5EF4-FFF2-40B4-BE49-F238E27FC236}">
                <a16:creationId xmlns:a16="http://schemas.microsoft.com/office/drawing/2014/main" id="{55D24DF3-4299-42CF-97CC-F478BAE4C1A8}"/>
              </a:ext>
            </a:extLst>
          </p:cNvPr>
          <p:cNvSpPr>
            <a:spLocks xmlns:a="http://schemas.openxmlformats.org/drawingml/2006/main" noGrp="1"/>
          </p:cNvSpPr>
          <p:nvPr/>
        </p:nvSpPr>
        <p:spPr>
          <a:xfrm xmlns:a="http://schemas.openxmlformats.org/drawingml/2006/main">
            <a:off x="1085850" y="2933700"/>
            <a:ext cx="3238500" cy="495300"/>
          </a:xfrm>
          <a:prstGeom xmlns:a="http://schemas.openxmlformats.org/drawingml/2006/main" prst="roundRect">
            <a:avLst>
              <a:gd name="adj" fmla="val 25000"/>
            </a:avLst>
          </a:prstGeom>
          <a:solidFill xmlns:a="http://schemas.openxmlformats.org/drawingml/2006/main">
            <a:srgbClr val="34D399">
              <a:alpha val="10000"/>
            </a:srgbClr>
          </a:solidFill>
          <a:ln xmlns:a="http://schemas.openxmlformats.org/drawingml/2006/main" w="9525">
            <a:solidFill>
              <a:srgbClr val="34D399">
                <a:alpha val="52000"/>
              </a:srgbClr>
            </a:solidFill>
            <a:prstDash val="solid"/>
          </a:ln>
        </p:spPr>
      </p:sp>
      <p:sp>
        <p:nvSpPr>
          <p:cNvPr id="12" name="">
            <a:extLst xmlns:a="http://schemas.openxmlformats.org/drawingml/2006/main">
              <a:ext uri="{FF2B5EF4-FFF2-40B4-BE49-F238E27FC236}">
                <a16:creationId xmlns:a16="http://schemas.microsoft.com/office/drawing/2014/main" id="{9EF1D032-0CBC-4883-987F-F6EB4D34158C}"/>
              </a:ext>
            </a:extLst>
          </p:cNvPr>
          <p:cNvSpPr>
            <a:spLocks xmlns:a="http://schemas.openxmlformats.org/drawingml/2006/main" noGrp="1"/>
          </p:cNvSpPr>
          <p:nvPr/>
        </p:nvSpPr>
        <p:spPr>
          <a:xfrm xmlns:a="http://schemas.openxmlformats.org/drawingml/2006/main">
            <a:off x="1314450" y="30575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425" b="1">
                <a:solidFill>
                  <a:srgbClr val="F8FAFC"/>
                </a:solidFill>
                <a:latin typeface="Aptos"/>
                <a:ea typeface="Aptos"/>
                <a:cs typeface="Aptos"/>
              </a:defRPr>
            </a:pPr>
            <a:r>
              <a:rPr sz="1425" b="1">
                <a:solidFill>
                  <a:srgbClr val="F8FAFC"/>
                </a:solidFill>
                <a:latin typeface="Aptos"/>
                <a:ea typeface="Aptos"/>
                <a:cs typeface="Aptos"/>
              </a:rPr>
              <a:t>Query Intent</a:t>
            </a:r>
          </a:p>
        </p:txBody>
      </p:sp>
      <p:sp>
        <p:nvSpPr>
          <p:cNvPr id="13" name="">
            <a:extLst xmlns:a="http://schemas.openxmlformats.org/drawingml/2006/main">
              <a:ext uri="{FF2B5EF4-FFF2-40B4-BE49-F238E27FC236}">
                <a16:creationId xmlns:a16="http://schemas.microsoft.com/office/drawing/2014/main" id="{1F91F86D-3BA4-47FB-B48D-A6ACB16FCBEE}"/>
              </a:ext>
            </a:extLst>
          </p:cNvPr>
          <p:cNvSpPr>
            <a:spLocks xmlns:a="http://schemas.openxmlformats.org/drawingml/2006/main" noGrp="1"/>
          </p:cNvSpPr>
          <p:nvPr/>
        </p:nvSpPr>
        <p:spPr>
          <a:xfrm xmlns:a="http://schemas.openxmlformats.org/drawingml/2006/main">
            <a:off x="3257550" y="307657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1050" b="1">
                <a:solidFill>
                  <a:srgbClr val="34D399"/>
                </a:solidFill>
                <a:latin typeface="Aptos"/>
                <a:ea typeface="Aptos"/>
                <a:cs typeface="Aptos"/>
              </a:defRPr>
            </a:pPr>
            <a:r>
              <a:rPr sz="1050" b="1">
                <a:solidFill>
                  <a:srgbClr val="34D399"/>
                </a:solidFill>
                <a:latin typeface="Aptos"/>
                <a:ea typeface="Aptos"/>
                <a:cs typeface="Aptos"/>
              </a:rPr>
              <a:t>Plan</a:t>
            </a:r>
          </a:p>
        </p:txBody>
      </p:sp>
      <p:sp>
        <p:nvSpPr>
          <p:cNvPr id="14" name="">
            <a:extLst xmlns:a="http://schemas.openxmlformats.org/drawingml/2006/main">
              <a:ext uri="{FF2B5EF4-FFF2-40B4-BE49-F238E27FC236}">
                <a16:creationId xmlns:a16="http://schemas.microsoft.com/office/drawing/2014/main" id="{F14414FD-9F59-4D97-B4A8-632DBC79D669}"/>
              </a:ext>
            </a:extLst>
          </p:cNvPr>
          <p:cNvSpPr>
            <a:spLocks xmlns:a="http://schemas.openxmlformats.org/drawingml/2006/main" noGrp="1"/>
          </p:cNvSpPr>
          <p:nvPr/>
        </p:nvSpPr>
        <p:spPr>
          <a:xfrm xmlns:a="http://schemas.openxmlformats.org/drawingml/2006/main">
            <a:off x="1085850" y="3638550"/>
            <a:ext cx="3238500" cy="495300"/>
          </a:xfrm>
          <a:prstGeom xmlns:a="http://schemas.openxmlformats.org/drawingml/2006/main" prst="roundRect">
            <a:avLst>
              <a:gd name="adj" fmla="val 25000"/>
            </a:avLst>
          </a:prstGeom>
          <a:solidFill xmlns:a="http://schemas.openxmlformats.org/drawingml/2006/main">
            <a:srgbClr val="FBBF24">
              <a:alpha val="10000"/>
            </a:srgbClr>
          </a:solidFill>
          <a:ln xmlns:a="http://schemas.openxmlformats.org/drawingml/2006/main" w="9525">
            <a:solidFill>
              <a:srgbClr val="FBBF24">
                <a:alpha val="52000"/>
              </a:srgbClr>
            </a:solidFill>
            <a:prstDash val="solid"/>
          </a:ln>
        </p:spPr>
      </p:sp>
      <p:sp>
        <p:nvSpPr>
          <p:cNvPr id="15" name="">
            <a:extLst xmlns:a="http://schemas.openxmlformats.org/drawingml/2006/main">
              <a:ext uri="{FF2B5EF4-FFF2-40B4-BE49-F238E27FC236}">
                <a16:creationId xmlns:a16="http://schemas.microsoft.com/office/drawing/2014/main" id="{530ADB1D-54A2-4648-95BD-960BE5518620}"/>
              </a:ext>
            </a:extLst>
          </p:cNvPr>
          <p:cNvSpPr>
            <a:spLocks xmlns:a="http://schemas.openxmlformats.org/drawingml/2006/main" noGrp="1"/>
          </p:cNvSpPr>
          <p:nvPr/>
        </p:nvSpPr>
        <p:spPr>
          <a:xfrm xmlns:a="http://schemas.openxmlformats.org/drawingml/2006/main">
            <a:off x="1314450" y="37623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425" b="1">
                <a:solidFill>
                  <a:srgbClr val="F8FAFC"/>
                </a:solidFill>
                <a:latin typeface="Aptos"/>
                <a:ea typeface="Aptos"/>
                <a:cs typeface="Aptos"/>
              </a:defRPr>
            </a:pPr>
            <a:r>
              <a:rPr sz="1425" b="1">
                <a:solidFill>
                  <a:srgbClr val="F8FAFC"/>
                </a:solidFill>
                <a:latin typeface="Aptos"/>
                <a:ea typeface="Aptos"/>
                <a:cs typeface="Aptos"/>
              </a:rPr>
              <a:t>Keyword + Vector</a:t>
            </a:r>
          </a:p>
        </p:txBody>
      </p:sp>
      <p:sp>
        <p:nvSpPr>
          <p:cNvPr id="16" name="">
            <a:extLst xmlns:a="http://schemas.openxmlformats.org/drawingml/2006/main">
              <a:ext uri="{FF2B5EF4-FFF2-40B4-BE49-F238E27FC236}">
                <a16:creationId xmlns:a16="http://schemas.microsoft.com/office/drawing/2014/main" id="{7689598B-AFB5-41E0-AA01-BC0D952C1A13}"/>
              </a:ext>
            </a:extLst>
          </p:cNvPr>
          <p:cNvSpPr>
            <a:spLocks xmlns:a="http://schemas.openxmlformats.org/drawingml/2006/main" noGrp="1"/>
          </p:cNvSpPr>
          <p:nvPr/>
        </p:nvSpPr>
        <p:spPr>
          <a:xfrm xmlns:a="http://schemas.openxmlformats.org/drawingml/2006/main">
            <a:off x="3257550" y="378142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1050" b="1">
                <a:solidFill>
                  <a:srgbClr val="FBBF24"/>
                </a:solidFill>
                <a:latin typeface="Aptos"/>
                <a:ea typeface="Aptos"/>
                <a:cs typeface="Aptos"/>
              </a:defRPr>
            </a:pPr>
            <a:r>
              <a:rPr sz="1050" b="1">
                <a:solidFill>
                  <a:srgbClr val="FBBF24"/>
                </a:solidFill>
                <a:latin typeface="Aptos"/>
                <a:ea typeface="Aptos"/>
                <a:cs typeface="Aptos"/>
              </a:rPr>
              <a:t>Recall</a:t>
            </a:r>
          </a:p>
        </p:txBody>
      </p:sp>
      <p:sp>
        <p:nvSpPr>
          <p:cNvPr id="17" name="">
            <a:extLst xmlns:a="http://schemas.openxmlformats.org/drawingml/2006/main">
              <a:ext uri="{FF2B5EF4-FFF2-40B4-BE49-F238E27FC236}">
                <a16:creationId xmlns:a16="http://schemas.microsoft.com/office/drawing/2014/main" id="{BE4DF464-99B4-4F8B-848B-2A29FEA16425}"/>
              </a:ext>
            </a:extLst>
          </p:cNvPr>
          <p:cNvSpPr>
            <a:spLocks xmlns:a="http://schemas.openxmlformats.org/drawingml/2006/main" noGrp="1"/>
          </p:cNvSpPr>
          <p:nvPr/>
        </p:nvSpPr>
        <p:spPr>
          <a:xfrm xmlns:a="http://schemas.openxmlformats.org/drawingml/2006/main">
            <a:off x="1085850" y="4343400"/>
            <a:ext cx="3238500" cy="495300"/>
          </a:xfrm>
          <a:prstGeom xmlns:a="http://schemas.openxmlformats.org/drawingml/2006/main" prst="roundRect">
            <a:avLst>
              <a:gd name="adj" fmla="val 25000"/>
            </a:avLst>
          </a:prstGeom>
          <a:solidFill xmlns:a="http://schemas.openxmlformats.org/drawingml/2006/main">
            <a:srgbClr val="A78BFA">
              <a:alpha val="10000"/>
            </a:srgbClr>
          </a:solidFill>
          <a:ln xmlns:a="http://schemas.openxmlformats.org/drawingml/2006/main" w="9525">
            <a:solidFill>
              <a:srgbClr val="A78BFA">
                <a:alpha val="52000"/>
              </a:srgbClr>
            </a:solidFill>
            <a:prstDash val="solid"/>
          </a:ln>
        </p:spPr>
      </p:sp>
      <p:sp>
        <p:nvSpPr>
          <p:cNvPr id="18" name="">
            <a:extLst xmlns:a="http://schemas.openxmlformats.org/drawingml/2006/main">
              <a:ext uri="{FF2B5EF4-FFF2-40B4-BE49-F238E27FC236}">
                <a16:creationId xmlns:a16="http://schemas.microsoft.com/office/drawing/2014/main" id="{D1085045-8B0D-4817-B4C5-14C07B9E60FC}"/>
              </a:ext>
            </a:extLst>
          </p:cNvPr>
          <p:cNvSpPr>
            <a:spLocks xmlns:a="http://schemas.openxmlformats.org/drawingml/2006/main" noGrp="1"/>
          </p:cNvSpPr>
          <p:nvPr/>
        </p:nvSpPr>
        <p:spPr>
          <a:xfrm xmlns:a="http://schemas.openxmlformats.org/drawingml/2006/main">
            <a:off x="1314450" y="44672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425" b="1">
                <a:solidFill>
                  <a:srgbClr val="F8FAFC"/>
                </a:solidFill>
                <a:latin typeface="Aptos"/>
                <a:ea typeface="Aptos"/>
                <a:cs typeface="Aptos"/>
              </a:defRPr>
            </a:pPr>
            <a:r>
              <a:rPr sz="1425" b="1">
                <a:solidFill>
                  <a:srgbClr val="F8FAFC"/>
                </a:solidFill>
                <a:latin typeface="Aptos"/>
                <a:ea typeface="Aptos"/>
                <a:cs typeface="Aptos"/>
              </a:rPr>
              <a:t>Heading + Entity</a:t>
            </a:r>
          </a:p>
        </p:txBody>
      </p:sp>
      <p:sp>
        <p:nvSpPr>
          <p:cNvPr id="19" name="">
            <a:extLst xmlns:a="http://schemas.openxmlformats.org/drawingml/2006/main">
              <a:ext uri="{FF2B5EF4-FFF2-40B4-BE49-F238E27FC236}">
                <a16:creationId xmlns:a16="http://schemas.microsoft.com/office/drawing/2014/main" id="{F086498F-E39C-40F5-9408-D8365AAA7E67}"/>
              </a:ext>
            </a:extLst>
          </p:cNvPr>
          <p:cNvSpPr>
            <a:spLocks xmlns:a="http://schemas.openxmlformats.org/drawingml/2006/main" noGrp="1"/>
          </p:cNvSpPr>
          <p:nvPr/>
        </p:nvSpPr>
        <p:spPr>
          <a:xfrm xmlns:a="http://schemas.openxmlformats.org/drawingml/2006/main">
            <a:off x="3257550" y="4486275"/>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1050" b="1">
                <a:solidFill>
                  <a:srgbClr val="A78BFA"/>
                </a:solidFill>
                <a:latin typeface="Aptos"/>
                <a:ea typeface="Aptos"/>
                <a:cs typeface="Aptos"/>
              </a:defRPr>
            </a:pPr>
            <a:r>
              <a:rPr sz="1050" b="1">
                <a:solidFill>
                  <a:srgbClr val="A78BFA"/>
                </a:solidFill>
                <a:latin typeface="Aptos"/>
                <a:ea typeface="Aptos"/>
                <a:cs typeface="Aptos"/>
              </a:rPr>
              <a:t>Precision</a:t>
            </a:r>
          </a:p>
        </p:txBody>
      </p:sp>
      <p:sp>
        <p:nvSpPr>
          <p:cNvPr id="20" name="">
            <a:extLst xmlns:a="http://schemas.openxmlformats.org/drawingml/2006/main">
              <a:ext uri="{FF2B5EF4-FFF2-40B4-BE49-F238E27FC236}">
                <a16:creationId xmlns:a16="http://schemas.microsoft.com/office/drawing/2014/main" id="{2AA580FC-B746-4332-8663-EDBBB42EB5BA}"/>
              </a:ext>
            </a:extLst>
          </p:cNvPr>
          <p:cNvSpPr>
            <a:spLocks xmlns:a="http://schemas.openxmlformats.org/drawingml/2006/main" noGrp="1"/>
          </p:cNvSpPr>
          <p:nvPr/>
        </p:nvSpPr>
        <p:spPr>
          <a:xfrm xmlns:a="http://schemas.openxmlformats.org/drawingml/2006/main">
            <a:off x="6477000" y="2590800"/>
            <a:ext cx="3905250" cy="2152650"/>
          </a:xfrm>
          <a:prstGeom xmlns:a="http://schemas.openxmlformats.org/drawingml/2006/main" prst="roundRect">
            <a:avLst>
              <a:gd name="adj" fmla="val 7965"/>
            </a:avLst>
          </a:prstGeom>
          <a:solidFill xmlns:a="http://schemas.openxmlformats.org/drawingml/2006/main">
            <a:srgbClr val="34D399">
              <a:alpha val="10000"/>
            </a:srgbClr>
          </a:solidFill>
          <a:ln xmlns:a="http://schemas.openxmlformats.org/drawingml/2006/main" w="11430">
            <a:solidFill>
              <a:srgbClr val="34D399">
                <a:alpha val="55000"/>
              </a:srgbClr>
            </a:solidFill>
            <a:prstDash val="solid"/>
          </a:ln>
        </p:spPr>
      </p:sp>
      <p:sp>
        <p:nvSpPr>
          <p:cNvPr id="21" name="">
            <a:extLst xmlns:a="http://schemas.openxmlformats.org/drawingml/2006/main">
              <a:ext uri="{FF2B5EF4-FFF2-40B4-BE49-F238E27FC236}">
                <a16:creationId xmlns:a16="http://schemas.microsoft.com/office/drawing/2014/main" id="{D04A2B8F-1CFC-4F0C-B84B-5123CF1C9E80}"/>
              </a:ext>
            </a:extLst>
          </p:cNvPr>
          <p:cNvSpPr>
            <a:spLocks xmlns:a="http://schemas.openxmlformats.org/drawingml/2006/main" noGrp="1"/>
          </p:cNvSpPr>
          <p:nvPr/>
        </p:nvSpPr>
        <p:spPr>
          <a:xfrm xmlns:a="http://schemas.openxmlformats.org/drawingml/2006/main">
            <a:off x="6905625" y="3028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700" b="1">
                <a:solidFill>
                  <a:srgbClr val="F8FAFC"/>
                </a:solidFill>
                <a:latin typeface="Aptos"/>
                <a:ea typeface="Aptos"/>
                <a:cs typeface="Aptos"/>
              </a:defRPr>
            </a:pPr>
            <a:r>
              <a:rPr sz="2700" b="1">
                <a:solidFill>
                  <a:srgbClr val="F8FAFC"/>
                </a:solidFill>
                <a:latin typeface="Aptos"/>
                <a:ea typeface="Aptos"/>
                <a:cs typeface="Aptos"/>
              </a:rPr>
              <a:t>Evidence Pack</a:t>
            </a:r>
          </a:p>
        </p:txBody>
      </p:sp>
      <p:sp>
        <p:nvSpPr>
          <p:cNvPr id="22" name="">
            <a:extLst xmlns:a="http://schemas.openxmlformats.org/drawingml/2006/main">
              <a:ext uri="{FF2B5EF4-FFF2-40B4-BE49-F238E27FC236}">
                <a16:creationId xmlns:a16="http://schemas.microsoft.com/office/drawing/2014/main" id="{93682E42-8353-4E35-9B2B-B2AB291A2A03}"/>
              </a:ext>
            </a:extLst>
          </p:cNvPr>
          <p:cNvSpPr>
            <a:spLocks xmlns:a="http://schemas.openxmlformats.org/drawingml/2006/main" noGrp="1"/>
          </p:cNvSpPr>
          <p:nvPr/>
        </p:nvSpPr>
        <p:spPr>
          <a:xfrm xmlns:a="http://schemas.openxmlformats.org/drawingml/2006/main">
            <a:off x="6896100" y="3638550"/>
            <a:ext cx="3067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15000"/>
              </a:lnSpc>
              <a:buNone/>
              <a:defRPr sz="1425" b="0">
                <a:solidFill>
                  <a:srgbClr val="CBD5E1"/>
                </a:solidFill>
                <a:latin typeface="Aptos"/>
                <a:ea typeface="Aptos"/>
                <a:cs typeface="Aptos"/>
              </a:defRPr>
            </a:pPr>
            <a:r>
              <a:rPr sz="1425" b="0">
                <a:solidFill>
                  <a:srgbClr val="CBD5E1"/>
                </a:solidFill>
                <a:latin typeface="Aptos"/>
                <a:ea typeface="Aptos"/>
                <a:cs typeface="Aptos"/>
              </a:rPr>
              <a:t>Die Ausgabe von Retrieval ist noch keine Antwort,</a:t>
            </a:r>
          </a:p>
          <a:p xmlns:a="http://schemas.openxmlformats.org/drawingml/2006/main">
            <a:pPr algn="ctr">
              <a:lnSpc>
                <a:spcPct val="115000"/>
              </a:lnSpc>
              <a:buNone/>
              <a:defRPr sz="1425" b="0">
                <a:solidFill>
                  <a:srgbClr val="CBD5E1"/>
                </a:solidFill>
                <a:latin typeface="Aptos"/>
                <a:ea typeface="Aptos"/>
                <a:cs typeface="Aptos"/>
              </a:defRPr>
            </a:pPr>
            <a:r>
              <a:rPr sz="1425" b="0">
                <a:solidFill>
                  <a:srgbClr val="CBD5E1"/>
                </a:solidFill>
                <a:latin typeface="Aptos"/>
                <a:ea typeface="Aptos"/>
                <a:cs typeface="Aptos"/>
              </a:rPr>
              <a:t>sondern die belegbare Grundlage dafür.</a:t>
            </a:r>
          </a:p>
        </p:txBody>
      </p:sp>
      <p:sp>
        <p:nvSpPr>
          <p:cNvPr id="23" name="">
            <a:extLst xmlns:a="http://schemas.openxmlformats.org/drawingml/2006/main">
              <a:ext uri="{FF2B5EF4-FFF2-40B4-BE49-F238E27FC236}">
                <a16:creationId xmlns:a16="http://schemas.microsoft.com/office/drawing/2014/main" id="{7CDE0EE5-04A4-4BBC-B723-7793F52D7C9C}"/>
              </a:ext>
            </a:extLst>
          </p:cNvPr>
          <p:cNvSpPr>
            <a:spLocks xmlns:a="http://schemas.openxmlformats.org/drawingml/2006/main" noGrp="1"/>
          </p:cNvSpPr>
          <p:nvPr/>
        </p:nvSpPr>
        <p:spPr>
          <a:xfrm xmlns:a="http://schemas.openxmlformats.org/drawingml/2006/main">
            <a:off x="4667250" y="24003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4" name=""/>
          <p:cNvCxnSpPr>
            <a:stCxn xmlns:a="http://schemas.openxmlformats.org/drawingml/2006/main" id="23" idx="6"/>
            <a:endCxn xmlns:a="http://schemas.openxmlformats.org/drawingml/2006/main" id="20" idx="1"/>
          </p:cNvCxnSpPr>
          <p:nvPr/>
        </p:nvCxnSpPr>
        <p:spPr>
          <a:xfrm xmlns:a="http://schemas.openxmlformats.org/drawingml/2006/main">
            <a:off x="4762500" y="2447925"/>
            <a:ext cx="1714500" cy="121920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5" name="">
            <a:extLst xmlns:a="http://schemas.openxmlformats.org/drawingml/2006/main">
              <a:ext uri="{FF2B5EF4-FFF2-40B4-BE49-F238E27FC236}">
                <a16:creationId xmlns:a16="http://schemas.microsoft.com/office/drawing/2014/main" id="{F4F3B8EB-008B-4473-A0D5-F4A40A05DF40}"/>
              </a:ext>
            </a:extLst>
          </p:cNvPr>
          <p:cNvSpPr>
            <a:spLocks xmlns:a="http://schemas.openxmlformats.org/drawingml/2006/main" noGrp="1"/>
          </p:cNvSpPr>
          <p:nvPr/>
        </p:nvSpPr>
        <p:spPr>
          <a:xfrm xmlns:a="http://schemas.openxmlformats.org/drawingml/2006/main">
            <a:off x="4667250" y="310515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6" name=""/>
          <p:cNvCxnSpPr>
            <a:stCxn xmlns:a="http://schemas.openxmlformats.org/drawingml/2006/main" id="25" idx="6"/>
            <a:endCxn xmlns:a="http://schemas.openxmlformats.org/drawingml/2006/main" id="20" idx="1"/>
          </p:cNvCxnSpPr>
          <p:nvPr/>
        </p:nvCxnSpPr>
        <p:spPr>
          <a:xfrm xmlns:a="http://schemas.openxmlformats.org/drawingml/2006/main">
            <a:off x="4762500" y="3152775"/>
            <a:ext cx="1714500" cy="51435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7" name="">
            <a:extLst xmlns:a="http://schemas.openxmlformats.org/drawingml/2006/main">
              <a:ext uri="{FF2B5EF4-FFF2-40B4-BE49-F238E27FC236}">
                <a16:creationId xmlns:a16="http://schemas.microsoft.com/office/drawing/2014/main" id="{A03916B1-F68F-4133-A0F8-7F10AE6C5E24}"/>
              </a:ext>
            </a:extLst>
          </p:cNvPr>
          <p:cNvSpPr>
            <a:spLocks xmlns:a="http://schemas.openxmlformats.org/drawingml/2006/main" noGrp="1"/>
          </p:cNvSpPr>
          <p:nvPr/>
        </p:nvSpPr>
        <p:spPr>
          <a:xfrm xmlns:a="http://schemas.openxmlformats.org/drawingml/2006/main">
            <a:off x="4667250" y="38100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8" name=""/>
          <p:cNvCxnSpPr>
            <a:stCxn xmlns:a="http://schemas.openxmlformats.org/drawingml/2006/main" id="27" idx="6"/>
            <a:endCxn xmlns:a="http://schemas.openxmlformats.org/drawingml/2006/main" id="20" idx="1"/>
          </p:cNvCxnSpPr>
          <p:nvPr/>
        </p:nvCxnSpPr>
        <p:spPr>
          <a:xfrm xmlns:a="http://schemas.openxmlformats.org/drawingml/2006/main" flipV="1">
            <a:off x="4762500" y="3667125"/>
            <a:ext cx="1714500" cy="19050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9" name="">
            <a:extLst xmlns:a="http://schemas.openxmlformats.org/drawingml/2006/main">
              <a:ext uri="{FF2B5EF4-FFF2-40B4-BE49-F238E27FC236}">
                <a16:creationId xmlns:a16="http://schemas.microsoft.com/office/drawing/2014/main" id="{D6B3BA4E-624C-4316-B4E7-7CEA65B84240}"/>
              </a:ext>
            </a:extLst>
          </p:cNvPr>
          <p:cNvSpPr>
            <a:spLocks xmlns:a="http://schemas.openxmlformats.org/drawingml/2006/main" noGrp="1"/>
          </p:cNvSpPr>
          <p:nvPr/>
        </p:nvSpPr>
        <p:spPr>
          <a:xfrm xmlns:a="http://schemas.openxmlformats.org/drawingml/2006/main">
            <a:off x="4667250" y="451485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60" name=""/>
          <p:cNvCxnSpPr>
            <a:stCxn xmlns:a="http://schemas.openxmlformats.org/drawingml/2006/main" id="29" idx="6"/>
            <a:endCxn xmlns:a="http://schemas.openxmlformats.org/drawingml/2006/main" id="20" idx="1"/>
          </p:cNvCxnSpPr>
          <p:nvPr/>
        </p:nvCxnSpPr>
        <p:spPr>
          <a:xfrm xmlns:a="http://schemas.openxmlformats.org/drawingml/2006/main" flipV="1">
            <a:off x="4762500" y="3667125"/>
            <a:ext cx="1714500" cy="89535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Tree>
    <p:extLst>
      <p:ext uri="{BB962C8B-B14F-4D97-AF65-F5344CB8AC3E}">
        <p14:creationId xmlns:p14="http://schemas.microsoft.com/office/powerpoint/2010/main" val="921556980"/>
      </p:ext>
    </p:extLst>
  </p:cSld>
</p:sld>
</file>

<file path=ppt/slides/slide14.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24DDD3-B099-4B60-A22A-3BA2D2620E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BD016E-EE94-4F5D-B49E-5F2E64CEA49D}"/>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98518EF3-A963-4B8C-AE2E-23E31CAC527F}"/>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9084B531-E2EB-44EF-BDA3-9AB86D1763A7}"/>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14 / 22</a:t>
            </a:r>
          </a:p>
        </p:txBody>
      </p:sp>
      <p:sp>
        <p:nvSpPr>
          <p:cNvPr id="5" name="">
            <a:extLst xmlns:a="http://schemas.openxmlformats.org/drawingml/2006/main">
              <a:ext uri="{FF2B5EF4-FFF2-40B4-BE49-F238E27FC236}">
                <a16:creationId xmlns:a16="http://schemas.microsoft.com/office/drawing/2014/main" id="{98A90F58-0A42-4FDF-9743-F33EB001C2A2}"/>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64B54604-1E78-4C19-82B4-3EA22529282A}"/>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GROUNDING</a:t>
            </a:r>
          </a:p>
        </p:txBody>
      </p:sp>
      <p:sp>
        <p:nvSpPr>
          <p:cNvPr id="7" name="">
            <a:extLst xmlns:a="http://schemas.openxmlformats.org/drawingml/2006/main">
              <a:ext uri="{FF2B5EF4-FFF2-40B4-BE49-F238E27FC236}">
                <a16:creationId xmlns:a16="http://schemas.microsoft.com/office/drawing/2014/main" id="{108AD9F4-C019-42D4-B3BC-1BD97A017168}"/>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Das Evidence Pack ist der Vertrag mit dem Modell</a:t>
            </a:r>
          </a:p>
        </p:txBody>
      </p:sp>
      <p:sp>
        <p:nvSpPr>
          <p:cNvPr id="8" name="">
            <a:extLst xmlns:a="http://schemas.openxmlformats.org/drawingml/2006/main">
              <a:ext uri="{FF2B5EF4-FFF2-40B4-BE49-F238E27FC236}">
                <a16:creationId xmlns:a16="http://schemas.microsoft.com/office/drawing/2014/main" id="{58C8F043-9F44-49AD-A285-311A5D34131E}"/>
              </a:ext>
            </a:extLst>
          </p:cNvPr>
          <p:cNvSpPr>
            <a:spLocks xmlns:a="http://schemas.openxmlformats.org/drawingml/2006/main" noGrp="1"/>
          </p:cNvSpPr>
          <p:nvPr/>
        </p:nvSpPr>
        <p:spPr>
          <a:xfrm xmlns:a="http://schemas.openxmlformats.org/drawingml/2006/main">
            <a:off x="952500" y="2238375"/>
            <a:ext cx="6191250" cy="723900"/>
          </a:xfrm>
          <a:prstGeom xmlns:a="http://schemas.openxmlformats.org/drawingml/2006/main" prst="roundRect">
            <a:avLst>
              <a:gd name="adj" fmla="val 18421"/>
            </a:avLst>
          </a:prstGeom>
          <a:solidFill xmlns:a="http://schemas.openxmlformats.org/drawingml/2006/main">
            <a:srgbClr val="36E0F2">
              <a:alpha val="10000"/>
            </a:srgbClr>
          </a:solidFill>
          <a:ln xmlns:a="http://schemas.openxmlformats.org/drawingml/2006/main" w="9525">
            <a:solidFill>
              <a:srgbClr val="36E0F2">
                <a:alpha val="55000"/>
              </a:srgbClr>
            </a:solidFill>
            <a:prstDash val="solid"/>
          </a:ln>
        </p:spPr>
      </p:sp>
      <p:sp>
        <p:nvSpPr>
          <p:cNvPr id="9" name="">
            <a:extLst xmlns:a="http://schemas.openxmlformats.org/drawingml/2006/main">
              <a:ext uri="{FF2B5EF4-FFF2-40B4-BE49-F238E27FC236}">
                <a16:creationId xmlns:a16="http://schemas.microsoft.com/office/drawing/2014/main" id="{9AF4A2FC-B844-46C9-85B2-A5B26BDB9B3B}"/>
              </a:ext>
            </a:extLst>
          </p:cNvPr>
          <p:cNvSpPr>
            <a:spLocks xmlns:a="http://schemas.openxmlformats.org/drawingml/2006/main" noGrp="1"/>
          </p:cNvSpPr>
          <p:nvPr/>
        </p:nvSpPr>
        <p:spPr>
          <a:xfrm xmlns:a="http://schemas.openxmlformats.org/drawingml/2006/main">
            <a:off x="1190625" y="24288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75" b="1">
                <a:solidFill>
                  <a:srgbClr val="36E0F2"/>
                </a:solidFill>
                <a:latin typeface="Aptos Mono"/>
                <a:ea typeface="Aptos Mono"/>
                <a:cs typeface="Aptos Mono"/>
              </a:defRPr>
            </a:pPr>
            <a:r>
              <a:rPr sz="1875" b="1">
                <a:solidFill>
                  <a:srgbClr val="36E0F2"/>
                </a:solidFill>
                <a:latin typeface="Aptos Mono"/>
                <a:ea typeface="Aptos Mono"/>
                <a:cs typeface="Aptos Mono"/>
              </a:rPr>
              <a:t>E1</a:t>
            </a:r>
          </a:p>
        </p:txBody>
      </p:sp>
      <p:sp>
        <p:nvSpPr>
          <p:cNvPr id="10" name="">
            <a:extLst xmlns:a="http://schemas.openxmlformats.org/drawingml/2006/main">
              <a:ext uri="{FF2B5EF4-FFF2-40B4-BE49-F238E27FC236}">
                <a16:creationId xmlns:a16="http://schemas.microsoft.com/office/drawing/2014/main" id="{E34515CA-DDFB-4179-A27D-7AF41473CE77}"/>
              </a:ext>
            </a:extLst>
          </p:cNvPr>
          <p:cNvSpPr>
            <a:spLocks xmlns:a="http://schemas.openxmlformats.org/drawingml/2006/main" noGrp="1"/>
          </p:cNvSpPr>
          <p:nvPr/>
        </p:nvSpPr>
        <p:spPr>
          <a:xfrm xmlns:a="http://schemas.openxmlformats.org/drawingml/2006/main">
            <a:off x="2047875" y="23907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1">
                <a:solidFill>
                  <a:srgbClr val="F8FAFC"/>
                </a:solidFill>
                <a:latin typeface="Aptos"/>
                <a:ea typeface="Aptos"/>
                <a:cs typeface="Aptos"/>
              </a:defRPr>
            </a:pPr>
            <a:r>
              <a:rPr sz="1500" b="1">
                <a:solidFill>
                  <a:srgbClr val="F8FAFC"/>
                </a:solidFill>
                <a:latin typeface="Aptos"/>
                <a:ea typeface="Aptos"/>
                <a:cs typeface="Aptos"/>
              </a:rPr>
              <a:t>quote</a:t>
            </a:r>
          </a:p>
        </p:txBody>
      </p:sp>
      <p:sp>
        <p:nvSpPr>
          <p:cNvPr id="11" name="">
            <a:extLst xmlns:a="http://schemas.openxmlformats.org/drawingml/2006/main">
              <a:ext uri="{FF2B5EF4-FFF2-40B4-BE49-F238E27FC236}">
                <a16:creationId xmlns:a16="http://schemas.microsoft.com/office/drawing/2014/main" id="{E84EEA0D-32CD-4081-8EF2-E5C820637E74}"/>
              </a:ext>
            </a:extLst>
          </p:cNvPr>
          <p:cNvSpPr>
            <a:spLocks xmlns:a="http://schemas.openxmlformats.org/drawingml/2006/main" noGrp="1"/>
          </p:cNvSpPr>
          <p:nvPr/>
        </p:nvSpPr>
        <p:spPr>
          <a:xfrm xmlns:a="http://schemas.openxmlformats.org/drawingml/2006/main">
            <a:off x="2047875" y="2667000"/>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050" b="0">
                <a:solidFill>
                  <a:srgbClr val="7E8AA2"/>
                </a:solidFill>
                <a:latin typeface="Aptos"/>
                <a:ea typeface="Aptos"/>
                <a:cs typeface="Aptos"/>
              </a:defRPr>
            </a:pPr>
            <a:r>
              <a:rPr sz="1050" b="0">
                <a:solidFill>
                  <a:srgbClr val="7E8AA2"/>
                </a:solidFill>
                <a:latin typeface="Aptos"/>
                <a:ea typeface="Aptos"/>
                <a:cs typeface="Aptos"/>
              </a:rPr>
              <a:t>SourceBlock: architecture_notes / block_14</a:t>
            </a:r>
          </a:p>
        </p:txBody>
      </p:sp>
      <p:sp>
        <p:nvSpPr>
          <p:cNvPr id="12" name="">
            <a:extLst xmlns:a="http://schemas.openxmlformats.org/drawingml/2006/main">
              <a:ext uri="{FF2B5EF4-FFF2-40B4-BE49-F238E27FC236}">
                <a16:creationId xmlns:a16="http://schemas.microsoft.com/office/drawing/2014/main" id="{E72F3C4A-773E-4171-9AA5-E2B09FD10977}"/>
              </a:ext>
            </a:extLst>
          </p:cNvPr>
          <p:cNvSpPr>
            <a:spLocks xmlns:a="http://schemas.openxmlformats.org/drawingml/2006/main" noGrp="1"/>
          </p:cNvSpPr>
          <p:nvPr/>
        </p:nvSpPr>
        <p:spPr>
          <a:xfrm xmlns:a="http://schemas.openxmlformats.org/drawingml/2006/main">
            <a:off x="952500" y="3190875"/>
            <a:ext cx="6191250" cy="723900"/>
          </a:xfrm>
          <a:prstGeom xmlns:a="http://schemas.openxmlformats.org/drawingml/2006/main" prst="roundRect">
            <a:avLst>
              <a:gd name="adj" fmla="val 18421"/>
            </a:avLst>
          </a:prstGeom>
          <a:solidFill xmlns:a="http://schemas.openxmlformats.org/drawingml/2006/main">
            <a:srgbClr val="34D399">
              <a:alpha val="10000"/>
            </a:srgbClr>
          </a:solidFill>
          <a:ln xmlns:a="http://schemas.openxmlformats.org/drawingml/2006/main" w="9525">
            <a:solidFill>
              <a:srgbClr val="34D399">
                <a:alpha val="55000"/>
              </a:srgbClr>
            </a:solidFill>
            <a:prstDash val="solid"/>
          </a:ln>
        </p:spPr>
      </p:sp>
      <p:sp>
        <p:nvSpPr>
          <p:cNvPr id="13" name="">
            <a:extLst xmlns:a="http://schemas.openxmlformats.org/drawingml/2006/main">
              <a:ext uri="{FF2B5EF4-FFF2-40B4-BE49-F238E27FC236}">
                <a16:creationId xmlns:a16="http://schemas.microsoft.com/office/drawing/2014/main" id="{4AA31BAE-6715-4318-8876-BE2C672C2DCB}"/>
              </a:ext>
            </a:extLst>
          </p:cNvPr>
          <p:cNvSpPr>
            <a:spLocks xmlns:a="http://schemas.openxmlformats.org/drawingml/2006/main" noGrp="1"/>
          </p:cNvSpPr>
          <p:nvPr/>
        </p:nvSpPr>
        <p:spPr>
          <a:xfrm xmlns:a="http://schemas.openxmlformats.org/drawingml/2006/main">
            <a:off x="1190625" y="33813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75" b="1">
                <a:solidFill>
                  <a:srgbClr val="34D399"/>
                </a:solidFill>
                <a:latin typeface="Aptos Mono"/>
                <a:ea typeface="Aptos Mono"/>
                <a:cs typeface="Aptos Mono"/>
              </a:defRPr>
            </a:pPr>
            <a:r>
              <a:rPr sz="1875" b="1">
                <a:solidFill>
                  <a:srgbClr val="34D399"/>
                </a:solidFill>
                <a:latin typeface="Aptos Mono"/>
                <a:ea typeface="Aptos Mono"/>
                <a:cs typeface="Aptos Mono"/>
              </a:rPr>
              <a:t>E2</a:t>
            </a:r>
          </a:p>
        </p:txBody>
      </p:sp>
      <p:sp>
        <p:nvSpPr>
          <p:cNvPr id="14" name="">
            <a:extLst xmlns:a="http://schemas.openxmlformats.org/drawingml/2006/main">
              <a:ext uri="{FF2B5EF4-FFF2-40B4-BE49-F238E27FC236}">
                <a16:creationId xmlns:a16="http://schemas.microsoft.com/office/drawing/2014/main" id="{2C50B3F5-B81B-4BF0-A482-063017D7A08C}"/>
              </a:ext>
            </a:extLst>
          </p:cNvPr>
          <p:cNvSpPr>
            <a:spLocks xmlns:a="http://schemas.openxmlformats.org/drawingml/2006/main" noGrp="1"/>
          </p:cNvSpPr>
          <p:nvPr/>
        </p:nvSpPr>
        <p:spPr>
          <a:xfrm xmlns:a="http://schemas.openxmlformats.org/drawingml/2006/main">
            <a:off x="2047875" y="33432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1">
                <a:solidFill>
                  <a:srgbClr val="F8FAFC"/>
                </a:solidFill>
                <a:latin typeface="Aptos"/>
                <a:ea typeface="Aptos"/>
                <a:cs typeface="Aptos"/>
              </a:defRPr>
            </a:pPr>
            <a:r>
              <a:rPr sz="1500" b="1">
                <a:solidFill>
                  <a:srgbClr val="F8FAFC"/>
                </a:solidFill>
                <a:latin typeface="Aptos"/>
                <a:ea typeface="Aptos"/>
                <a:cs typeface="Aptos"/>
              </a:rPr>
              <a:t>constraint</a:t>
            </a:r>
          </a:p>
        </p:txBody>
      </p:sp>
      <p:sp>
        <p:nvSpPr>
          <p:cNvPr id="15" name="">
            <a:extLst xmlns:a="http://schemas.openxmlformats.org/drawingml/2006/main">
              <a:ext uri="{FF2B5EF4-FFF2-40B4-BE49-F238E27FC236}">
                <a16:creationId xmlns:a16="http://schemas.microsoft.com/office/drawing/2014/main" id="{F1F1D3F2-3FD3-4436-B3F8-6F953359D963}"/>
              </a:ext>
            </a:extLst>
          </p:cNvPr>
          <p:cNvSpPr>
            <a:spLocks xmlns:a="http://schemas.openxmlformats.org/drawingml/2006/main" noGrp="1"/>
          </p:cNvSpPr>
          <p:nvPr/>
        </p:nvSpPr>
        <p:spPr>
          <a:xfrm xmlns:a="http://schemas.openxmlformats.org/drawingml/2006/main">
            <a:off x="2047875" y="3619500"/>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050" b="0">
                <a:solidFill>
                  <a:srgbClr val="7E8AA2"/>
                </a:solidFill>
                <a:latin typeface="Aptos"/>
                <a:ea typeface="Aptos"/>
                <a:cs typeface="Aptos"/>
              </a:defRPr>
            </a:pPr>
            <a:r>
              <a:rPr sz="1050" b="0">
                <a:solidFill>
                  <a:srgbClr val="7E8AA2"/>
                </a:solidFill>
                <a:latin typeface="Aptos"/>
                <a:ea typeface="Aptos"/>
                <a:cs typeface="Aptos"/>
              </a:rPr>
              <a:t>Only answer from active sources</a:t>
            </a:r>
          </a:p>
        </p:txBody>
      </p:sp>
      <p:sp>
        <p:nvSpPr>
          <p:cNvPr id="16" name="">
            <a:extLst xmlns:a="http://schemas.openxmlformats.org/drawingml/2006/main">
              <a:ext uri="{FF2B5EF4-FFF2-40B4-BE49-F238E27FC236}">
                <a16:creationId xmlns:a16="http://schemas.microsoft.com/office/drawing/2014/main" id="{55F85751-E218-4BE0-A627-9E0072D715D8}"/>
              </a:ext>
            </a:extLst>
          </p:cNvPr>
          <p:cNvSpPr>
            <a:spLocks xmlns:a="http://schemas.openxmlformats.org/drawingml/2006/main" noGrp="1"/>
          </p:cNvSpPr>
          <p:nvPr/>
        </p:nvSpPr>
        <p:spPr>
          <a:xfrm xmlns:a="http://schemas.openxmlformats.org/drawingml/2006/main">
            <a:off x="952500" y="4143375"/>
            <a:ext cx="6191250" cy="723900"/>
          </a:xfrm>
          <a:prstGeom xmlns:a="http://schemas.openxmlformats.org/drawingml/2006/main" prst="roundRect">
            <a:avLst>
              <a:gd name="adj" fmla="val 18421"/>
            </a:avLst>
          </a:prstGeom>
          <a:solidFill xmlns:a="http://schemas.openxmlformats.org/drawingml/2006/main">
            <a:srgbClr val="FBBF24">
              <a:alpha val="10000"/>
            </a:srgbClr>
          </a:solidFill>
          <a:ln xmlns:a="http://schemas.openxmlformats.org/drawingml/2006/main" w="9525">
            <a:solidFill>
              <a:srgbClr val="FBBF24">
                <a:alpha val="55000"/>
              </a:srgbClr>
            </a:solidFill>
            <a:prstDash val="solid"/>
          </a:ln>
        </p:spPr>
      </p:sp>
      <p:sp>
        <p:nvSpPr>
          <p:cNvPr id="17" name="">
            <a:extLst xmlns:a="http://schemas.openxmlformats.org/drawingml/2006/main">
              <a:ext uri="{FF2B5EF4-FFF2-40B4-BE49-F238E27FC236}">
                <a16:creationId xmlns:a16="http://schemas.microsoft.com/office/drawing/2014/main" id="{019231E9-D703-483E-B02D-B5DE95AC341C}"/>
              </a:ext>
            </a:extLst>
          </p:cNvPr>
          <p:cNvSpPr>
            <a:spLocks xmlns:a="http://schemas.openxmlformats.org/drawingml/2006/main" noGrp="1"/>
          </p:cNvSpPr>
          <p:nvPr/>
        </p:nvSpPr>
        <p:spPr>
          <a:xfrm xmlns:a="http://schemas.openxmlformats.org/drawingml/2006/main">
            <a:off x="1190625" y="4333875"/>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75" b="1">
                <a:solidFill>
                  <a:srgbClr val="FBBF24"/>
                </a:solidFill>
                <a:latin typeface="Aptos Mono"/>
                <a:ea typeface="Aptos Mono"/>
                <a:cs typeface="Aptos Mono"/>
              </a:defRPr>
            </a:pPr>
            <a:r>
              <a:rPr sz="1875" b="1">
                <a:solidFill>
                  <a:srgbClr val="FBBF24"/>
                </a:solidFill>
                <a:latin typeface="Aptos Mono"/>
                <a:ea typeface="Aptos Mono"/>
                <a:cs typeface="Aptos Mono"/>
              </a:rPr>
              <a:t>E3</a:t>
            </a:r>
          </a:p>
        </p:txBody>
      </p:sp>
      <p:sp>
        <p:nvSpPr>
          <p:cNvPr id="18" name="">
            <a:extLst xmlns:a="http://schemas.openxmlformats.org/drawingml/2006/main">
              <a:ext uri="{FF2B5EF4-FFF2-40B4-BE49-F238E27FC236}">
                <a16:creationId xmlns:a16="http://schemas.microsoft.com/office/drawing/2014/main" id="{D6B203FE-7290-495C-8D14-9A13FF9E27E4}"/>
              </a:ext>
            </a:extLst>
          </p:cNvPr>
          <p:cNvSpPr>
            <a:spLocks xmlns:a="http://schemas.openxmlformats.org/drawingml/2006/main" noGrp="1"/>
          </p:cNvSpPr>
          <p:nvPr/>
        </p:nvSpPr>
        <p:spPr>
          <a:xfrm xmlns:a="http://schemas.openxmlformats.org/drawingml/2006/main">
            <a:off x="2047875" y="42957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1">
                <a:solidFill>
                  <a:srgbClr val="F8FAFC"/>
                </a:solidFill>
                <a:latin typeface="Aptos"/>
                <a:ea typeface="Aptos"/>
                <a:cs typeface="Aptos"/>
              </a:defRPr>
            </a:pPr>
            <a:r>
              <a:rPr sz="1500" b="1">
                <a:solidFill>
                  <a:srgbClr val="F8FAFC"/>
                </a:solidFill>
                <a:latin typeface="Aptos"/>
                <a:ea typeface="Aptos"/>
                <a:cs typeface="Aptos"/>
              </a:rPr>
              <a:t>support</a:t>
            </a:r>
          </a:p>
        </p:txBody>
      </p:sp>
      <p:sp>
        <p:nvSpPr>
          <p:cNvPr id="19" name="">
            <a:extLst xmlns:a="http://schemas.openxmlformats.org/drawingml/2006/main">
              <a:ext uri="{FF2B5EF4-FFF2-40B4-BE49-F238E27FC236}">
                <a16:creationId xmlns:a16="http://schemas.microsoft.com/office/drawing/2014/main" id="{6D4F200F-B915-459C-9C69-1B6164F7D241}"/>
              </a:ext>
            </a:extLst>
          </p:cNvPr>
          <p:cNvSpPr>
            <a:spLocks xmlns:a="http://schemas.openxmlformats.org/drawingml/2006/main" noGrp="1"/>
          </p:cNvSpPr>
          <p:nvPr/>
        </p:nvSpPr>
        <p:spPr>
          <a:xfrm xmlns:a="http://schemas.openxmlformats.org/drawingml/2006/main">
            <a:off x="2047875" y="4572000"/>
            <a:ext cx="4619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050" b="0">
                <a:solidFill>
                  <a:srgbClr val="7E8AA2"/>
                </a:solidFill>
                <a:latin typeface="Aptos"/>
                <a:ea typeface="Aptos"/>
                <a:cs typeface="Aptos"/>
              </a:defRPr>
            </a:pPr>
            <a:r>
              <a:rPr sz="1050" b="0">
                <a:solidFill>
                  <a:srgbClr val="7E8AA2"/>
                </a:solidFill>
                <a:latin typeface="Aptos"/>
                <a:ea typeface="Aptos"/>
                <a:cs typeface="Aptos"/>
              </a:rPr>
              <a:t>Citation IDs must come from the pack</a:t>
            </a:r>
          </a:p>
        </p:txBody>
      </p:sp>
      <p:sp>
        <p:nvSpPr>
          <p:cNvPr id="20" name="">
            <a:extLst xmlns:a="http://schemas.openxmlformats.org/drawingml/2006/main">
              <a:ext uri="{FF2B5EF4-FFF2-40B4-BE49-F238E27FC236}">
                <a16:creationId xmlns:a16="http://schemas.microsoft.com/office/drawing/2014/main" id="{D336D3E0-6247-4E15-96DA-346F6F0CB7D0}"/>
              </a:ext>
            </a:extLst>
          </p:cNvPr>
          <p:cNvSpPr>
            <a:spLocks xmlns:a="http://schemas.openxmlformats.org/drawingml/2006/main" noGrp="1"/>
          </p:cNvSpPr>
          <p:nvPr/>
        </p:nvSpPr>
        <p:spPr>
          <a:xfrm xmlns:a="http://schemas.openxmlformats.org/drawingml/2006/main">
            <a:off x="8001000" y="2457450"/>
            <a:ext cx="2952750" cy="2343150"/>
          </a:xfrm>
          <a:prstGeom xmlns:a="http://schemas.openxmlformats.org/drawingml/2006/main" prst="roundRect">
            <a:avLst>
              <a:gd name="adj" fmla="val 7317"/>
            </a:avLst>
          </a:prstGeom>
          <a:solidFill xmlns:a="http://schemas.openxmlformats.org/drawingml/2006/main">
            <a:srgbClr val="A78BFA">
              <a:alpha val="10000"/>
            </a:srgbClr>
          </a:solidFill>
          <a:ln xmlns:a="http://schemas.openxmlformats.org/drawingml/2006/main" w="11430">
            <a:solidFill>
              <a:srgbClr val="A78BFA">
                <a:alpha val="56000"/>
              </a:srgbClr>
            </a:solidFill>
            <a:prstDash val="solid"/>
          </a:ln>
        </p:spPr>
      </p:sp>
      <p:sp>
        <p:nvSpPr>
          <p:cNvPr id="21" name="">
            <a:extLst xmlns:a="http://schemas.openxmlformats.org/drawingml/2006/main">
              <a:ext uri="{FF2B5EF4-FFF2-40B4-BE49-F238E27FC236}">
                <a16:creationId xmlns:a16="http://schemas.microsoft.com/office/drawing/2014/main" id="{108AE577-47D0-410B-A2D6-6508CC57919E}"/>
              </a:ext>
            </a:extLst>
          </p:cNvPr>
          <p:cNvSpPr>
            <a:spLocks xmlns:a="http://schemas.openxmlformats.org/drawingml/2006/main" noGrp="1"/>
          </p:cNvSpPr>
          <p:nvPr/>
        </p:nvSpPr>
        <p:spPr>
          <a:xfrm xmlns:a="http://schemas.openxmlformats.org/drawingml/2006/main">
            <a:off x="8382000" y="2857500"/>
            <a:ext cx="219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025" b="1">
                <a:solidFill>
                  <a:srgbClr val="A78BFA"/>
                </a:solidFill>
                <a:latin typeface="Aptos"/>
                <a:ea typeface="Aptos"/>
                <a:cs typeface="Aptos"/>
              </a:defRPr>
            </a:pPr>
            <a:r>
              <a:rPr sz="2025" b="1">
                <a:solidFill>
                  <a:srgbClr val="A78BFA"/>
                </a:solidFill>
                <a:latin typeface="Aptos"/>
                <a:ea typeface="Aptos"/>
                <a:cs typeface="Aptos"/>
              </a:rPr>
              <a:t>Prompt Contract</a:t>
            </a:r>
          </a:p>
        </p:txBody>
      </p:sp>
      <p:sp>
        <p:nvSpPr>
          <p:cNvPr id="22" name="">
            <a:extLst xmlns:a="http://schemas.openxmlformats.org/drawingml/2006/main">
              <a:ext uri="{FF2B5EF4-FFF2-40B4-BE49-F238E27FC236}">
                <a16:creationId xmlns:a16="http://schemas.microsoft.com/office/drawing/2014/main" id="{BD36D4E3-3645-4654-88F9-DD5D74A2BA9C}"/>
              </a:ext>
            </a:extLst>
          </p:cNvPr>
          <p:cNvSpPr>
            <a:spLocks xmlns:a="http://schemas.openxmlformats.org/drawingml/2006/main" noGrp="1"/>
          </p:cNvSpPr>
          <p:nvPr/>
        </p:nvSpPr>
        <p:spPr>
          <a:xfrm xmlns:a="http://schemas.openxmlformats.org/drawingml/2006/main">
            <a:off x="8429625" y="3476625"/>
            <a:ext cx="209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14000"/>
              </a:lnSpc>
              <a:buNone/>
              <a:defRPr sz="1575" b="1">
                <a:solidFill>
                  <a:srgbClr val="F8FAFC"/>
                </a:solidFill>
                <a:latin typeface="Aptos"/>
                <a:ea typeface="Aptos"/>
                <a:cs typeface="Aptos"/>
              </a:defRPr>
            </a:pPr>
            <a:r>
              <a:rPr sz="1575" b="1">
                <a:solidFill>
                  <a:srgbClr val="F8FAFC"/>
                </a:solidFill>
                <a:latin typeface="Aptos"/>
                <a:ea typeface="Aptos"/>
                <a:cs typeface="Aptos"/>
              </a:rPr>
              <a:t>Nutze nur Evidence IDs aus diesem Pack.</a:t>
            </a:r>
          </a:p>
          <a:p xmlns:a="http://schemas.openxmlformats.org/drawingml/2006/main">
            <a:pPr algn="ctr">
              <a:lnSpc>
                <a:spcPct val="114000"/>
              </a:lnSpc>
              <a:buNone/>
              <a:defRPr sz="1575" b="1">
                <a:solidFill>
                  <a:srgbClr val="F8FAFC"/>
                </a:solidFill>
                <a:latin typeface="Aptos"/>
                <a:ea typeface="Aptos"/>
                <a:cs typeface="Aptos"/>
              </a:defRPr>
            </a:pPr>
            <a:r>
              <a:rPr sz="1575" b="1">
                <a:solidFill>
                  <a:srgbClr val="F8FAFC"/>
                </a:solidFill>
                <a:latin typeface="Aptos"/>
                <a:ea typeface="Aptos"/>
                <a:cs typeface="Aptos"/>
              </a:rPr>
              <a:t>Wenn Evidence fehlt: abstain.</a:t>
            </a:r>
          </a:p>
        </p:txBody>
      </p:sp>
    </p:spTree>
    <p:extLst>
      <p:ext uri="{BB962C8B-B14F-4D97-AF65-F5344CB8AC3E}">
        <p14:creationId xmlns:p14="http://schemas.microsoft.com/office/powerpoint/2010/main" val="344760815"/>
      </p:ext>
    </p:extLst>
  </p:cSld>
</p:sld>
</file>

<file path=ppt/slides/slide15.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C93398-D781-4A89-A18D-6871255796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1071D7-8DFF-4113-AFB9-A63F9BDBC4FA}"/>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1B5569E7-B03E-42C4-B5CC-05669940C098}"/>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D3501791-C075-4F56-930D-C74A1B96F32D}"/>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15 / 22</a:t>
            </a:r>
          </a:p>
        </p:txBody>
      </p:sp>
      <p:sp>
        <p:nvSpPr>
          <p:cNvPr id="5" name="">
            <a:extLst xmlns:a="http://schemas.openxmlformats.org/drawingml/2006/main">
              <a:ext uri="{FF2B5EF4-FFF2-40B4-BE49-F238E27FC236}">
                <a16:creationId xmlns:a16="http://schemas.microsoft.com/office/drawing/2014/main" id="{18609AB4-397E-425F-9F26-CAFD044CAAC6}"/>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10E8298D-FC6D-40C4-848E-B9133A236550}"/>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SCREENSHARE</a:t>
            </a:r>
          </a:p>
        </p:txBody>
      </p:sp>
      <p:sp>
        <p:nvSpPr>
          <p:cNvPr id="7" name="">
            <a:extLst xmlns:a="http://schemas.openxmlformats.org/drawingml/2006/main">
              <a:ext uri="{FF2B5EF4-FFF2-40B4-BE49-F238E27FC236}">
                <a16:creationId xmlns:a16="http://schemas.microsoft.com/office/drawing/2014/main" id="{C121314F-2CF5-4E9B-B8CB-F57452B252A8}"/>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Live-Demo 2: Grounded Chat und Abstention</a:t>
            </a:r>
          </a:p>
        </p:txBody>
      </p:sp>
      <p:sp>
        <p:nvSpPr>
          <p:cNvPr id="8" name="">
            <a:extLst xmlns:a="http://schemas.openxmlformats.org/drawingml/2006/main">
              <a:ext uri="{FF2B5EF4-FFF2-40B4-BE49-F238E27FC236}">
                <a16:creationId xmlns:a16="http://schemas.microsoft.com/office/drawing/2014/main" id="{1AE993CB-60D7-450C-B880-62890EF8A79D}"/>
              </a:ext>
            </a:extLst>
          </p:cNvPr>
          <p:cNvSpPr>
            <a:spLocks xmlns:a="http://schemas.openxmlformats.org/drawingml/2006/main" noGrp="1"/>
          </p:cNvSpPr>
          <p:nvPr/>
        </p:nvSpPr>
        <p:spPr>
          <a:xfrm xmlns:a="http://schemas.openxmlformats.org/drawingml/2006/main">
            <a:off x="857250" y="2238375"/>
            <a:ext cx="10477500" cy="3095625"/>
          </a:xfrm>
          <a:prstGeom xmlns:a="http://schemas.openxmlformats.org/drawingml/2006/main" prst="roundRect">
            <a:avLst>
              <a:gd name="adj" fmla="val 6769"/>
            </a:avLst>
          </a:prstGeom>
          <a:solidFill xmlns:a="http://schemas.openxmlformats.org/drawingml/2006/main">
            <a:srgbClr val="36E0F2">
              <a:alpha val="8000"/>
            </a:srgbClr>
          </a:solidFill>
          <a:ln xmlns:a="http://schemas.openxmlformats.org/drawingml/2006/main" w="11430">
            <a:solidFill>
              <a:srgbClr val="36E0F2">
                <a:alpha val="45000"/>
              </a:srgbClr>
            </a:solidFill>
            <a:prstDash val="solid"/>
          </a:ln>
        </p:spPr>
      </p:sp>
      <p:sp>
        <p:nvSpPr>
          <p:cNvPr id="9" name="">
            <a:extLst xmlns:a="http://schemas.openxmlformats.org/drawingml/2006/main">
              <a:ext uri="{FF2B5EF4-FFF2-40B4-BE49-F238E27FC236}">
                <a16:creationId xmlns:a16="http://schemas.microsoft.com/office/drawing/2014/main" id="{1F129920-9CBD-4186-98B2-EC099BEDA9D6}"/>
              </a:ext>
            </a:extLst>
          </p:cNvPr>
          <p:cNvSpPr>
            <a:spLocks xmlns:a="http://schemas.openxmlformats.org/drawingml/2006/main" noGrp="1"/>
          </p:cNvSpPr>
          <p:nvPr/>
        </p:nvSpPr>
        <p:spPr>
          <a:xfrm xmlns:a="http://schemas.openxmlformats.org/drawingml/2006/main">
            <a:off x="1219200"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025" b="1">
                <a:solidFill>
                  <a:srgbClr val="36E0F2"/>
                </a:solidFill>
                <a:latin typeface="Aptos"/>
                <a:ea typeface="Aptos"/>
                <a:cs typeface="Aptos"/>
              </a:defRPr>
            </a:pPr>
            <a:r>
              <a:rPr sz="2025" b="1">
                <a:solidFill>
                  <a:srgbClr val="36E0F2"/>
                </a:solidFill>
                <a:latin typeface="Aptos"/>
                <a:ea typeface="Aptos"/>
                <a:cs typeface="Aptos"/>
              </a:rPr>
              <a:t>Screenshare-Cue</a:t>
            </a:r>
          </a:p>
        </p:txBody>
      </p:sp>
      <p:sp>
        <p:nvSpPr>
          <p:cNvPr id="10" name="">
            <a:extLst xmlns:a="http://schemas.openxmlformats.org/drawingml/2006/main">
              <a:ext uri="{FF2B5EF4-FFF2-40B4-BE49-F238E27FC236}">
                <a16:creationId xmlns:a16="http://schemas.microsoft.com/office/drawing/2014/main" id="{D95A6F99-90A7-4E59-93AF-02959875FE34}"/>
              </a:ext>
            </a:extLst>
          </p:cNvPr>
          <p:cNvSpPr>
            <a:spLocks xmlns:a="http://schemas.openxmlformats.org/drawingml/2006/main" noGrp="1"/>
          </p:cNvSpPr>
          <p:nvPr/>
        </p:nvSpPr>
        <p:spPr>
          <a:xfrm xmlns:a="http://schemas.openxmlformats.org/drawingml/2006/main">
            <a:off x="1257300" y="32194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1" name="">
            <a:extLst xmlns:a="http://schemas.openxmlformats.org/drawingml/2006/main">
              <a:ext uri="{FF2B5EF4-FFF2-40B4-BE49-F238E27FC236}">
                <a16:creationId xmlns:a16="http://schemas.microsoft.com/office/drawing/2014/main" id="{12B47ECF-B068-43DC-8833-296A08DE5663}"/>
              </a:ext>
            </a:extLst>
          </p:cNvPr>
          <p:cNvSpPr>
            <a:spLocks xmlns:a="http://schemas.openxmlformats.org/drawingml/2006/main" noGrp="1"/>
          </p:cNvSpPr>
          <p:nvPr/>
        </p:nvSpPr>
        <p:spPr>
          <a:xfrm xmlns:a="http://schemas.openxmlformats.org/drawingml/2006/main">
            <a:off x="1466850" y="3143250"/>
            <a:ext cx="883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00" b="0">
                <a:solidFill>
                  <a:srgbClr val="CBD5E1"/>
                </a:solidFill>
                <a:latin typeface="Aptos"/>
                <a:ea typeface="Aptos"/>
                <a:cs typeface="Aptos"/>
              </a:defRPr>
            </a:pPr>
            <a:r>
              <a:rPr sz="1200" b="0">
                <a:solidFill>
                  <a:srgbClr val="CBD5E1"/>
                </a:solidFill>
                <a:latin typeface="Aptos"/>
                <a:ea typeface="Aptos"/>
                <a:cs typeface="Aptos"/>
              </a:rPr>
              <a:t>Frage: What is the core architectural difference between SourceStudio and a generic PDF chatbot?</a:t>
            </a:r>
          </a:p>
        </p:txBody>
      </p:sp>
      <p:sp>
        <p:nvSpPr>
          <p:cNvPr id="12" name="">
            <a:extLst xmlns:a="http://schemas.openxmlformats.org/drawingml/2006/main">
              <a:ext uri="{FF2B5EF4-FFF2-40B4-BE49-F238E27FC236}">
                <a16:creationId xmlns:a16="http://schemas.microsoft.com/office/drawing/2014/main" id="{09197795-0806-4359-AEFF-E4E0E5CDE891}"/>
              </a:ext>
            </a:extLst>
          </p:cNvPr>
          <p:cNvSpPr>
            <a:spLocks xmlns:a="http://schemas.openxmlformats.org/drawingml/2006/main" noGrp="1"/>
          </p:cNvSpPr>
          <p:nvPr/>
        </p:nvSpPr>
        <p:spPr>
          <a:xfrm xmlns:a="http://schemas.openxmlformats.org/drawingml/2006/main">
            <a:off x="1257300" y="36957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3" name="">
            <a:extLst xmlns:a="http://schemas.openxmlformats.org/drawingml/2006/main">
              <a:ext uri="{FF2B5EF4-FFF2-40B4-BE49-F238E27FC236}">
                <a16:creationId xmlns:a16="http://schemas.microsoft.com/office/drawing/2014/main" id="{786B6D37-08B3-4083-A932-81CBA3EE9B18}"/>
              </a:ext>
            </a:extLst>
          </p:cNvPr>
          <p:cNvSpPr>
            <a:spLocks xmlns:a="http://schemas.openxmlformats.org/drawingml/2006/main" noGrp="1"/>
          </p:cNvSpPr>
          <p:nvPr/>
        </p:nvSpPr>
        <p:spPr>
          <a:xfrm xmlns:a="http://schemas.openxmlformats.org/drawingml/2006/main">
            <a:off x="1466850" y="36195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Zeige Citation Chips und den hervorgehobenen Source Block.</a:t>
            </a:r>
          </a:p>
        </p:txBody>
      </p:sp>
      <p:sp>
        <p:nvSpPr>
          <p:cNvPr id="14" name="">
            <a:extLst xmlns:a="http://schemas.openxmlformats.org/drawingml/2006/main">
              <a:ext uri="{FF2B5EF4-FFF2-40B4-BE49-F238E27FC236}">
                <a16:creationId xmlns:a16="http://schemas.microsoft.com/office/drawing/2014/main" id="{416087FB-B500-4C3B-AD2F-2DE45ECEB972}"/>
              </a:ext>
            </a:extLst>
          </p:cNvPr>
          <p:cNvSpPr>
            <a:spLocks xmlns:a="http://schemas.openxmlformats.org/drawingml/2006/main" noGrp="1"/>
          </p:cNvSpPr>
          <p:nvPr/>
        </p:nvSpPr>
        <p:spPr>
          <a:xfrm xmlns:a="http://schemas.openxmlformats.org/drawingml/2006/main">
            <a:off x="1257300" y="4171950"/>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5" name="">
            <a:extLst xmlns:a="http://schemas.openxmlformats.org/drawingml/2006/main">
              <a:ext uri="{FF2B5EF4-FFF2-40B4-BE49-F238E27FC236}">
                <a16:creationId xmlns:a16="http://schemas.microsoft.com/office/drawing/2014/main" id="{0D8D33D7-5765-4173-8D07-6C2D28B4E32F}"/>
              </a:ext>
            </a:extLst>
          </p:cNvPr>
          <p:cNvSpPr>
            <a:spLocks xmlns:a="http://schemas.openxmlformats.org/drawingml/2006/main" noGrp="1"/>
          </p:cNvSpPr>
          <p:nvPr/>
        </p:nvSpPr>
        <p:spPr>
          <a:xfrm xmlns:a="http://schemas.openxmlformats.org/drawingml/2006/main">
            <a:off x="1466850" y="409575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Gegenfrage: What will the weather be in Berlin tomorrow?</a:t>
            </a:r>
          </a:p>
        </p:txBody>
      </p:sp>
      <p:sp>
        <p:nvSpPr>
          <p:cNvPr id="16" name="">
            <a:extLst xmlns:a="http://schemas.openxmlformats.org/drawingml/2006/main">
              <a:ext uri="{FF2B5EF4-FFF2-40B4-BE49-F238E27FC236}">
                <a16:creationId xmlns:a16="http://schemas.microsoft.com/office/drawing/2014/main" id="{E7AFC1A3-65AE-4705-BE5B-E06590B87C38}"/>
              </a:ext>
            </a:extLst>
          </p:cNvPr>
          <p:cNvSpPr>
            <a:spLocks xmlns:a="http://schemas.openxmlformats.org/drawingml/2006/main" noGrp="1"/>
          </p:cNvSpPr>
          <p:nvPr/>
        </p:nvSpPr>
        <p:spPr>
          <a:xfrm xmlns:a="http://schemas.openxmlformats.org/drawingml/2006/main">
            <a:off x="1257300" y="4648200"/>
            <a:ext cx="85725" cy="85725"/>
          </a:xfrm>
          <a:prstGeom xmlns:a="http://schemas.openxmlformats.org/drawingml/2006/main" prst="ellipse">
            <a:avLst/>
          </a:prstGeom>
          <a:solidFill xmlns:a="http://schemas.openxmlformats.org/drawingml/2006/main">
            <a:srgbClr val="A78BFA"/>
          </a:solidFill>
          <a:ln xmlns:a="http://schemas.openxmlformats.org/drawingml/2006/main" w="0">
            <a:solidFill>
              <a:srgbClr val="A78BFA"/>
            </a:solidFill>
            <a:prstDash val="solid"/>
          </a:ln>
        </p:spPr>
      </p:sp>
      <p:sp>
        <p:nvSpPr>
          <p:cNvPr id="17" name="">
            <a:extLst xmlns:a="http://schemas.openxmlformats.org/drawingml/2006/main">
              <a:ext uri="{FF2B5EF4-FFF2-40B4-BE49-F238E27FC236}">
                <a16:creationId xmlns:a16="http://schemas.microsoft.com/office/drawing/2014/main" id="{7E5C06B9-19E5-477E-9D59-F2BA5F85E8AC}"/>
              </a:ext>
            </a:extLst>
          </p:cNvPr>
          <p:cNvSpPr>
            <a:spLocks xmlns:a="http://schemas.openxmlformats.org/drawingml/2006/main" noGrp="1"/>
          </p:cNvSpPr>
          <p:nvPr/>
        </p:nvSpPr>
        <p:spPr>
          <a:xfrm xmlns:a="http://schemas.openxmlformats.org/drawingml/2006/main">
            <a:off x="1466850" y="45720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Zeige, dass die App ohne Evidence abstainiert.</a:t>
            </a:r>
          </a:p>
        </p:txBody>
      </p:sp>
    </p:spTree>
    <p:extLst>
      <p:ext uri="{BB962C8B-B14F-4D97-AF65-F5344CB8AC3E}">
        <p14:creationId xmlns:p14="http://schemas.microsoft.com/office/powerpoint/2010/main" val="483781245"/>
      </p:ext>
    </p:extLst>
  </p:cSld>
</p:sld>
</file>

<file path=ppt/slides/slide16.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B501DA-7DCF-4E5A-9428-C77D717454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0AB02E-E20B-46E0-8B43-442A5C334EA1}"/>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EAC3C72F-5B6D-46DE-9AE9-F0BB741E44BB}"/>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44FB0201-92FC-441D-95CE-AD6EEB639739}"/>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16 / 22</a:t>
            </a:r>
          </a:p>
        </p:txBody>
      </p:sp>
      <p:sp>
        <p:nvSpPr>
          <p:cNvPr id="5" name="">
            <a:extLst xmlns:a="http://schemas.openxmlformats.org/drawingml/2006/main">
              <a:ext uri="{FF2B5EF4-FFF2-40B4-BE49-F238E27FC236}">
                <a16:creationId xmlns:a16="http://schemas.microsoft.com/office/drawing/2014/main" id="{7AFCA357-A13B-4CC4-A3FA-49821B68E508}"/>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46DCE54C-D2A9-4E7E-B364-E4C371813FFA}"/>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VERIFICATION</a:t>
            </a:r>
          </a:p>
        </p:txBody>
      </p:sp>
      <p:sp>
        <p:nvSpPr>
          <p:cNvPr id="7" name="">
            <a:extLst xmlns:a="http://schemas.openxmlformats.org/drawingml/2006/main">
              <a:ext uri="{FF2B5EF4-FFF2-40B4-BE49-F238E27FC236}">
                <a16:creationId xmlns:a16="http://schemas.microsoft.com/office/drawing/2014/main" id="{4929BDF4-DFA7-41DB-B7FA-CDA7C16EC45C}"/>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Der Citation Ledger prüft nach der Antwort</a:t>
            </a:r>
          </a:p>
        </p:txBody>
      </p:sp>
      <p:sp>
        <p:nvSpPr>
          <p:cNvPr id="8" name="">
            <a:extLst xmlns:a="http://schemas.openxmlformats.org/drawingml/2006/main">
              <a:ext uri="{FF2B5EF4-FFF2-40B4-BE49-F238E27FC236}">
                <a16:creationId xmlns:a16="http://schemas.microsoft.com/office/drawing/2014/main" id="{33A74989-E980-4E52-97C1-2F8F4E3BC23A}"/>
              </a:ext>
            </a:extLst>
          </p:cNvPr>
          <p:cNvSpPr>
            <a:spLocks xmlns:a="http://schemas.openxmlformats.org/drawingml/2006/main" noGrp="1"/>
          </p:cNvSpPr>
          <p:nvPr/>
        </p:nvSpPr>
        <p:spPr>
          <a:xfrm xmlns:a="http://schemas.openxmlformats.org/drawingml/2006/main">
            <a:off x="1000125" y="2476500"/>
            <a:ext cx="2095500" cy="552450"/>
          </a:xfrm>
          <a:prstGeom xmlns:a="http://schemas.openxmlformats.org/drawingml/2006/main" prst="roundRect">
            <a:avLst>
              <a:gd name="adj" fmla="val 20690"/>
            </a:avLst>
          </a:prstGeom>
          <a:solidFill xmlns:a="http://schemas.openxmlformats.org/drawingml/2006/main">
            <a:srgbClr val="36E0F2">
              <a:alpha val="12000"/>
            </a:srgbClr>
          </a:solidFill>
          <a:ln xmlns:a="http://schemas.openxmlformats.org/drawingml/2006/main" w="9525">
            <a:solidFill>
              <a:srgbClr val="36E0F2">
                <a:alpha val="55000"/>
              </a:srgbClr>
            </a:solidFill>
            <a:prstDash val="solid"/>
          </a:ln>
        </p:spPr>
      </p:sp>
      <p:sp>
        <p:nvSpPr>
          <p:cNvPr id="9" name="">
            <a:extLst xmlns:a="http://schemas.openxmlformats.org/drawingml/2006/main">
              <a:ext uri="{FF2B5EF4-FFF2-40B4-BE49-F238E27FC236}">
                <a16:creationId xmlns:a16="http://schemas.microsoft.com/office/drawing/2014/main" id="{FB539333-A333-49FE-8BBC-C1C5ED8BA070}"/>
              </a:ext>
            </a:extLst>
          </p:cNvPr>
          <p:cNvSpPr>
            <a:spLocks xmlns:a="http://schemas.openxmlformats.org/drawingml/2006/main" noGrp="1"/>
          </p:cNvSpPr>
          <p:nvPr/>
        </p:nvSpPr>
        <p:spPr>
          <a:xfrm xmlns:a="http://schemas.openxmlformats.org/drawingml/2006/main">
            <a:off x="1114425" y="2638425"/>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36E0F2"/>
                </a:solidFill>
                <a:latin typeface="Aptos"/>
                <a:ea typeface="Aptos"/>
                <a:cs typeface="Aptos"/>
              </a:defRPr>
            </a:pPr>
            <a:r>
              <a:rPr sz="1350" b="1">
                <a:solidFill>
                  <a:srgbClr val="36E0F2"/>
                </a:solidFill>
                <a:latin typeface="Aptos"/>
                <a:ea typeface="Aptos"/>
                <a:cs typeface="Aptos"/>
              </a:rPr>
              <a:t>Claim</a:t>
            </a:r>
          </a:p>
        </p:txBody>
      </p:sp>
      <p:sp>
        <p:nvSpPr>
          <p:cNvPr id="10" name="">
            <a:extLst xmlns:a="http://schemas.openxmlformats.org/drawingml/2006/main">
              <a:ext uri="{FF2B5EF4-FFF2-40B4-BE49-F238E27FC236}">
                <a16:creationId xmlns:a16="http://schemas.microsoft.com/office/drawing/2014/main" id="{DBF3B1B7-27FD-4C32-AA13-ACF9813261CD}"/>
              </a:ext>
            </a:extLst>
          </p:cNvPr>
          <p:cNvSpPr>
            <a:spLocks xmlns:a="http://schemas.openxmlformats.org/drawingml/2006/main" noGrp="1"/>
          </p:cNvSpPr>
          <p:nvPr/>
        </p:nvSpPr>
        <p:spPr>
          <a:xfrm xmlns:a="http://schemas.openxmlformats.org/drawingml/2006/main">
            <a:off x="3429000" y="2476500"/>
            <a:ext cx="1905000" cy="552450"/>
          </a:xfrm>
          <a:prstGeom xmlns:a="http://schemas.openxmlformats.org/drawingml/2006/main" prst="roundRect">
            <a:avLst>
              <a:gd name="adj" fmla="val 20690"/>
            </a:avLst>
          </a:prstGeom>
          <a:solidFill xmlns:a="http://schemas.openxmlformats.org/drawingml/2006/main">
            <a:srgbClr val="34D399">
              <a:alpha val="12000"/>
            </a:srgbClr>
          </a:solidFill>
          <a:ln xmlns:a="http://schemas.openxmlformats.org/drawingml/2006/main" w="9525">
            <a:solidFill>
              <a:srgbClr val="34D399">
                <a:alpha val="55000"/>
              </a:srgbClr>
            </a:solidFill>
            <a:prstDash val="solid"/>
          </a:ln>
        </p:spPr>
      </p:sp>
      <p:sp>
        <p:nvSpPr>
          <p:cNvPr id="11" name="">
            <a:extLst xmlns:a="http://schemas.openxmlformats.org/drawingml/2006/main">
              <a:ext uri="{FF2B5EF4-FFF2-40B4-BE49-F238E27FC236}">
                <a16:creationId xmlns:a16="http://schemas.microsoft.com/office/drawing/2014/main" id="{EBFD57A4-9E1B-430B-B7D6-A37A3C868112}"/>
              </a:ext>
            </a:extLst>
          </p:cNvPr>
          <p:cNvSpPr>
            <a:spLocks xmlns:a="http://schemas.openxmlformats.org/drawingml/2006/main" noGrp="1"/>
          </p:cNvSpPr>
          <p:nvPr/>
        </p:nvSpPr>
        <p:spPr>
          <a:xfrm xmlns:a="http://schemas.openxmlformats.org/drawingml/2006/main">
            <a:off x="3543300" y="2638425"/>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34D399"/>
                </a:solidFill>
                <a:latin typeface="Aptos"/>
                <a:ea typeface="Aptos"/>
                <a:cs typeface="Aptos"/>
              </a:defRPr>
            </a:pPr>
            <a:r>
              <a:rPr sz="1350" b="1">
                <a:solidFill>
                  <a:srgbClr val="34D399"/>
                </a:solidFill>
                <a:latin typeface="Aptos"/>
                <a:ea typeface="Aptos"/>
                <a:cs typeface="Aptos"/>
              </a:rPr>
              <a:t>Citation</a:t>
            </a:r>
          </a:p>
        </p:txBody>
      </p:sp>
      <p:sp>
        <p:nvSpPr>
          <p:cNvPr id="12" name="">
            <a:extLst xmlns:a="http://schemas.openxmlformats.org/drawingml/2006/main">
              <a:ext uri="{FF2B5EF4-FFF2-40B4-BE49-F238E27FC236}">
                <a16:creationId xmlns:a16="http://schemas.microsoft.com/office/drawing/2014/main" id="{B72883B4-54B6-4783-A03D-64E39CD7EA3B}"/>
              </a:ext>
            </a:extLst>
          </p:cNvPr>
          <p:cNvSpPr>
            <a:spLocks xmlns:a="http://schemas.openxmlformats.org/drawingml/2006/main" noGrp="1"/>
          </p:cNvSpPr>
          <p:nvPr/>
        </p:nvSpPr>
        <p:spPr>
          <a:xfrm xmlns:a="http://schemas.openxmlformats.org/drawingml/2006/main">
            <a:off x="5667375" y="2476500"/>
            <a:ext cx="2381250" cy="552450"/>
          </a:xfrm>
          <a:prstGeom xmlns:a="http://schemas.openxmlformats.org/drawingml/2006/main" prst="roundRect">
            <a:avLst>
              <a:gd name="adj" fmla="val 20690"/>
            </a:avLst>
          </a:prstGeom>
          <a:solidFill xmlns:a="http://schemas.openxmlformats.org/drawingml/2006/main">
            <a:srgbClr val="FBBF24">
              <a:alpha val="12000"/>
            </a:srgbClr>
          </a:solidFill>
          <a:ln xmlns:a="http://schemas.openxmlformats.org/drawingml/2006/main" w="9525">
            <a:solidFill>
              <a:srgbClr val="FBBF24">
                <a:alpha val="55000"/>
              </a:srgbClr>
            </a:solidFill>
            <a:prstDash val="solid"/>
          </a:ln>
        </p:spPr>
      </p:sp>
      <p:sp>
        <p:nvSpPr>
          <p:cNvPr id="13" name="">
            <a:extLst xmlns:a="http://schemas.openxmlformats.org/drawingml/2006/main">
              <a:ext uri="{FF2B5EF4-FFF2-40B4-BE49-F238E27FC236}">
                <a16:creationId xmlns:a16="http://schemas.microsoft.com/office/drawing/2014/main" id="{1F24732B-1318-4814-8C97-E4865F7248CA}"/>
              </a:ext>
            </a:extLst>
          </p:cNvPr>
          <p:cNvSpPr>
            <a:spLocks xmlns:a="http://schemas.openxmlformats.org/drawingml/2006/main" noGrp="1"/>
          </p:cNvSpPr>
          <p:nvPr/>
        </p:nvSpPr>
        <p:spPr>
          <a:xfrm xmlns:a="http://schemas.openxmlformats.org/drawingml/2006/main">
            <a:off x="5781675" y="2638425"/>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BBF24"/>
                </a:solidFill>
                <a:latin typeface="Aptos"/>
                <a:ea typeface="Aptos"/>
                <a:cs typeface="Aptos"/>
              </a:defRPr>
            </a:pPr>
            <a:r>
              <a:rPr sz="1350" b="1">
                <a:solidFill>
                  <a:srgbClr val="FBBF24"/>
                </a:solidFill>
                <a:latin typeface="Aptos"/>
                <a:ea typeface="Aptos"/>
                <a:cs typeface="Aptos"/>
              </a:rPr>
              <a:t>Evidence Match</a:t>
            </a:r>
          </a:p>
        </p:txBody>
      </p:sp>
      <p:sp>
        <p:nvSpPr>
          <p:cNvPr id="14" name="">
            <a:extLst xmlns:a="http://schemas.openxmlformats.org/drawingml/2006/main">
              <a:ext uri="{FF2B5EF4-FFF2-40B4-BE49-F238E27FC236}">
                <a16:creationId xmlns:a16="http://schemas.microsoft.com/office/drawing/2014/main" id="{41F3F09E-7284-486F-ABCE-164D2135FC76}"/>
              </a:ext>
            </a:extLst>
          </p:cNvPr>
          <p:cNvSpPr>
            <a:spLocks xmlns:a="http://schemas.openxmlformats.org/drawingml/2006/main" noGrp="1"/>
          </p:cNvSpPr>
          <p:nvPr/>
        </p:nvSpPr>
        <p:spPr>
          <a:xfrm xmlns:a="http://schemas.openxmlformats.org/drawingml/2006/main">
            <a:off x="8382000" y="2476500"/>
            <a:ext cx="2190750" cy="552450"/>
          </a:xfrm>
          <a:prstGeom xmlns:a="http://schemas.openxmlformats.org/drawingml/2006/main" prst="roundRect">
            <a:avLst>
              <a:gd name="adj" fmla="val 20690"/>
            </a:avLst>
          </a:prstGeom>
          <a:solidFill xmlns:a="http://schemas.openxmlformats.org/drawingml/2006/main">
            <a:srgbClr val="A78BFA">
              <a:alpha val="12000"/>
            </a:srgbClr>
          </a:solidFill>
          <a:ln xmlns:a="http://schemas.openxmlformats.org/drawingml/2006/main" w="9525">
            <a:solidFill>
              <a:srgbClr val="A78BFA">
                <a:alpha val="55000"/>
              </a:srgbClr>
            </a:solidFill>
            <a:prstDash val="solid"/>
          </a:ln>
        </p:spPr>
      </p:sp>
      <p:sp>
        <p:nvSpPr>
          <p:cNvPr id="15" name="">
            <a:extLst xmlns:a="http://schemas.openxmlformats.org/drawingml/2006/main">
              <a:ext uri="{FF2B5EF4-FFF2-40B4-BE49-F238E27FC236}">
                <a16:creationId xmlns:a16="http://schemas.microsoft.com/office/drawing/2014/main" id="{8B5730F2-6458-40D5-9D88-488FEB3AE6AE}"/>
              </a:ext>
            </a:extLst>
          </p:cNvPr>
          <p:cNvSpPr>
            <a:spLocks xmlns:a="http://schemas.openxmlformats.org/drawingml/2006/main" noGrp="1"/>
          </p:cNvSpPr>
          <p:nvPr/>
        </p:nvSpPr>
        <p:spPr>
          <a:xfrm xmlns:a="http://schemas.openxmlformats.org/drawingml/2006/main">
            <a:off x="8496300" y="2638425"/>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A78BFA"/>
                </a:solidFill>
                <a:latin typeface="Aptos"/>
                <a:ea typeface="Aptos"/>
                <a:cs typeface="Aptos"/>
              </a:defRPr>
            </a:pPr>
            <a:r>
              <a:rPr sz="1350" b="1">
                <a:solidFill>
                  <a:srgbClr val="A78BFA"/>
                </a:solidFill>
                <a:latin typeface="Aptos"/>
                <a:ea typeface="Aptos"/>
                <a:cs typeface="Aptos"/>
              </a:rPr>
              <a:t>Action</a:t>
            </a:r>
          </a:p>
        </p:txBody>
      </p:sp>
      <p:sp>
        <p:nvSpPr>
          <p:cNvPr id="16" name="">
            <a:extLst xmlns:a="http://schemas.openxmlformats.org/drawingml/2006/main">
              <a:ext uri="{FF2B5EF4-FFF2-40B4-BE49-F238E27FC236}">
                <a16:creationId xmlns:a16="http://schemas.microsoft.com/office/drawing/2014/main" id="{76962F09-5EDC-4995-B2DB-5064FB310FF5}"/>
              </a:ext>
            </a:extLst>
          </p:cNvPr>
          <p:cNvSpPr>
            <a:spLocks xmlns:a="http://schemas.openxmlformats.org/drawingml/2006/main" noGrp="1"/>
          </p:cNvSpPr>
          <p:nvPr/>
        </p:nvSpPr>
        <p:spPr>
          <a:xfrm xmlns:a="http://schemas.openxmlformats.org/drawingml/2006/main">
            <a:off x="1333500" y="35242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575" b="1">
                <a:solidFill>
                  <a:srgbClr val="F8FAFC"/>
                </a:solidFill>
                <a:latin typeface="Aptos"/>
                <a:ea typeface="Aptos"/>
                <a:cs typeface="Aptos"/>
              </a:defRPr>
            </a:pPr>
            <a:r>
              <a:rPr sz="1575" b="1">
                <a:solidFill>
                  <a:srgbClr val="F8FAFC"/>
                </a:solidFill>
                <a:latin typeface="Aptos"/>
                <a:ea typeface="Aptos"/>
                <a:cs typeface="Aptos"/>
              </a:rPr>
              <a:t>Antwort-</a:t>
            </a:r>
          </a:p>
          <a:p xmlns:a="http://schemas.openxmlformats.org/drawingml/2006/main">
            <a:pPr algn="ctr">
              <a:lnSpc>
                <a:spcPct val="108000"/>
              </a:lnSpc>
              <a:buNone/>
              <a:defRPr sz="1575" b="1">
                <a:solidFill>
                  <a:srgbClr val="F8FAFC"/>
                </a:solidFill>
                <a:latin typeface="Aptos"/>
                <a:ea typeface="Aptos"/>
                <a:cs typeface="Aptos"/>
              </a:defRPr>
            </a:pPr>
            <a:r>
              <a:rPr sz="1575" b="1">
                <a:solidFill>
                  <a:srgbClr val="F8FAFC"/>
                </a:solidFill>
                <a:latin typeface="Aptos"/>
                <a:ea typeface="Aptos"/>
                <a:cs typeface="Aptos"/>
              </a:rPr>
              <a:t>satz</a:t>
            </a:r>
          </a:p>
        </p:txBody>
      </p:sp>
      <p:sp>
        <p:nvSpPr>
          <p:cNvPr id="17" name="">
            <a:extLst xmlns:a="http://schemas.openxmlformats.org/drawingml/2006/main">
              <a:ext uri="{FF2B5EF4-FFF2-40B4-BE49-F238E27FC236}">
                <a16:creationId xmlns:a16="http://schemas.microsoft.com/office/drawing/2014/main" id="{5214EAF9-3DB1-45AC-A9D4-CE5CC5E57FED}"/>
              </a:ext>
            </a:extLst>
          </p:cNvPr>
          <p:cNvSpPr>
            <a:spLocks xmlns:a="http://schemas.openxmlformats.org/drawingml/2006/main" noGrp="1"/>
          </p:cNvSpPr>
          <p:nvPr/>
        </p:nvSpPr>
        <p:spPr>
          <a:xfrm xmlns:a="http://schemas.openxmlformats.org/drawingml/2006/main">
            <a:off x="3638550" y="364807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425" b="1">
                <a:solidFill>
                  <a:srgbClr val="34D399"/>
                </a:solidFill>
                <a:latin typeface="Aptos Mono"/>
                <a:ea typeface="Aptos Mono"/>
                <a:cs typeface="Aptos Mono"/>
              </a:defRPr>
            </a:pPr>
            <a:r>
              <a:rPr sz="1425" b="1">
                <a:solidFill>
                  <a:srgbClr val="34D399"/>
                </a:solidFill>
                <a:latin typeface="Aptos Mono"/>
                <a:ea typeface="Aptos Mono"/>
                <a:cs typeface="Aptos Mono"/>
              </a:rPr>
              <a:t>E2 / block_8</a:t>
            </a:r>
          </a:p>
        </p:txBody>
      </p:sp>
      <p:sp>
        <p:nvSpPr>
          <p:cNvPr id="18" name="">
            <a:extLst xmlns:a="http://schemas.openxmlformats.org/drawingml/2006/main">
              <a:ext uri="{FF2B5EF4-FFF2-40B4-BE49-F238E27FC236}">
                <a16:creationId xmlns:a16="http://schemas.microsoft.com/office/drawing/2014/main" id="{F3CD2F7B-92F6-4330-AAE2-3C0E8B5794CF}"/>
              </a:ext>
            </a:extLst>
          </p:cNvPr>
          <p:cNvSpPr>
            <a:spLocks xmlns:a="http://schemas.openxmlformats.org/drawingml/2006/main" noGrp="1"/>
          </p:cNvSpPr>
          <p:nvPr/>
        </p:nvSpPr>
        <p:spPr>
          <a:xfrm xmlns:a="http://schemas.openxmlformats.org/drawingml/2006/main">
            <a:off x="6076950" y="346710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18000"/>
              </a:lnSpc>
              <a:buNone/>
              <a:defRPr sz="1425" b="1">
                <a:solidFill>
                  <a:srgbClr val="FBBF24"/>
                </a:solidFill>
                <a:latin typeface="Aptos"/>
                <a:ea typeface="Aptos"/>
                <a:cs typeface="Aptos"/>
              </a:defRPr>
            </a:pPr>
            <a:r>
              <a:rPr sz="1425" b="1">
                <a:solidFill>
                  <a:srgbClr val="FBBF24"/>
                </a:solidFill>
                <a:latin typeface="Aptos"/>
                <a:ea typeface="Aptos"/>
                <a:cs typeface="Aptos"/>
              </a:rPr>
              <a:t>supported</a:t>
            </a:r>
          </a:p>
          <a:p xmlns:a="http://schemas.openxmlformats.org/drawingml/2006/main">
            <a:pPr algn="ctr">
              <a:lnSpc>
                <a:spcPct val="118000"/>
              </a:lnSpc>
              <a:buNone/>
              <a:defRPr sz="1425" b="1">
                <a:solidFill>
                  <a:srgbClr val="FBBF24"/>
                </a:solidFill>
                <a:latin typeface="Aptos"/>
                <a:ea typeface="Aptos"/>
                <a:cs typeface="Aptos"/>
              </a:defRPr>
            </a:pPr>
            <a:r>
              <a:rPr sz="1425" b="1">
                <a:solidFill>
                  <a:srgbClr val="FBBF24"/>
                </a:solidFill>
                <a:latin typeface="Aptos"/>
                <a:ea typeface="Aptos"/>
                <a:cs typeface="Aptos"/>
              </a:rPr>
              <a:t>partial</a:t>
            </a:r>
          </a:p>
          <a:p xmlns:a="http://schemas.openxmlformats.org/drawingml/2006/main">
            <a:pPr algn="ctr">
              <a:lnSpc>
                <a:spcPct val="118000"/>
              </a:lnSpc>
              <a:buNone/>
              <a:defRPr sz="1425" b="1">
                <a:solidFill>
                  <a:srgbClr val="FBBF24"/>
                </a:solidFill>
                <a:latin typeface="Aptos"/>
                <a:ea typeface="Aptos"/>
                <a:cs typeface="Aptos"/>
              </a:defRPr>
            </a:pPr>
            <a:r>
              <a:rPr sz="1425" b="1">
                <a:solidFill>
                  <a:srgbClr val="FBBF24"/>
                </a:solidFill>
                <a:latin typeface="Aptos"/>
                <a:ea typeface="Aptos"/>
                <a:cs typeface="Aptos"/>
              </a:rPr>
              <a:t>unsupported</a:t>
            </a:r>
          </a:p>
        </p:txBody>
      </p:sp>
      <p:sp>
        <p:nvSpPr>
          <p:cNvPr id="19" name="">
            <a:extLst xmlns:a="http://schemas.openxmlformats.org/drawingml/2006/main">
              <a:ext uri="{FF2B5EF4-FFF2-40B4-BE49-F238E27FC236}">
                <a16:creationId xmlns:a16="http://schemas.microsoft.com/office/drawing/2014/main" id="{E3AF49D6-C3CF-4865-9609-D19A92450B93}"/>
              </a:ext>
            </a:extLst>
          </p:cNvPr>
          <p:cNvSpPr>
            <a:spLocks xmlns:a="http://schemas.openxmlformats.org/drawingml/2006/main" noGrp="1"/>
          </p:cNvSpPr>
          <p:nvPr/>
        </p:nvSpPr>
        <p:spPr>
          <a:xfrm xmlns:a="http://schemas.openxmlformats.org/drawingml/2006/main">
            <a:off x="8782050" y="3467100"/>
            <a:ext cx="1381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18000"/>
              </a:lnSpc>
              <a:buNone/>
              <a:defRPr sz="1425" b="1">
                <a:solidFill>
                  <a:srgbClr val="A78BFA"/>
                </a:solidFill>
                <a:latin typeface="Aptos"/>
                <a:ea typeface="Aptos"/>
                <a:cs typeface="Aptos"/>
              </a:defRPr>
            </a:pPr>
            <a:r>
              <a:rPr sz="1425" b="1">
                <a:solidFill>
                  <a:srgbClr val="A78BFA"/>
                </a:solidFill>
                <a:latin typeface="Aptos"/>
                <a:ea typeface="Aptos"/>
                <a:cs typeface="Aptos"/>
              </a:rPr>
              <a:t>anzeigen</a:t>
            </a:r>
          </a:p>
          <a:p xmlns:a="http://schemas.openxmlformats.org/drawingml/2006/main">
            <a:pPr algn="ctr">
              <a:lnSpc>
                <a:spcPct val="118000"/>
              </a:lnSpc>
              <a:buNone/>
              <a:defRPr sz="1425" b="1">
                <a:solidFill>
                  <a:srgbClr val="A78BFA"/>
                </a:solidFill>
                <a:latin typeface="Aptos"/>
                <a:ea typeface="Aptos"/>
                <a:cs typeface="Aptos"/>
              </a:defRPr>
            </a:pPr>
            <a:r>
              <a:rPr sz="1425" b="1">
                <a:solidFill>
                  <a:srgbClr val="A78BFA"/>
                </a:solidFill>
                <a:latin typeface="Aptos"/>
                <a:ea typeface="Aptos"/>
                <a:cs typeface="Aptos"/>
              </a:rPr>
              <a:t>markieren</a:t>
            </a:r>
          </a:p>
          <a:p xmlns:a="http://schemas.openxmlformats.org/drawingml/2006/main">
            <a:pPr algn="ctr">
              <a:lnSpc>
                <a:spcPct val="118000"/>
              </a:lnSpc>
              <a:buNone/>
              <a:defRPr sz="1425" b="1">
                <a:solidFill>
                  <a:srgbClr val="A78BFA"/>
                </a:solidFill>
                <a:latin typeface="Aptos"/>
                <a:ea typeface="Aptos"/>
                <a:cs typeface="Aptos"/>
              </a:defRPr>
            </a:pPr>
            <a:r>
              <a:rPr sz="1425" b="1">
                <a:solidFill>
                  <a:srgbClr val="A78BFA"/>
                </a:solidFill>
                <a:latin typeface="Aptos"/>
                <a:ea typeface="Aptos"/>
                <a:cs typeface="Aptos"/>
              </a:rPr>
              <a:t>entfernen</a:t>
            </a:r>
          </a:p>
        </p:txBody>
      </p:sp>
      <p:sp>
        <p:nvSpPr>
          <p:cNvPr id="20" name="">
            <a:extLst xmlns:a="http://schemas.openxmlformats.org/drawingml/2006/main">
              <a:ext uri="{FF2B5EF4-FFF2-40B4-BE49-F238E27FC236}">
                <a16:creationId xmlns:a16="http://schemas.microsoft.com/office/drawing/2014/main" id="{641C26A2-A31D-4A99-B90E-440C411BCF45}"/>
              </a:ext>
            </a:extLst>
          </p:cNvPr>
          <p:cNvSpPr>
            <a:spLocks xmlns:a="http://schemas.openxmlformats.org/drawingml/2006/main" noGrp="1"/>
          </p:cNvSpPr>
          <p:nvPr/>
        </p:nvSpPr>
        <p:spPr>
          <a:xfrm xmlns:a="http://schemas.openxmlformats.org/drawingml/2006/main">
            <a:off x="3209925"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sp>
        <p:nvSpPr>
          <p:cNvPr id="21" name="">
            <a:extLst xmlns:a="http://schemas.openxmlformats.org/drawingml/2006/main">
              <a:ext uri="{FF2B5EF4-FFF2-40B4-BE49-F238E27FC236}">
                <a16:creationId xmlns:a16="http://schemas.microsoft.com/office/drawing/2014/main" id="{55175469-FD21-492E-A4B9-6547D5FD5CA2}"/>
              </a:ext>
            </a:extLst>
          </p:cNvPr>
          <p:cNvSpPr>
            <a:spLocks xmlns:a="http://schemas.openxmlformats.org/drawingml/2006/main" noGrp="1"/>
          </p:cNvSpPr>
          <p:nvPr/>
        </p:nvSpPr>
        <p:spPr>
          <a:xfrm xmlns:a="http://schemas.openxmlformats.org/drawingml/2006/main">
            <a:off x="3190875"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1" name=""/>
          <p:cNvCxnSpPr>
            <a:stCxn xmlns:a="http://schemas.openxmlformats.org/drawingml/2006/main" id="20" idx="6"/>
            <a:endCxn xmlns:a="http://schemas.openxmlformats.org/drawingml/2006/main" id="21" idx="2"/>
          </p:cNvCxnSpPr>
          <p:nvPr/>
        </p:nvCxnSpPr>
        <p:spPr>
          <a:xfrm xmlns:a="http://schemas.openxmlformats.org/drawingml/2006/main" flipH="1">
            <a:off x="3190875" y="3781425"/>
            <a:ext cx="11430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3" name="">
            <a:extLst xmlns:a="http://schemas.openxmlformats.org/drawingml/2006/main">
              <a:ext uri="{FF2B5EF4-FFF2-40B4-BE49-F238E27FC236}">
                <a16:creationId xmlns:a16="http://schemas.microsoft.com/office/drawing/2014/main" id="{73BA4AD6-7D9D-40DC-803B-38501201FAE9}"/>
              </a:ext>
            </a:extLst>
          </p:cNvPr>
          <p:cNvSpPr>
            <a:spLocks xmlns:a="http://schemas.openxmlformats.org/drawingml/2006/main" noGrp="1"/>
          </p:cNvSpPr>
          <p:nvPr/>
        </p:nvSpPr>
        <p:spPr>
          <a:xfrm xmlns:a="http://schemas.openxmlformats.org/drawingml/2006/main">
            <a:off x="5448300"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sp>
        <p:nvSpPr>
          <p:cNvPr id="24" name="">
            <a:extLst xmlns:a="http://schemas.openxmlformats.org/drawingml/2006/main">
              <a:ext uri="{FF2B5EF4-FFF2-40B4-BE49-F238E27FC236}">
                <a16:creationId xmlns:a16="http://schemas.microsoft.com/office/drawing/2014/main" id="{A15DFD8E-C5D0-4AD0-B718-664ECA770DBF}"/>
              </a:ext>
            </a:extLst>
          </p:cNvPr>
          <p:cNvSpPr>
            <a:spLocks xmlns:a="http://schemas.openxmlformats.org/drawingml/2006/main" noGrp="1"/>
          </p:cNvSpPr>
          <p:nvPr/>
        </p:nvSpPr>
        <p:spPr>
          <a:xfrm xmlns:a="http://schemas.openxmlformats.org/drawingml/2006/main">
            <a:off x="5429250"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4" name=""/>
          <p:cNvCxnSpPr>
            <a:stCxn xmlns:a="http://schemas.openxmlformats.org/drawingml/2006/main" id="23" idx="6"/>
            <a:endCxn xmlns:a="http://schemas.openxmlformats.org/drawingml/2006/main" id="24" idx="2"/>
          </p:cNvCxnSpPr>
          <p:nvPr/>
        </p:nvCxnSpPr>
        <p:spPr>
          <a:xfrm xmlns:a="http://schemas.openxmlformats.org/drawingml/2006/main" flipH="1">
            <a:off x="5429250" y="3781425"/>
            <a:ext cx="11430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6" name="">
            <a:extLst xmlns:a="http://schemas.openxmlformats.org/drawingml/2006/main">
              <a:ext uri="{FF2B5EF4-FFF2-40B4-BE49-F238E27FC236}">
                <a16:creationId xmlns:a16="http://schemas.microsoft.com/office/drawing/2014/main" id="{D6201BD8-730B-441F-B5FD-0C57D2CF7575}"/>
              </a:ext>
            </a:extLst>
          </p:cNvPr>
          <p:cNvSpPr>
            <a:spLocks xmlns:a="http://schemas.openxmlformats.org/drawingml/2006/main" noGrp="1"/>
          </p:cNvSpPr>
          <p:nvPr/>
        </p:nvSpPr>
        <p:spPr>
          <a:xfrm xmlns:a="http://schemas.openxmlformats.org/drawingml/2006/main">
            <a:off x="8162925"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sp>
        <p:nvSpPr>
          <p:cNvPr id="27" name="">
            <a:extLst xmlns:a="http://schemas.openxmlformats.org/drawingml/2006/main">
              <a:ext uri="{FF2B5EF4-FFF2-40B4-BE49-F238E27FC236}">
                <a16:creationId xmlns:a16="http://schemas.microsoft.com/office/drawing/2014/main" id="{366A4FC8-1BC3-46A2-8ECB-6721A0EFEA66}"/>
              </a:ext>
            </a:extLst>
          </p:cNvPr>
          <p:cNvSpPr>
            <a:spLocks xmlns:a="http://schemas.openxmlformats.org/drawingml/2006/main" noGrp="1"/>
          </p:cNvSpPr>
          <p:nvPr/>
        </p:nvSpPr>
        <p:spPr>
          <a:xfrm xmlns:a="http://schemas.openxmlformats.org/drawingml/2006/main">
            <a:off x="8143875" y="3733800"/>
            <a:ext cx="95250" cy="95250"/>
          </a:xfrm>
          <a:prstGeom xmlns:a="http://schemas.openxmlformats.org/drawingml/2006/main" prst="ellipse">
            <a:avLst/>
          </a:prstGeom>
          <a:solidFill xmlns:a="http://schemas.openxmlformats.org/drawingml/2006/main">
            <a:srgbClr val="7E8AA2"/>
          </a:solidFill>
          <a:ln xmlns:a="http://schemas.openxmlformats.org/drawingml/2006/main" w="0">
            <a:solidFill>
              <a:srgbClr val="7E8AA2"/>
            </a:solidFill>
            <a:prstDash val="solid"/>
          </a:ln>
        </p:spPr>
      </p:sp>
      <p:cxnSp>
        <p:nvCxnSpPr>
          <p:cNvPr id="57" name=""/>
          <p:cNvCxnSpPr>
            <a:stCxn xmlns:a="http://schemas.openxmlformats.org/drawingml/2006/main" id="26" idx="6"/>
            <a:endCxn xmlns:a="http://schemas.openxmlformats.org/drawingml/2006/main" id="27" idx="2"/>
          </p:cNvCxnSpPr>
          <p:nvPr/>
        </p:nvCxnSpPr>
        <p:spPr>
          <a:xfrm xmlns:a="http://schemas.openxmlformats.org/drawingml/2006/main" flipH="1">
            <a:off x="8143875" y="3781425"/>
            <a:ext cx="114300" cy="0"/>
          </a:xfrm>
          <a:prstGeom xmlns:a="http://schemas.openxmlformats.org/drawingml/2006/main" prst="straightConnector1">
            <a:avLst/>
          </a:prstGeom>
          <a:ln xmlns:a="http://schemas.openxmlformats.org/drawingml/2006/main" w="19050">
            <a:solidFill>
              <a:srgbClr val="7E8AA2">
                <a:alpha val="70000"/>
              </a:srgbClr>
            </a:solidFill>
            <a:prstDash val="solid"/>
            <a:headEnd type="arrow" w="sm" len="sm"/>
          </a:ln>
        </p:spPr>
      </p:cxnSp>
      <p:sp>
        <p:nvSpPr>
          <p:cNvPr id="29" name="">
            <a:extLst xmlns:a="http://schemas.openxmlformats.org/drawingml/2006/main">
              <a:ext uri="{FF2B5EF4-FFF2-40B4-BE49-F238E27FC236}">
                <a16:creationId xmlns:a16="http://schemas.microsoft.com/office/drawing/2014/main" id="{3E98559E-02BC-4084-AAC6-8E39EC4CE201}"/>
              </a:ext>
            </a:extLst>
          </p:cNvPr>
          <p:cNvSpPr>
            <a:spLocks xmlns:a="http://schemas.openxmlformats.org/drawingml/2006/main" noGrp="1"/>
          </p:cNvSpPr>
          <p:nvPr/>
        </p:nvSpPr>
        <p:spPr>
          <a:xfrm xmlns:a="http://schemas.openxmlformats.org/drawingml/2006/main">
            <a:off x="2476500" y="500062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75" b="1">
                <a:solidFill>
                  <a:srgbClr val="CBD5E1"/>
                </a:solidFill>
                <a:latin typeface="Aptos"/>
                <a:ea typeface="Aptos"/>
                <a:cs typeface="Aptos"/>
              </a:defRPr>
            </a:pPr>
            <a:r>
              <a:rPr sz="1875" b="1">
                <a:solidFill>
                  <a:srgbClr val="CBD5E1"/>
                </a:solidFill>
                <a:latin typeface="Aptos"/>
                <a:ea typeface="Aptos"/>
                <a:cs typeface="Aptos"/>
              </a:rPr>
              <a:t>Das Ledger macht Grounding nachträglich sichtbar.</a:t>
            </a:r>
          </a:p>
        </p:txBody>
      </p:sp>
    </p:spTree>
    <p:extLst>
      <p:ext uri="{BB962C8B-B14F-4D97-AF65-F5344CB8AC3E}">
        <p14:creationId xmlns:p14="http://schemas.microsoft.com/office/powerpoint/2010/main" val="1113026620"/>
      </p:ext>
    </p:extLst>
  </p:cSld>
</p:sld>
</file>

<file path=ppt/slides/slide17.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79DF70-D259-45FD-88DE-499D47A976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346115-7247-4FA0-AC80-1DA55BC80D98}"/>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1754950D-DF1E-4E14-87D9-07794FDFBCCE}"/>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922BE44A-6A42-487B-9C9A-95EA45519A73}"/>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17 / 22</a:t>
            </a:r>
          </a:p>
        </p:txBody>
      </p:sp>
      <p:sp>
        <p:nvSpPr>
          <p:cNvPr id="5" name="">
            <a:extLst xmlns:a="http://schemas.openxmlformats.org/drawingml/2006/main">
              <a:ext uri="{FF2B5EF4-FFF2-40B4-BE49-F238E27FC236}">
                <a16:creationId xmlns:a16="http://schemas.microsoft.com/office/drawing/2014/main" id="{379CA189-AA40-4CE0-96D2-BBA9E5A40F19}"/>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4F492D06-CCA2-4A46-A5DF-4F14B32B2FFB}"/>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STRUKTURIERTES WISSEN</a:t>
            </a:r>
          </a:p>
        </p:txBody>
      </p:sp>
      <p:sp>
        <p:nvSpPr>
          <p:cNvPr id="7" name="">
            <a:extLst xmlns:a="http://schemas.openxmlformats.org/drawingml/2006/main">
              <a:ext uri="{FF2B5EF4-FFF2-40B4-BE49-F238E27FC236}">
                <a16:creationId xmlns:a16="http://schemas.microsoft.com/office/drawing/2014/main" id="{99CAF1A9-E62A-436D-941D-A332E336D8DE}"/>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Der Knowledge Layer macht das Notebook wiederverwendbar</a:t>
            </a:r>
          </a:p>
        </p:txBody>
      </p:sp>
      <p:sp>
        <p:nvSpPr>
          <p:cNvPr id="8" name="">
            <a:extLst xmlns:a="http://schemas.openxmlformats.org/drawingml/2006/main">
              <a:ext uri="{FF2B5EF4-FFF2-40B4-BE49-F238E27FC236}">
                <a16:creationId xmlns:a16="http://schemas.microsoft.com/office/drawing/2014/main" id="{6BDFEF3A-25D4-47BF-9555-3A4C08C3FADF}"/>
              </a:ext>
            </a:extLst>
          </p:cNvPr>
          <p:cNvSpPr>
            <a:spLocks xmlns:a="http://schemas.openxmlformats.org/drawingml/2006/main" noGrp="1"/>
          </p:cNvSpPr>
          <p:nvPr/>
        </p:nvSpPr>
        <p:spPr>
          <a:xfrm xmlns:a="http://schemas.openxmlformats.org/drawingml/2006/main">
            <a:off x="1276350" y="2286000"/>
            <a:ext cx="4381500" cy="2857500"/>
          </a:xfrm>
          <a:prstGeom xmlns:a="http://schemas.openxmlformats.org/drawingml/2006/main" prst="roundRect">
            <a:avLst>
              <a:gd name="adj" fmla="val 6000"/>
            </a:avLst>
          </a:prstGeom>
          <a:solidFill xmlns:a="http://schemas.openxmlformats.org/drawingml/2006/main">
            <a:srgbClr val="36E0F2">
              <a:alpha val="10000"/>
            </a:srgbClr>
          </a:solidFill>
          <a:ln xmlns:a="http://schemas.openxmlformats.org/drawingml/2006/main" w="9525">
            <a:solidFill>
              <a:srgbClr val="36E0F2">
                <a:alpha val="52000"/>
              </a:srgbClr>
            </a:solidFill>
            <a:prstDash val="solid"/>
          </a:ln>
        </p:spPr>
      </p:sp>
      <p:sp>
        <p:nvSpPr>
          <p:cNvPr id="9" name="">
            <a:extLst xmlns:a="http://schemas.openxmlformats.org/drawingml/2006/main">
              <a:ext uri="{FF2B5EF4-FFF2-40B4-BE49-F238E27FC236}">
                <a16:creationId xmlns:a16="http://schemas.microsoft.com/office/drawing/2014/main" id="{D48AE675-2B9A-4F3D-A6D7-7711A5B1BB77}"/>
              </a:ext>
            </a:extLst>
          </p:cNvPr>
          <p:cNvSpPr>
            <a:spLocks xmlns:a="http://schemas.openxmlformats.org/drawingml/2006/main" noGrp="1"/>
          </p:cNvSpPr>
          <p:nvPr/>
        </p:nvSpPr>
        <p:spPr>
          <a:xfrm xmlns:a="http://schemas.openxmlformats.org/drawingml/2006/main">
            <a:off x="1600200" y="25908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250" b="1">
                <a:solidFill>
                  <a:srgbClr val="36E0F2"/>
                </a:solidFill>
                <a:latin typeface="Aptos"/>
                <a:ea typeface="Aptos"/>
                <a:cs typeface="Aptos"/>
              </a:defRPr>
            </a:pPr>
            <a:r>
              <a:rPr sz="2250" b="1">
                <a:solidFill>
                  <a:srgbClr val="36E0F2"/>
                </a:solidFill>
                <a:latin typeface="Aptos"/>
                <a:ea typeface="Aptos"/>
                <a:cs typeface="Aptos"/>
              </a:rPr>
              <a:t>Pro Quelle</a:t>
            </a:r>
          </a:p>
        </p:txBody>
      </p:sp>
      <p:sp>
        <p:nvSpPr>
          <p:cNvPr id="10" name="">
            <a:extLst xmlns:a="http://schemas.openxmlformats.org/drawingml/2006/main">
              <a:ext uri="{FF2B5EF4-FFF2-40B4-BE49-F238E27FC236}">
                <a16:creationId xmlns:a16="http://schemas.microsoft.com/office/drawing/2014/main" id="{7908D1C9-77AE-48A0-8799-95E0E19B203E}"/>
              </a:ext>
            </a:extLst>
          </p:cNvPr>
          <p:cNvSpPr>
            <a:spLocks xmlns:a="http://schemas.openxmlformats.org/drawingml/2006/main" noGrp="1"/>
          </p:cNvSpPr>
          <p:nvPr/>
        </p:nvSpPr>
        <p:spPr>
          <a:xfrm xmlns:a="http://schemas.openxmlformats.org/drawingml/2006/main">
            <a:off x="1638300" y="32194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1" name="">
            <a:extLst xmlns:a="http://schemas.openxmlformats.org/drawingml/2006/main">
              <a:ext uri="{FF2B5EF4-FFF2-40B4-BE49-F238E27FC236}">
                <a16:creationId xmlns:a16="http://schemas.microsoft.com/office/drawing/2014/main" id="{4DFBAA7F-963E-43B5-8474-37D9522987AF}"/>
              </a:ext>
            </a:extLst>
          </p:cNvPr>
          <p:cNvSpPr>
            <a:spLocks xmlns:a="http://schemas.openxmlformats.org/drawingml/2006/main" noGrp="1"/>
          </p:cNvSpPr>
          <p:nvPr/>
        </p:nvSpPr>
        <p:spPr>
          <a:xfrm xmlns:a="http://schemas.openxmlformats.org/drawingml/2006/main">
            <a:off x="1847850" y="31432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Summary</a:t>
            </a:r>
          </a:p>
        </p:txBody>
      </p:sp>
      <p:sp>
        <p:nvSpPr>
          <p:cNvPr id="12" name="">
            <a:extLst xmlns:a="http://schemas.openxmlformats.org/drawingml/2006/main">
              <a:ext uri="{FF2B5EF4-FFF2-40B4-BE49-F238E27FC236}">
                <a16:creationId xmlns:a16="http://schemas.microsoft.com/office/drawing/2014/main" id="{47B8CF94-F9C6-4D3D-A000-3D8F7000C3E8}"/>
              </a:ext>
            </a:extLst>
          </p:cNvPr>
          <p:cNvSpPr>
            <a:spLocks xmlns:a="http://schemas.openxmlformats.org/drawingml/2006/main" noGrp="1"/>
          </p:cNvSpPr>
          <p:nvPr/>
        </p:nvSpPr>
        <p:spPr>
          <a:xfrm xmlns:a="http://schemas.openxmlformats.org/drawingml/2006/main">
            <a:off x="1638300" y="35242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3" name="">
            <a:extLst xmlns:a="http://schemas.openxmlformats.org/drawingml/2006/main">
              <a:ext uri="{FF2B5EF4-FFF2-40B4-BE49-F238E27FC236}">
                <a16:creationId xmlns:a16="http://schemas.microsoft.com/office/drawing/2014/main" id="{0F093AD4-3FC2-4F77-8AFE-295BACDD7A13}"/>
              </a:ext>
            </a:extLst>
          </p:cNvPr>
          <p:cNvSpPr>
            <a:spLocks xmlns:a="http://schemas.openxmlformats.org/drawingml/2006/main" noGrp="1"/>
          </p:cNvSpPr>
          <p:nvPr/>
        </p:nvSpPr>
        <p:spPr>
          <a:xfrm xmlns:a="http://schemas.openxmlformats.org/drawingml/2006/main">
            <a:off x="1847850" y="34480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Section Summaries</a:t>
            </a:r>
          </a:p>
        </p:txBody>
      </p:sp>
      <p:sp>
        <p:nvSpPr>
          <p:cNvPr id="14" name="">
            <a:extLst xmlns:a="http://schemas.openxmlformats.org/drawingml/2006/main">
              <a:ext uri="{FF2B5EF4-FFF2-40B4-BE49-F238E27FC236}">
                <a16:creationId xmlns:a16="http://schemas.microsoft.com/office/drawing/2014/main" id="{8C3FA1E1-96C8-4DF6-92DD-CEDDF05B6A78}"/>
              </a:ext>
            </a:extLst>
          </p:cNvPr>
          <p:cNvSpPr>
            <a:spLocks xmlns:a="http://schemas.openxmlformats.org/drawingml/2006/main" noGrp="1"/>
          </p:cNvSpPr>
          <p:nvPr/>
        </p:nvSpPr>
        <p:spPr>
          <a:xfrm xmlns:a="http://schemas.openxmlformats.org/drawingml/2006/main">
            <a:off x="1638300" y="38290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5" name="">
            <a:extLst xmlns:a="http://schemas.openxmlformats.org/drawingml/2006/main">
              <a:ext uri="{FF2B5EF4-FFF2-40B4-BE49-F238E27FC236}">
                <a16:creationId xmlns:a16="http://schemas.microsoft.com/office/drawing/2014/main" id="{92F257D8-BDBC-465A-92A4-7E1174087AD5}"/>
              </a:ext>
            </a:extLst>
          </p:cNvPr>
          <p:cNvSpPr>
            <a:spLocks xmlns:a="http://schemas.openxmlformats.org/drawingml/2006/main" noGrp="1"/>
          </p:cNvSpPr>
          <p:nvPr/>
        </p:nvSpPr>
        <p:spPr>
          <a:xfrm xmlns:a="http://schemas.openxmlformats.org/drawingml/2006/main">
            <a:off x="1847850" y="37528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Claims</a:t>
            </a:r>
          </a:p>
        </p:txBody>
      </p:sp>
      <p:sp>
        <p:nvSpPr>
          <p:cNvPr id="16" name="">
            <a:extLst xmlns:a="http://schemas.openxmlformats.org/drawingml/2006/main">
              <a:ext uri="{FF2B5EF4-FFF2-40B4-BE49-F238E27FC236}">
                <a16:creationId xmlns:a16="http://schemas.microsoft.com/office/drawing/2014/main" id="{A00E8076-CF70-48D7-869C-455B0C9E267C}"/>
              </a:ext>
            </a:extLst>
          </p:cNvPr>
          <p:cNvSpPr>
            <a:spLocks xmlns:a="http://schemas.openxmlformats.org/drawingml/2006/main" noGrp="1"/>
          </p:cNvSpPr>
          <p:nvPr/>
        </p:nvSpPr>
        <p:spPr>
          <a:xfrm xmlns:a="http://schemas.openxmlformats.org/drawingml/2006/main">
            <a:off x="1638300" y="41338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7" name="">
            <a:extLst xmlns:a="http://schemas.openxmlformats.org/drawingml/2006/main">
              <a:ext uri="{FF2B5EF4-FFF2-40B4-BE49-F238E27FC236}">
                <a16:creationId xmlns:a16="http://schemas.microsoft.com/office/drawing/2014/main" id="{79E8319D-F210-4B33-BDA0-BA8D82FF7326}"/>
              </a:ext>
            </a:extLst>
          </p:cNvPr>
          <p:cNvSpPr>
            <a:spLocks xmlns:a="http://schemas.openxmlformats.org/drawingml/2006/main" noGrp="1"/>
          </p:cNvSpPr>
          <p:nvPr/>
        </p:nvSpPr>
        <p:spPr>
          <a:xfrm xmlns:a="http://schemas.openxmlformats.org/drawingml/2006/main">
            <a:off x="1847850" y="40576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Entities</a:t>
            </a:r>
          </a:p>
        </p:txBody>
      </p:sp>
      <p:sp>
        <p:nvSpPr>
          <p:cNvPr id="18" name="">
            <a:extLst xmlns:a="http://schemas.openxmlformats.org/drawingml/2006/main">
              <a:ext uri="{FF2B5EF4-FFF2-40B4-BE49-F238E27FC236}">
                <a16:creationId xmlns:a16="http://schemas.microsoft.com/office/drawing/2014/main" id="{6A1BF7F1-F5C8-4909-B941-228D004FEE73}"/>
              </a:ext>
            </a:extLst>
          </p:cNvPr>
          <p:cNvSpPr>
            <a:spLocks xmlns:a="http://schemas.openxmlformats.org/drawingml/2006/main" noGrp="1"/>
          </p:cNvSpPr>
          <p:nvPr/>
        </p:nvSpPr>
        <p:spPr>
          <a:xfrm xmlns:a="http://schemas.openxmlformats.org/drawingml/2006/main">
            <a:off x="1638300" y="44386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9" name="">
            <a:extLst xmlns:a="http://schemas.openxmlformats.org/drawingml/2006/main">
              <a:ext uri="{FF2B5EF4-FFF2-40B4-BE49-F238E27FC236}">
                <a16:creationId xmlns:a16="http://schemas.microsoft.com/office/drawing/2014/main" id="{6311E1CC-188D-4FC1-B707-8C86FDF0B1A3}"/>
              </a:ext>
            </a:extLst>
          </p:cNvPr>
          <p:cNvSpPr>
            <a:spLocks xmlns:a="http://schemas.openxmlformats.org/drawingml/2006/main" noGrp="1"/>
          </p:cNvSpPr>
          <p:nvPr/>
        </p:nvSpPr>
        <p:spPr>
          <a:xfrm xmlns:a="http://schemas.openxmlformats.org/drawingml/2006/main">
            <a:off x="1847850" y="43624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Dates / Numbers</a:t>
            </a:r>
          </a:p>
        </p:txBody>
      </p:sp>
      <p:sp>
        <p:nvSpPr>
          <p:cNvPr id="20" name="">
            <a:extLst xmlns:a="http://schemas.openxmlformats.org/drawingml/2006/main">
              <a:ext uri="{FF2B5EF4-FFF2-40B4-BE49-F238E27FC236}">
                <a16:creationId xmlns:a16="http://schemas.microsoft.com/office/drawing/2014/main" id="{D869B044-D15A-4306-A5E5-6D286ACBC9E3}"/>
              </a:ext>
            </a:extLst>
          </p:cNvPr>
          <p:cNvSpPr>
            <a:spLocks xmlns:a="http://schemas.openxmlformats.org/drawingml/2006/main" noGrp="1"/>
          </p:cNvSpPr>
          <p:nvPr/>
        </p:nvSpPr>
        <p:spPr>
          <a:xfrm xmlns:a="http://schemas.openxmlformats.org/drawingml/2006/main">
            <a:off x="1638300" y="47434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21" name="">
            <a:extLst xmlns:a="http://schemas.openxmlformats.org/drawingml/2006/main">
              <a:ext uri="{FF2B5EF4-FFF2-40B4-BE49-F238E27FC236}">
                <a16:creationId xmlns:a16="http://schemas.microsoft.com/office/drawing/2014/main" id="{4A7A9F6B-BADE-48EB-A101-A08BC30C4D0F}"/>
              </a:ext>
            </a:extLst>
          </p:cNvPr>
          <p:cNvSpPr>
            <a:spLocks xmlns:a="http://schemas.openxmlformats.org/drawingml/2006/main" noGrp="1"/>
          </p:cNvSpPr>
          <p:nvPr/>
        </p:nvSpPr>
        <p:spPr>
          <a:xfrm xmlns:a="http://schemas.openxmlformats.org/drawingml/2006/main">
            <a:off x="1847850" y="46672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Risks / Questions</a:t>
            </a:r>
          </a:p>
        </p:txBody>
      </p:sp>
      <p:sp>
        <p:nvSpPr>
          <p:cNvPr id="22" name="">
            <a:extLst xmlns:a="http://schemas.openxmlformats.org/drawingml/2006/main">
              <a:ext uri="{FF2B5EF4-FFF2-40B4-BE49-F238E27FC236}">
                <a16:creationId xmlns:a16="http://schemas.microsoft.com/office/drawing/2014/main" id="{48A52380-F06F-46F9-99E7-34A02260AC97}"/>
              </a:ext>
            </a:extLst>
          </p:cNvPr>
          <p:cNvSpPr>
            <a:spLocks xmlns:a="http://schemas.openxmlformats.org/drawingml/2006/main" noGrp="1"/>
          </p:cNvSpPr>
          <p:nvPr/>
        </p:nvSpPr>
        <p:spPr>
          <a:xfrm xmlns:a="http://schemas.openxmlformats.org/drawingml/2006/main">
            <a:off x="6534150" y="2286000"/>
            <a:ext cx="4381500" cy="2857500"/>
          </a:xfrm>
          <a:prstGeom xmlns:a="http://schemas.openxmlformats.org/drawingml/2006/main" prst="roundRect">
            <a:avLst>
              <a:gd name="adj" fmla="val 6000"/>
            </a:avLst>
          </a:prstGeom>
          <a:solidFill xmlns:a="http://schemas.openxmlformats.org/drawingml/2006/main">
            <a:srgbClr val="34D399">
              <a:alpha val="10000"/>
            </a:srgbClr>
          </a:solidFill>
          <a:ln xmlns:a="http://schemas.openxmlformats.org/drawingml/2006/main" w="9525">
            <a:solidFill>
              <a:srgbClr val="34D399">
                <a:alpha val="52000"/>
              </a:srgbClr>
            </a:solidFill>
            <a:prstDash val="solid"/>
          </a:ln>
        </p:spPr>
      </p:sp>
      <p:sp>
        <p:nvSpPr>
          <p:cNvPr id="23" name="">
            <a:extLst xmlns:a="http://schemas.openxmlformats.org/drawingml/2006/main">
              <a:ext uri="{FF2B5EF4-FFF2-40B4-BE49-F238E27FC236}">
                <a16:creationId xmlns:a16="http://schemas.microsoft.com/office/drawing/2014/main" id="{1EB80562-BE68-45EA-B075-7F4F072883CA}"/>
              </a:ext>
            </a:extLst>
          </p:cNvPr>
          <p:cNvSpPr>
            <a:spLocks xmlns:a="http://schemas.openxmlformats.org/drawingml/2006/main" noGrp="1"/>
          </p:cNvSpPr>
          <p:nvPr/>
        </p:nvSpPr>
        <p:spPr>
          <a:xfrm xmlns:a="http://schemas.openxmlformats.org/drawingml/2006/main">
            <a:off x="6858000" y="25908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250" b="1">
                <a:solidFill>
                  <a:srgbClr val="34D399"/>
                </a:solidFill>
                <a:latin typeface="Aptos"/>
                <a:ea typeface="Aptos"/>
                <a:cs typeface="Aptos"/>
              </a:defRPr>
            </a:pPr>
            <a:r>
              <a:rPr sz="2250" b="1">
                <a:solidFill>
                  <a:srgbClr val="34D399"/>
                </a:solidFill>
                <a:latin typeface="Aptos"/>
                <a:ea typeface="Aptos"/>
                <a:cs typeface="Aptos"/>
              </a:rPr>
              <a:t>Pro Notebook</a:t>
            </a:r>
          </a:p>
        </p:txBody>
      </p:sp>
      <p:sp>
        <p:nvSpPr>
          <p:cNvPr id="24" name="">
            <a:extLst xmlns:a="http://schemas.openxmlformats.org/drawingml/2006/main">
              <a:ext uri="{FF2B5EF4-FFF2-40B4-BE49-F238E27FC236}">
                <a16:creationId xmlns:a16="http://schemas.microsoft.com/office/drawing/2014/main" id="{28E0BA9A-9B79-4317-A875-190D8751E7CE}"/>
              </a:ext>
            </a:extLst>
          </p:cNvPr>
          <p:cNvSpPr>
            <a:spLocks xmlns:a="http://schemas.openxmlformats.org/drawingml/2006/main" noGrp="1"/>
          </p:cNvSpPr>
          <p:nvPr/>
        </p:nvSpPr>
        <p:spPr>
          <a:xfrm xmlns:a="http://schemas.openxmlformats.org/drawingml/2006/main">
            <a:off x="6896100" y="32194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5" name="">
            <a:extLst xmlns:a="http://schemas.openxmlformats.org/drawingml/2006/main">
              <a:ext uri="{FF2B5EF4-FFF2-40B4-BE49-F238E27FC236}">
                <a16:creationId xmlns:a16="http://schemas.microsoft.com/office/drawing/2014/main" id="{CBC37EDE-6221-4394-8A10-8EA6744197B0}"/>
              </a:ext>
            </a:extLst>
          </p:cNvPr>
          <p:cNvSpPr>
            <a:spLocks xmlns:a="http://schemas.openxmlformats.org/drawingml/2006/main" noGrp="1"/>
          </p:cNvSpPr>
          <p:nvPr/>
        </p:nvSpPr>
        <p:spPr>
          <a:xfrm xmlns:a="http://schemas.openxmlformats.org/drawingml/2006/main">
            <a:off x="7105650" y="31432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Notebook Summary</a:t>
            </a:r>
          </a:p>
        </p:txBody>
      </p:sp>
      <p:sp>
        <p:nvSpPr>
          <p:cNvPr id="26" name="">
            <a:extLst xmlns:a="http://schemas.openxmlformats.org/drawingml/2006/main">
              <a:ext uri="{FF2B5EF4-FFF2-40B4-BE49-F238E27FC236}">
                <a16:creationId xmlns:a16="http://schemas.microsoft.com/office/drawing/2014/main" id="{65883DEB-3C2E-4829-841C-EE8B8789DE76}"/>
              </a:ext>
            </a:extLst>
          </p:cNvPr>
          <p:cNvSpPr>
            <a:spLocks xmlns:a="http://schemas.openxmlformats.org/drawingml/2006/main" noGrp="1"/>
          </p:cNvSpPr>
          <p:nvPr/>
        </p:nvSpPr>
        <p:spPr>
          <a:xfrm xmlns:a="http://schemas.openxmlformats.org/drawingml/2006/main">
            <a:off x="6896100" y="35242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7" name="">
            <a:extLst xmlns:a="http://schemas.openxmlformats.org/drawingml/2006/main">
              <a:ext uri="{FF2B5EF4-FFF2-40B4-BE49-F238E27FC236}">
                <a16:creationId xmlns:a16="http://schemas.microsoft.com/office/drawing/2014/main" id="{C5F0E319-F633-4C5C-AAFA-48C3AF44DB10}"/>
              </a:ext>
            </a:extLst>
          </p:cNvPr>
          <p:cNvSpPr>
            <a:spLocks xmlns:a="http://schemas.openxmlformats.org/drawingml/2006/main" noGrp="1"/>
          </p:cNvSpPr>
          <p:nvPr/>
        </p:nvSpPr>
        <p:spPr>
          <a:xfrm xmlns:a="http://schemas.openxmlformats.org/drawingml/2006/main">
            <a:off x="7105650" y="34480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Topic Map</a:t>
            </a:r>
          </a:p>
        </p:txBody>
      </p:sp>
      <p:sp>
        <p:nvSpPr>
          <p:cNvPr id="28" name="">
            <a:extLst xmlns:a="http://schemas.openxmlformats.org/drawingml/2006/main">
              <a:ext uri="{FF2B5EF4-FFF2-40B4-BE49-F238E27FC236}">
                <a16:creationId xmlns:a16="http://schemas.microsoft.com/office/drawing/2014/main" id="{E23A5CDE-9084-4AAF-A980-DE8D1CF9DBC6}"/>
              </a:ext>
            </a:extLst>
          </p:cNvPr>
          <p:cNvSpPr>
            <a:spLocks xmlns:a="http://schemas.openxmlformats.org/drawingml/2006/main" noGrp="1"/>
          </p:cNvSpPr>
          <p:nvPr/>
        </p:nvSpPr>
        <p:spPr>
          <a:xfrm xmlns:a="http://schemas.openxmlformats.org/drawingml/2006/main">
            <a:off x="6896100" y="38290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29" name="">
            <a:extLst xmlns:a="http://schemas.openxmlformats.org/drawingml/2006/main">
              <a:ext uri="{FF2B5EF4-FFF2-40B4-BE49-F238E27FC236}">
                <a16:creationId xmlns:a16="http://schemas.microsoft.com/office/drawing/2014/main" id="{4FA31DF3-BBDD-4342-9EDE-DFF02285D352}"/>
              </a:ext>
            </a:extLst>
          </p:cNvPr>
          <p:cNvSpPr>
            <a:spLocks xmlns:a="http://schemas.openxmlformats.org/drawingml/2006/main" noGrp="1"/>
          </p:cNvSpPr>
          <p:nvPr/>
        </p:nvSpPr>
        <p:spPr>
          <a:xfrm xmlns:a="http://schemas.openxmlformats.org/drawingml/2006/main">
            <a:off x="7105650" y="37528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Entity Index</a:t>
            </a:r>
          </a:p>
        </p:txBody>
      </p:sp>
      <p:sp>
        <p:nvSpPr>
          <p:cNvPr id="30" name="">
            <a:extLst xmlns:a="http://schemas.openxmlformats.org/drawingml/2006/main">
              <a:ext uri="{FF2B5EF4-FFF2-40B4-BE49-F238E27FC236}">
                <a16:creationId xmlns:a16="http://schemas.microsoft.com/office/drawing/2014/main" id="{1393298A-797F-4583-8CBC-E2ACB8506BED}"/>
              </a:ext>
            </a:extLst>
          </p:cNvPr>
          <p:cNvSpPr>
            <a:spLocks xmlns:a="http://schemas.openxmlformats.org/drawingml/2006/main" noGrp="1"/>
          </p:cNvSpPr>
          <p:nvPr/>
        </p:nvSpPr>
        <p:spPr>
          <a:xfrm xmlns:a="http://schemas.openxmlformats.org/drawingml/2006/main">
            <a:off x="6896100" y="41338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31" name="">
            <a:extLst xmlns:a="http://schemas.openxmlformats.org/drawingml/2006/main">
              <a:ext uri="{FF2B5EF4-FFF2-40B4-BE49-F238E27FC236}">
                <a16:creationId xmlns:a16="http://schemas.microsoft.com/office/drawing/2014/main" id="{C5E258AE-D3C9-4D5D-A94A-1B057BE09E30}"/>
              </a:ext>
            </a:extLst>
          </p:cNvPr>
          <p:cNvSpPr>
            <a:spLocks xmlns:a="http://schemas.openxmlformats.org/drawingml/2006/main" noGrp="1"/>
          </p:cNvSpPr>
          <p:nvPr/>
        </p:nvSpPr>
        <p:spPr>
          <a:xfrm xmlns:a="http://schemas.openxmlformats.org/drawingml/2006/main">
            <a:off x="7105650" y="40576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Connections</a:t>
            </a:r>
          </a:p>
        </p:txBody>
      </p:sp>
      <p:sp>
        <p:nvSpPr>
          <p:cNvPr id="32" name="">
            <a:extLst xmlns:a="http://schemas.openxmlformats.org/drawingml/2006/main">
              <a:ext uri="{FF2B5EF4-FFF2-40B4-BE49-F238E27FC236}">
                <a16:creationId xmlns:a16="http://schemas.microsoft.com/office/drawing/2014/main" id="{A23366C9-E040-463B-BAAA-C7414EAA9A07}"/>
              </a:ext>
            </a:extLst>
          </p:cNvPr>
          <p:cNvSpPr>
            <a:spLocks xmlns:a="http://schemas.openxmlformats.org/drawingml/2006/main" noGrp="1"/>
          </p:cNvSpPr>
          <p:nvPr/>
        </p:nvSpPr>
        <p:spPr>
          <a:xfrm xmlns:a="http://schemas.openxmlformats.org/drawingml/2006/main">
            <a:off x="6896100" y="44386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33" name="">
            <a:extLst xmlns:a="http://schemas.openxmlformats.org/drawingml/2006/main">
              <a:ext uri="{FF2B5EF4-FFF2-40B4-BE49-F238E27FC236}">
                <a16:creationId xmlns:a16="http://schemas.microsoft.com/office/drawing/2014/main" id="{33E26EB0-95F3-4C8E-9788-FE166DBAD9AF}"/>
              </a:ext>
            </a:extLst>
          </p:cNvPr>
          <p:cNvSpPr>
            <a:spLocks xmlns:a="http://schemas.openxmlformats.org/drawingml/2006/main" noGrp="1"/>
          </p:cNvSpPr>
          <p:nvPr/>
        </p:nvSpPr>
        <p:spPr>
          <a:xfrm xmlns:a="http://schemas.openxmlformats.org/drawingml/2006/main">
            <a:off x="7105650" y="43624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Contradictions</a:t>
            </a:r>
          </a:p>
        </p:txBody>
      </p:sp>
      <p:sp>
        <p:nvSpPr>
          <p:cNvPr id="34" name="">
            <a:extLst xmlns:a="http://schemas.openxmlformats.org/drawingml/2006/main">
              <a:ext uri="{FF2B5EF4-FFF2-40B4-BE49-F238E27FC236}">
                <a16:creationId xmlns:a16="http://schemas.microsoft.com/office/drawing/2014/main" id="{A6EBF80D-2E7C-4A21-80D3-04C5186DF5ED}"/>
              </a:ext>
            </a:extLst>
          </p:cNvPr>
          <p:cNvSpPr>
            <a:spLocks xmlns:a="http://schemas.openxmlformats.org/drawingml/2006/main" noGrp="1"/>
          </p:cNvSpPr>
          <p:nvPr/>
        </p:nvSpPr>
        <p:spPr>
          <a:xfrm xmlns:a="http://schemas.openxmlformats.org/drawingml/2006/main">
            <a:off x="6896100" y="474345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35" name="">
            <a:extLst xmlns:a="http://schemas.openxmlformats.org/drawingml/2006/main">
              <a:ext uri="{FF2B5EF4-FFF2-40B4-BE49-F238E27FC236}">
                <a16:creationId xmlns:a16="http://schemas.microsoft.com/office/drawing/2014/main" id="{205B486E-99E2-44FD-9240-1EF67ECAB114}"/>
              </a:ext>
            </a:extLst>
          </p:cNvPr>
          <p:cNvSpPr>
            <a:spLocks xmlns:a="http://schemas.openxmlformats.org/drawingml/2006/main" noGrp="1"/>
          </p:cNvSpPr>
          <p:nvPr/>
        </p:nvSpPr>
        <p:spPr>
          <a:xfrm xmlns:a="http://schemas.openxmlformats.org/drawingml/2006/main">
            <a:off x="7105650" y="4667250"/>
            <a:ext cx="3409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275" b="0">
                <a:solidFill>
                  <a:srgbClr val="CBD5E1"/>
                </a:solidFill>
                <a:latin typeface="Aptos"/>
                <a:ea typeface="Aptos"/>
                <a:cs typeface="Aptos"/>
              </a:defRPr>
            </a:pPr>
            <a:r>
              <a:rPr sz="1275" b="0">
                <a:solidFill>
                  <a:srgbClr val="CBD5E1"/>
                </a:solidFill>
                <a:latin typeface="Aptos"/>
                <a:ea typeface="Aptos"/>
                <a:cs typeface="Aptos"/>
              </a:rPr>
              <a:t>Suggested Artifacts</a:t>
            </a:r>
          </a:p>
        </p:txBody>
      </p:sp>
    </p:spTree>
    <p:extLst>
      <p:ext uri="{BB962C8B-B14F-4D97-AF65-F5344CB8AC3E}">
        <p14:creationId xmlns:p14="http://schemas.microsoft.com/office/powerpoint/2010/main" val="1714283468"/>
      </p:ext>
    </p:extLst>
  </p:cSld>
</p:sld>
</file>

<file path=ppt/slides/slide18.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76EF53-5603-442E-BCA4-44AE29D17B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386F93-C26B-4AE0-AD6B-72660751701D}"/>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23377DB2-90E3-4897-B774-80789C21E383}"/>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1C91047F-B812-4156-B2D8-FBAC2E2DF4A5}"/>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18 / 22</a:t>
            </a:r>
          </a:p>
        </p:txBody>
      </p:sp>
      <p:sp>
        <p:nvSpPr>
          <p:cNvPr id="5" name="">
            <a:extLst xmlns:a="http://schemas.openxmlformats.org/drawingml/2006/main">
              <a:ext uri="{FF2B5EF4-FFF2-40B4-BE49-F238E27FC236}">
                <a16:creationId xmlns:a16="http://schemas.microsoft.com/office/drawing/2014/main" id="{277D8717-11DE-4DA4-B860-96B4592F68D7}"/>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24010B80-1CE6-4237-A3A6-08AF3FC4DA0B}"/>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ARTIFACTS</a:t>
            </a:r>
          </a:p>
        </p:txBody>
      </p:sp>
      <p:sp>
        <p:nvSpPr>
          <p:cNvPr id="7" name="">
            <a:extLst xmlns:a="http://schemas.openxmlformats.org/drawingml/2006/main">
              <a:ext uri="{FF2B5EF4-FFF2-40B4-BE49-F238E27FC236}">
                <a16:creationId xmlns:a16="http://schemas.microsoft.com/office/drawing/2014/main" id="{B595DDF3-7512-47D3-A1BB-677BD5475230}"/>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Studio Outputs nutzen dieselbe Evidence</a:t>
            </a:r>
          </a:p>
        </p:txBody>
      </p:sp>
      <p:sp>
        <p:nvSpPr>
          <p:cNvPr id="8" name="">
            <a:extLst xmlns:a="http://schemas.openxmlformats.org/drawingml/2006/main">
              <a:ext uri="{FF2B5EF4-FFF2-40B4-BE49-F238E27FC236}">
                <a16:creationId xmlns:a16="http://schemas.microsoft.com/office/drawing/2014/main" id="{EA2B7DC9-2D34-4AD7-8184-9BA8CB0E7619}"/>
              </a:ext>
            </a:extLst>
          </p:cNvPr>
          <p:cNvSpPr>
            <a:spLocks xmlns:a="http://schemas.openxmlformats.org/drawingml/2006/main" noGrp="1"/>
          </p:cNvSpPr>
          <p:nvPr/>
        </p:nvSpPr>
        <p:spPr>
          <a:xfrm xmlns:a="http://schemas.openxmlformats.org/drawingml/2006/main">
            <a:off x="1123950" y="2190750"/>
            <a:ext cx="2857500" cy="685800"/>
          </a:xfrm>
          <a:prstGeom xmlns:a="http://schemas.openxmlformats.org/drawingml/2006/main" prst="roundRect">
            <a:avLst>
              <a:gd name="adj" fmla="val 19444"/>
            </a:avLst>
          </a:prstGeom>
          <a:solidFill xmlns:a="http://schemas.openxmlformats.org/drawingml/2006/main">
            <a:srgbClr val="36E0F2">
              <a:alpha val="10000"/>
            </a:srgbClr>
          </a:solidFill>
          <a:ln xmlns:a="http://schemas.openxmlformats.org/drawingml/2006/main" w="9525">
            <a:solidFill>
              <a:srgbClr val="36E0F2">
                <a:alpha val="50000"/>
              </a:srgbClr>
            </a:solidFill>
            <a:prstDash val="solid"/>
          </a:ln>
        </p:spPr>
      </p:sp>
      <p:sp>
        <p:nvSpPr>
          <p:cNvPr id="9" name="">
            <a:extLst xmlns:a="http://schemas.openxmlformats.org/drawingml/2006/main">
              <a:ext uri="{FF2B5EF4-FFF2-40B4-BE49-F238E27FC236}">
                <a16:creationId xmlns:a16="http://schemas.microsoft.com/office/drawing/2014/main" id="{7BAD9D71-B25D-4992-A50C-61BE54AC801F}"/>
              </a:ext>
            </a:extLst>
          </p:cNvPr>
          <p:cNvSpPr>
            <a:spLocks xmlns:a="http://schemas.openxmlformats.org/drawingml/2006/main" noGrp="1"/>
          </p:cNvSpPr>
          <p:nvPr/>
        </p:nvSpPr>
        <p:spPr>
          <a:xfrm xmlns:a="http://schemas.openxmlformats.org/drawingml/2006/main">
            <a:off x="1352550" y="23907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Report</a:t>
            </a:r>
          </a:p>
        </p:txBody>
      </p:sp>
      <p:sp>
        <p:nvSpPr>
          <p:cNvPr id="10" name="">
            <a:extLst xmlns:a="http://schemas.openxmlformats.org/drawingml/2006/main">
              <a:ext uri="{FF2B5EF4-FFF2-40B4-BE49-F238E27FC236}">
                <a16:creationId xmlns:a16="http://schemas.microsoft.com/office/drawing/2014/main" id="{9E235ACD-7EA1-4ED2-9762-00310C96AC67}"/>
              </a:ext>
            </a:extLst>
          </p:cNvPr>
          <p:cNvSpPr>
            <a:spLocks xmlns:a="http://schemas.openxmlformats.org/drawingml/2006/main" noGrp="1"/>
          </p:cNvSpPr>
          <p:nvPr/>
        </p:nvSpPr>
        <p:spPr>
          <a:xfrm xmlns:a="http://schemas.openxmlformats.org/drawingml/2006/main">
            <a:off x="4457700" y="2190750"/>
            <a:ext cx="2857500" cy="685800"/>
          </a:xfrm>
          <a:prstGeom xmlns:a="http://schemas.openxmlformats.org/drawingml/2006/main" prst="roundRect">
            <a:avLst>
              <a:gd name="adj" fmla="val 19444"/>
            </a:avLst>
          </a:prstGeom>
          <a:solidFill xmlns:a="http://schemas.openxmlformats.org/drawingml/2006/main">
            <a:srgbClr val="34D399">
              <a:alpha val="10000"/>
            </a:srgbClr>
          </a:solidFill>
          <a:ln xmlns:a="http://schemas.openxmlformats.org/drawingml/2006/main" w="9525">
            <a:solidFill>
              <a:srgbClr val="34D399">
                <a:alpha val="50000"/>
              </a:srgbClr>
            </a:solidFill>
            <a:prstDash val="solid"/>
          </a:ln>
        </p:spPr>
      </p:sp>
      <p:sp>
        <p:nvSpPr>
          <p:cNvPr id="11" name="">
            <a:extLst xmlns:a="http://schemas.openxmlformats.org/drawingml/2006/main">
              <a:ext uri="{FF2B5EF4-FFF2-40B4-BE49-F238E27FC236}">
                <a16:creationId xmlns:a16="http://schemas.microsoft.com/office/drawing/2014/main" id="{E457684C-950E-4E40-AB78-F8D32E384AB9}"/>
              </a:ext>
            </a:extLst>
          </p:cNvPr>
          <p:cNvSpPr>
            <a:spLocks xmlns:a="http://schemas.openxmlformats.org/drawingml/2006/main" noGrp="1"/>
          </p:cNvSpPr>
          <p:nvPr/>
        </p:nvSpPr>
        <p:spPr>
          <a:xfrm xmlns:a="http://schemas.openxmlformats.org/drawingml/2006/main">
            <a:off x="4686300" y="23907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Mind Map</a:t>
            </a:r>
          </a:p>
        </p:txBody>
      </p:sp>
      <p:sp>
        <p:nvSpPr>
          <p:cNvPr id="12" name="">
            <a:extLst xmlns:a="http://schemas.openxmlformats.org/drawingml/2006/main">
              <a:ext uri="{FF2B5EF4-FFF2-40B4-BE49-F238E27FC236}">
                <a16:creationId xmlns:a16="http://schemas.microsoft.com/office/drawing/2014/main" id="{911BB887-A9CD-4BDB-8973-7627B6729388}"/>
              </a:ext>
            </a:extLst>
          </p:cNvPr>
          <p:cNvSpPr>
            <a:spLocks xmlns:a="http://schemas.openxmlformats.org/drawingml/2006/main" noGrp="1"/>
          </p:cNvSpPr>
          <p:nvPr/>
        </p:nvSpPr>
        <p:spPr>
          <a:xfrm xmlns:a="http://schemas.openxmlformats.org/drawingml/2006/main">
            <a:off x="7791450" y="2190750"/>
            <a:ext cx="2857500" cy="685800"/>
          </a:xfrm>
          <a:prstGeom xmlns:a="http://schemas.openxmlformats.org/drawingml/2006/main" prst="roundRect">
            <a:avLst>
              <a:gd name="adj" fmla="val 19444"/>
            </a:avLst>
          </a:prstGeom>
          <a:solidFill xmlns:a="http://schemas.openxmlformats.org/drawingml/2006/main">
            <a:srgbClr val="FBBF24">
              <a:alpha val="10000"/>
            </a:srgbClr>
          </a:solidFill>
          <a:ln xmlns:a="http://schemas.openxmlformats.org/drawingml/2006/main" w="9525">
            <a:solidFill>
              <a:srgbClr val="FBBF24">
                <a:alpha val="50000"/>
              </a:srgbClr>
            </a:solidFill>
            <a:prstDash val="solid"/>
          </a:ln>
        </p:spPr>
      </p:sp>
      <p:sp>
        <p:nvSpPr>
          <p:cNvPr id="13" name="">
            <a:extLst xmlns:a="http://schemas.openxmlformats.org/drawingml/2006/main">
              <a:ext uri="{FF2B5EF4-FFF2-40B4-BE49-F238E27FC236}">
                <a16:creationId xmlns:a16="http://schemas.microsoft.com/office/drawing/2014/main" id="{74073035-B6FA-4A71-B64A-0C3BCC483F5A}"/>
              </a:ext>
            </a:extLst>
          </p:cNvPr>
          <p:cNvSpPr>
            <a:spLocks xmlns:a="http://schemas.openxmlformats.org/drawingml/2006/main" noGrp="1"/>
          </p:cNvSpPr>
          <p:nvPr/>
        </p:nvSpPr>
        <p:spPr>
          <a:xfrm xmlns:a="http://schemas.openxmlformats.org/drawingml/2006/main">
            <a:off x="8020050" y="23907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Flashcards</a:t>
            </a:r>
          </a:p>
        </p:txBody>
      </p:sp>
      <p:sp>
        <p:nvSpPr>
          <p:cNvPr id="14" name="">
            <a:extLst xmlns:a="http://schemas.openxmlformats.org/drawingml/2006/main">
              <a:ext uri="{FF2B5EF4-FFF2-40B4-BE49-F238E27FC236}">
                <a16:creationId xmlns:a16="http://schemas.microsoft.com/office/drawing/2014/main" id="{AF299BBA-EFE1-46C2-BA43-846FA3F2E7D3}"/>
              </a:ext>
            </a:extLst>
          </p:cNvPr>
          <p:cNvSpPr>
            <a:spLocks xmlns:a="http://schemas.openxmlformats.org/drawingml/2006/main" noGrp="1"/>
          </p:cNvSpPr>
          <p:nvPr/>
        </p:nvSpPr>
        <p:spPr>
          <a:xfrm xmlns:a="http://schemas.openxmlformats.org/drawingml/2006/main">
            <a:off x="1123950" y="3162300"/>
            <a:ext cx="2857500" cy="685800"/>
          </a:xfrm>
          <a:prstGeom xmlns:a="http://schemas.openxmlformats.org/drawingml/2006/main" prst="roundRect">
            <a:avLst>
              <a:gd name="adj" fmla="val 19444"/>
            </a:avLst>
          </a:prstGeom>
          <a:solidFill xmlns:a="http://schemas.openxmlformats.org/drawingml/2006/main">
            <a:srgbClr val="A78BFA">
              <a:alpha val="10000"/>
            </a:srgbClr>
          </a:solidFill>
          <a:ln xmlns:a="http://schemas.openxmlformats.org/drawingml/2006/main" w="9525">
            <a:solidFill>
              <a:srgbClr val="A78BFA">
                <a:alpha val="50000"/>
              </a:srgbClr>
            </a:solidFill>
            <a:prstDash val="solid"/>
          </a:ln>
        </p:spPr>
      </p:sp>
      <p:sp>
        <p:nvSpPr>
          <p:cNvPr id="15" name="">
            <a:extLst xmlns:a="http://schemas.openxmlformats.org/drawingml/2006/main">
              <a:ext uri="{FF2B5EF4-FFF2-40B4-BE49-F238E27FC236}">
                <a16:creationId xmlns:a16="http://schemas.microsoft.com/office/drawing/2014/main" id="{A204A595-EB78-4FD6-8A2D-50629D63CBEE}"/>
              </a:ext>
            </a:extLst>
          </p:cNvPr>
          <p:cNvSpPr>
            <a:spLocks xmlns:a="http://schemas.openxmlformats.org/drawingml/2006/main" noGrp="1"/>
          </p:cNvSpPr>
          <p:nvPr/>
        </p:nvSpPr>
        <p:spPr>
          <a:xfrm xmlns:a="http://schemas.openxmlformats.org/drawingml/2006/main">
            <a:off x="1352550" y="336232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Quiz</a:t>
            </a:r>
          </a:p>
        </p:txBody>
      </p:sp>
      <p:sp>
        <p:nvSpPr>
          <p:cNvPr id="16" name="">
            <a:extLst xmlns:a="http://schemas.openxmlformats.org/drawingml/2006/main">
              <a:ext uri="{FF2B5EF4-FFF2-40B4-BE49-F238E27FC236}">
                <a16:creationId xmlns:a16="http://schemas.microsoft.com/office/drawing/2014/main" id="{DA886764-1026-4E17-B5D2-D2BDB35F37BB}"/>
              </a:ext>
            </a:extLst>
          </p:cNvPr>
          <p:cNvSpPr>
            <a:spLocks xmlns:a="http://schemas.openxmlformats.org/drawingml/2006/main" noGrp="1"/>
          </p:cNvSpPr>
          <p:nvPr/>
        </p:nvSpPr>
        <p:spPr>
          <a:xfrm xmlns:a="http://schemas.openxmlformats.org/drawingml/2006/main">
            <a:off x="4457700" y="3162300"/>
            <a:ext cx="2857500" cy="685800"/>
          </a:xfrm>
          <a:prstGeom xmlns:a="http://schemas.openxmlformats.org/drawingml/2006/main" prst="roundRect">
            <a:avLst>
              <a:gd name="adj" fmla="val 19444"/>
            </a:avLst>
          </a:prstGeom>
          <a:solidFill xmlns:a="http://schemas.openxmlformats.org/drawingml/2006/main">
            <a:srgbClr val="34D399">
              <a:alpha val="10000"/>
            </a:srgbClr>
          </a:solidFill>
          <a:ln xmlns:a="http://schemas.openxmlformats.org/drawingml/2006/main" w="9525">
            <a:solidFill>
              <a:srgbClr val="34D399">
                <a:alpha val="50000"/>
              </a:srgbClr>
            </a:solidFill>
            <a:prstDash val="solid"/>
          </a:ln>
        </p:spPr>
      </p:sp>
      <p:sp>
        <p:nvSpPr>
          <p:cNvPr id="17" name="">
            <a:extLst xmlns:a="http://schemas.openxmlformats.org/drawingml/2006/main">
              <a:ext uri="{FF2B5EF4-FFF2-40B4-BE49-F238E27FC236}">
                <a16:creationId xmlns:a16="http://schemas.microsoft.com/office/drawing/2014/main" id="{3BD03BEA-899C-4BC1-9D84-910ACE601EAE}"/>
              </a:ext>
            </a:extLst>
          </p:cNvPr>
          <p:cNvSpPr>
            <a:spLocks xmlns:a="http://schemas.openxmlformats.org/drawingml/2006/main" noGrp="1"/>
          </p:cNvSpPr>
          <p:nvPr/>
        </p:nvSpPr>
        <p:spPr>
          <a:xfrm xmlns:a="http://schemas.openxmlformats.org/drawingml/2006/main">
            <a:off x="4686300" y="336232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Data Table</a:t>
            </a:r>
          </a:p>
        </p:txBody>
      </p:sp>
      <p:sp>
        <p:nvSpPr>
          <p:cNvPr id="18" name="">
            <a:extLst xmlns:a="http://schemas.openxmlformats.org/drawingml/2006/main">
              <a:ext uri="{FF2B5EF4-FFF2-40B4-BE49-F238E27FC236}">
                <a16:creationId xmlns:a16="http://schemas.microsoft.com/office/drawing/2014/main" id="{CEAE70CB-F961-4FAB-BC99-CFEFB706B3B0}"/>
              </a:ext>
            </a:extLst>
          </p:cNvPr>
          <p:cNvSpPr>
            <a:spLocks xmlns:a="http://schemas.openxmlformats.org/drawingml/2006/main" noGrp="1"/>
          </p:cNvSpPr>
          <p:nvPr/>
        </p:nvSpPr>
        <p:spPr>
          <a:xfrm xmlns:a="http://schemas.openxmlformats.org/drawingml/2006/main">
            <a:off x="7791450" y="3162300"/>
            <a:ext cx="2857500" cy="685800"/>
          </a:xfrm>
          <a:prstGeom xmlns:a="http://schemas.openxmlformats.org/drawingml/2006/main" prst="roundRect">
            <a:avLst>
              <a:gd name="adj" fmla="val 19444"/>
            </a:avLst>
          </a:prstGeom>
          <a:solidFill xmlns:a="http://schemas.openxmlformats.org/drawingml/2006/main">
            <a:srgbClr val="36E0F2">
              <a:alpha val="10000"/>
            </a:srgbClr>
          </a:solidFill>
          <a:ln xmlns:a="http://schemas.openxmlformats.org/drawingml/2006/main" w="9525">
            <a:solidFill>
              <a:srgbClr val="36E0F2">
                <a:alpha val="50000"/>
              </a:srgbClr>
            </a:solidFill>
            <a:prstDash val="solid"/>
          </a:ln>
        </p:spPr>
      </p:sp>
      <p:sp>
        <p:nvSpPr>
          <p:cNvPr id="19" name="">
            <a:extLst xmlns:a="http://schemas.openxmlformats.org/drawingml/2006/main">
              <a:ext uri="{FF2B5EF4-FFF2-40B4-BE49-F238E27FC236}">
                <a16:creationId xmlns:a16="http://schemas.microsoft.com/office/drawing/2014/main" id="{28E561FD-B32E-4B3E-BD13-7026C2F4A714}"/>
              </a:ext>
            </a:extLst>
          </p:cNvPr>
          <p:cNvSpPr>
            <a:spLocks xmlns:a="http://schemas.openxmlformats.org/drawingml/2006/main" noGrp="1"/>
          </p:cNvSpPr>
          <p:nvPr/>
        </p:nvSpPr>
        <p:spPr>
          <a:xfrm xmlns:a="http://schemas.openxmlformats.org/drawingml/2006/main">
            <a:off x="8020050" y="336232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Slide Deck</a:t>
            </a:r>
          </a:p>
        </p:txBody>
      </p:sp>
      <p:sp>
        <p:nvSpPr>
          <p:cNvPr id="20" name="">
            <a:extLst xmlns:a="http://schemas.openxmlformats.org/drawingml/2006/main">
              <a:ext uri="{FF2B5EF4-FFF2-40B4-BE49-F238E27FC236}">
                <a16:creationId xmlns:a16="http://schemas.microsoft.com/office/drawing/2014/main" id="{D5A6B3D1-FFD5-4795-9A12-8AB7ABBC8924}"/>
              </a:ext>
            </a:extLst>
          </p:cNvPr>
          <p:cNvSpPr>
            <a:spLocks xmlns:a="http://schemas.openxmlformats.org/drawingml/2006/main" noGrp="1"/>
          </p:cNvSpPr>
          <p:nvPr/>
        </p:nvSpPr>
        <p:spPr>
          <a:xfrm xmlns:a="http://schemas.openxmlformats.org/drawingml/2006/main">
            <a:off x="1123950" y="4133850"/>
            <a:ext cx="2857500" cy="685800"/>
          </a:xfrm>
          <a:prstGeom xmlns:a="http://schemas.openxmlformats.org/drawingml/2006/main" prst="roundRect">
            <a:avLst>
              <a:gd name="adj" fmla="val 19444"/>
            </a:avLst>
          </a:prstGeom>
          <a:solidFill xmlns:a="http://schemas.openxmlformats.org/drawingml/2006/main">
            <a:srgbClr val="A78BFA">
              <a:alpha val="10000"/>
            </a:srgbClr>
          </a:solidFill>
          <a:ln xmlns:a="http://schemas.openxmlformats.org/drawingml/2006/main" w="9525">
            <a:solidFill>
              <a:srgbClr val="A78BFA">
                <a:alpha val="50000"/>
              </a:srgbClr>
            </a:solidFill>
            <a:prstDash val="solid"/>
          </a:ln>
        </p:spPr>
      </p:sp>
      <p:sp>
        <p:nvSpPr>
          <p:cNvPr id="21" name="">
            <a:extLst xmlns:a="http://schemas.openxmlformats.org/drawingml/2006/main">
              <a:ext uri="{FF2B5EF4-FFF2-40B4-BE49-F238E27FC236}">
                <a16:creationId xmlns:a16="http://schemas.microsoft.com/office/drawing/2014/main" id="{4F672C9B-470B-45B0-9574-3A8601EC1087}"/>
              </a:ext>
            </a:extLst>
          </p:cNvPr>
          <p:cNvSpPr>
            <a:spLocks xmlns:a="http://schemas.openxmlformats.org/drawingml/2006/main" noGrp="1"/>
          </p:cNvSpPr>
          <p:nvPr/>
        </p:nvSpPr>
        <p:spPr>
          <a:xfrm xmlns:a="http://schemas.openxmlformats.org/drawingml/2006/main">
            <a:off x="1352550" y="43338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Audio Transcript</a:t>
            </a:r>
          </a:p>
        </p:txBody>
      </p:sp>
      <p:sp>
        <p:nvSpPr>
          <p:cNvPr id="22" name="">
            <a:extLst xmlns:a="http://schemas.openxmlformats.org/drawingml/2006/main">
              <a:ext uri="{FF2B5EF4-FFF2-40B4-BE49-F238E27FC236}">
                <a16:creationId xmlns:a16="http://schemas.microsoft.com/office/drawing/2014/main" id="{150F2AC1-739C-4650-8718-A6C1417CD12E}"/>
              </a:ext>
            </a:extLst>
          </p:cNvPr>
          <p:cNvSpPr>
            <a:spLocks xmlns:a="http://schemas.openxmlformats.org/drawingml/2006/main" noGrp="1"/>
          </p:cNvSpPr>
          <p:nvPr/>
        </p:nvSpPr>
        <p:spPr>
          <a:xfrm xmlns:a="http://schemas.openxmlformats.org/drawingml/2006/main">
            <a:off x="4457700" y="4133850"/>
            <a:ext cx="2857500" cy="685800"/>
          </a:xfrm>
          <a:prstGeom xmlns:a="http://schemas.openxmlformats.org/drawingml/2006/main" prst="roundRect">
            <a:avLst>
              <a:gd name="adj" fmla="val 19444"/>
            </a:avLst>
          </a:prstGeom>
          <a:solidFill xmlns:a="http://schemas.openxmlformats.org/drawingml/2006/main">
            <a:srgbClr val="FBBF24">
              <a:alpha val="10000"/>
            </a:srgbClr>
          </a:solidFill>
          <a:ln xmlns:a="http://schemas.openxmlformats.org/drawingml/2006/main" w="9525">
            <a:solidFill>
              <a:srgbClr val="FBBF24">
                <a:alpha val="50000"/>
              </a:srgbClr>
            </a:solidFill>
            <a:prstDash val="solid"/>
          </a:ln>
        </p:spPr>
      </p:sp>
      <p:sp>
        <p:nvSpPr>
          <p:cNvPr id="23" name="">
            <a:extLst xmlns:a="http://schemas.openxmlformats.org/drawingml/2006/main">
              <a:ext uri="{FF2B5EF4-FFF2-40B4-BE49-F238E27FC236}">
                <a16:creationId xmlns:a16="http://schemas.microsoft.com/office/drawing/2014/main" id="{C7252175-DF4A-4D17-8DCC-D3B04D2458F2}"/>
              </a:ext>
            </a:extLst>
          </p:cNvPr>
          <p:cNvSpPr>
            <a:spLocks xmlns:a="http://schemas.openxmlformats.org/drawingml/2006/main" noGrp="1"/>
          </p:cNvSpPr>
          <p:nvPr/>
        </p:nvSpPr>
        <p:spPr>
          <a:xfrm xmlns:a="http://schemas.openxmlformats.org/drawingml/2006/main">
            <a:off x="4686300" y="43338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Video Storyboard</a:t>
            </a:r>
          </a:p>
        </p:txBody>
      </p:sp>
      <p:sp>
        <p:nvSpPr>
          <p:cNvPr id="24" name="">
            <a:extLst xmlns:a="http://schemas.openxmlformats.org/drawingml/2006/main">
              <a:ext uri="{FF2B5EF4-FFF2-40B4-BE49-F238E27FC236}">
                <a16:creationId xmlns:a16="http://schemas.microsoft.com/office/drawing/2014/main" id="{F8A8011E-0A92-454D-94A1-4DBBCEE27EB2}"/>
              </a:ext>
            </a:extLst>
          </p:cNvPr>
          <p:cNvSpPr>
            <a:spLocks xmlns:a="http://schemas.openxmlformats.org/drawingml/2006/main" noGrp="1"/>
          </p:cNvSpPr>
          <p:nvPr/>
        </p:nvSpPr>
        <p:spPr>
          <a:xfrm xmlns:a="http://schemas.openxmlformats.org/drawingml/2006/main">
            <a:off x="7791450" y="4133850"/>
            <a:ext cx="2857500" cy="685800"/>
          </a:xfrm>
          <a:prstGeom xmlns:a="http://schemas.openxmlformats.org/drawingml/2006/main" prst="roundRect">
            <a:avLst>
              <a:gd name="adj" fmla="val 19444"/>
            </a:avLst>
          </a:prstGeom>
          <a:solidFill xmlns:a="http://schemas.openxmlformats.org/drawingml/2006/main">
            <a:srgbClr val="FB7185">
              <a:alpha val="10000"/>
            </a:srgbClr>
          </a:solidFill>
          <a:ln xmlns:a="http://schemas.openxmlformats.org/drawingml/2006/main" w="9525">
            <a:solidFill>
              <a:srgbClr val="FB7185">
                <a:alpha val="50000"/>
              </a:srgbClr>
            </a:solidFill>
            <a:prstDash val="solid"/>
          </a:ln>
        </p:spPr>
      </p:sp>
      <p:sp>
        <p:nvSpPr>
          <p:cNvPr id="25" name="">
            <a:extLst xmlns:a="http://schemas.openxmlformats.org/drawingml/2006/main">
              <a:ext uri="{FF2B5EF4-FFF2-40B4-BE49-F238E27FC236}">
                <a16:creationId xmlns:a16="http://schemas.microsoft.com/office/drawing/2014/main" id="{15F38E02-8D1C-407F-9440-E354A70F536E}"/>
              </a:ext>
            </a:extLst>
          </p:cNvPr>
          <p:cNvSpPr>
            <a:spLocks xmlns:a="http://schemas.openxmlformats.org/drawingml/2006/main" noGrp="1"/>
          </p:cNvSpPr>
          <p:nvPr/>
        </p:nvSpPr>
        <p:spPr>
          <a:xfrm xmlns:a="http://schemas.openxmlformats.org/drawingml/2006/main">
            <a:off x="8020050" y="4333875"/>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650" b="1">
                <a:solidFill>
                  <a:srgbClr val="F8FAFC"/>
                </a:solidFill>
                <a:latin typeface="Aptos"/>
                <a:ea typeface="Aptos"/>
                <a:cs typeface="Aptos"/>
              </a:defRPr>
            </a:pPr>
            <a:r>
              <a:rPr sz="1650" b="1">
                <a:solidFill>
                  <a:srgbClr val="F8FAFC"/>
                </a:solidFill>
                <a:latin typeface="Aptos"/>
                <a:ea typeface="Aptos"/>
                <a:cs typeface="Aptos"/>
              </a:rPr>
              <a:t>Infographic</a:t>
            </a:r>
          </a:p>
        </p:txBody>
      </p:sp>
      <p:sp>
        <p:nvSpPr>
          <p:cNvPr id="26" name="">
            <a:extLst xmlns:a="http://schemas.openxmlformats.org/drawingml/2006/main">
              <a:ext uri="{FF2B5EF4-FFF2-40B4-BE49-F238E27FC236}">
                <a16:creationId xmlns:a16="http://schemas.microsoft.com/office/drawing/2014/main" id="{2A6BC273-1A48-4218-8470-DA92535BF33F}"/>
              </a:ext>
            </a:extLst>
          </p:cNvPr>
          <p:cNvSpPr>
            <a:spLocks xmlns:a="http://schemas.openxmlformats.org/drawingml/2006/main" noGrp="1"/>
          </p:cNvSpPr>
          <p:nvPr/>
        </p:nvSpPr>
        <p:spPr>
          <a:xfrm xmlns:a="http://schemas.openxmlformats.org/drawingml/2006/main">
            <a:off x="2857500" y="5353050"/>
            <a:ext cx="647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950" b="1">
                <a:solidFill>
                  <a:srgbClr val="CBD5E1"/>
                </a:solidFill>
                <a:latin typeface="Aptos"/>
                <a:ea typeface="Aptos"/>
                <a:cs typeface="Aptos"/>
              </a:defRPr>
            </a:pPr>
            <a:r>
              <a:rPr sz="1950" b="1">
                <a:solidFill>
                  <a:srgbClr val="CBD5E1"/>
                </a:solidFill>
                <a:latin typeface="Aptos"/>
                <a:ea typeface="Aptos"/>
                <a:cs typeface="Aptos"/>
              </a:rPr>
              <a:t>Ein Evidence Pack, viele Ausgabeformen.</a:t>
            </a:r>
          </a:p>
        </p:txBody>
      </p:sp>
    </p:spTree>
    <p:extLst>
      <p:ext uri="{BB962C8B-B14F-4D97-AF65-F5344CB8AC3E}">
        <p14:creationId xmlns:p14="http://schemas.microsoft.com/office/powerpoint/2010/main" val="1781320091"/>
      </p:ext>
    </p:extLst>
  </p:cSld>
</p:sld>
</file>

<file path=ppt/slides/slide19.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40D382-C0A1-4F87-A96C-4D611C8E47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AAF8AE6-8447-432B-BDE6-5B855F1EA464}"/>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FBDF9B01-DF0F-40A7-BC08-A7B13AA48A01}"/>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2E1133B7-12F0-4179-9973-646732E7F4BB}"/>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19 / 22</a:t>
            </a:r>
          </a:p>
        </p:txBody>
      </p:sp>
      <p:sp>
        <p:nvSpPr>
          <p:cNvPr id="5" name="">
            <a:extLst xmlns:a="http://schemas.openxmlformats.org/drawingml/2006/main">
              <a:ext uri="{FF2B5EF4-FFF2-40B4-BE49-F238E27FC236}">
                <a16:creationId xmlns:a16="http://schemas.microsoft.com/office/drawing/2014/main" id="{9577EED3-2399-47DF-BE99-0073254D1657}"/>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22793718-89C1-4734-AEB8-B5EA1277CB30}"/>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SCREENSHARE</a:t>
            </a:r>
          </a:p>
        </p:txBody>
      </p:sp>
      <p:sp>
        <p:nvSpPr>
          <p:cNvPr id="7" name="">
            <a:extLst xmlns:a="http://schemas.openxmlformats.org/drawingml/2006/main">
              <a:ext uri="{FF2B5EF4-FFF2-40B4-BE49-F238E27FC236}">
                <a16:creationId xmlns:a16="http://schemas.microsoft.com/office/drawing/2014/main" id="{A71A12BC-A3C1-44D0-981D-6EC034D04F7A}"/>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Live-Demo 3: Artefakte erzeugen und prüfen</a:t>
            </a:r>
          </a:p>
        </p:txBody>
      </p:sp>
      <p:sp>
        <p:nvSpPr>
          <p:cNvPr id="8" name="">
            <a:extLst xmlns:a="http://schemas.openxmlformats.org/drawingml/2006/main">
              <a:ext uri="{FF2B5EF4-FFF2-40B4-BE49-F238E27FC236}">
                <a16:creationId xmlns:a16="http://schemas.microsoft.com/office/drawing/2014/main" id="{868CB46A-B14C-4DB4-8AE8-971D2F333111}"/>
              </a:ext>
            </a:extLst>
          </p:cNvPr>
          <p:cNvSpPr>
            <a:spLocks xmlns:a="http://schemas.openxmlformats.org/drawingml/2006/main" noGrp="1"/>
          </p:cNvSpPr>
          <p:nvPr/>
        </p:nvSpPr>
        <p:spPr>
          <a:xfrm xmlns:a="http://schemas.openxmlformats.org/drawingml/2006/main">
            <a:off x="857250" y="2238375"/>
            <a:ext cx="10477500" cy="3095625"/>
          </a:xfrm>
          <a:prstGeom xmlns:a="http://schemas.openxmlformats.org/drawingml/2006/main" prst="roundRect">
            <a:avLst>
              <a:gd name="adj" fmla="val 6769"/>
            </a:avLst>
          </a:prstGeom>
          <a:solidFill xmlns:a="http://schemas.openxmlformats.org/drawingml/2006/main">
            <a:srgbClr val="36E0F2">
              <a:alpha val="8000"/>
            </a:srgbClr>
          </a:solidFill>
          <a:ln xmlns:a="http://schemas.openxmlformats.org/drawingml/2006/main" w="11430">
            <a:solidFill>
              <a:srgbClr val="36E0F2">
                <a:alpha val="45000"/>
              </a:srgbClr>
            </a:solidFill>
            <a:prstDash val="solid"/>
          </a:ln>
        </p:spPr>
      </p:sp>
      <p:sp>
        <p:nvSpPr>
          <p:cNvPr id="9" name="">
            <a:extLst xmlns:a="http://schemas.openxmlformats.org/drawingml/2006/main">
              <a:ext uri="{FF2B5EF4-FFF2-40B4-BE49-F238E27FC236}">
                <a16:creationId xmlns:a16="http://schemas.microsoft.com/office/drawing/2014/main" id="{91554EFE-D7EB-4BD6-BC02-CED1504F3A30}"/>
              </a:ext>
            </a:extLst>
          </p:cNvPr>
          <p:cNvSpPr>
            <a:spLocks xmlns:a="http://schemas.openxmlformats.org/drawingml/2006/main" noGrp="1"/>
          </p:cNvSpPr>
          <p:nvPr/>
        </p:nvSpPr>
        <p:spPr>
          <a:xfrm xmlns:a="http://schemas.openxmlformats.org/drawingml/2006/main">
            <a:off x="1219200" y="2524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2025" b="1">
                <a:solidFill>
                  <a:srgbClr val="36E0F2"/>
                </a:solidFill>
                <a:latin typeface="Aptos"/>
                <a:ea typeface="Aptos"/>
                <a:cs typeface="Aptos"/>
              </a:defRPr>
            </a:pPr>
            <a:r>
              <a:rPr sz="2025" b="1">
                <a:solidFill>
                  <a:srgbClr val="36E0F2"/>
                </a:solidFill>
                <a:latin typeface="Aptos"/>
                <a:ea typeface="Aptos"/>
                <a:cs typeface="Aptos"/>
              </a:rPr>
              <a:t>Screenshare-Cue</a:t>
            </a:r>
          </a:p>
        </p:txBody>
      </p:sp>
      <p:sp>
        <p:nvSpPr>
          <p:cNvPr id="10" name="">
            <a:extLst xmlns:a="http://schemas.openxmlformats.org/drawingml/2006/main">
              <a:ext uri="{FF2B5EF4-FFF2-40B4-BE49-F238E27FC236}">
                <a16:creationId xmlns:a16="http://schemas.microsoft.com/office/drawing/2014/main" id="{3DE7967D-9D30-4D70-B23D-565311E4D1D2}"/>
              </a:ext>
            </a:extLst>
          </p:cNvPr>
          <p:cNvSpPr>
            <a:spLocks xmlns:a="http://schemas.openxmlformats.org/drawingml/2006/main" noGrp="1"/>
          </p:cNvSpPr>
          <p:nvPr/>
        </p:nvSpPr>
        <p:spPr>
          <a:xfrm xmlns:a="http://schemas.openxmlformats.org/drawingml/2006/main">
            <a:off x="1257300" y="3219450"/>
            <a:ext cx="85725" cy="85725"/>
          </a:xfrm>
          <a:prstGeom xmlns:a="http://schemas.openxmlformats.org/drawingml/2006/main" prst="ellipse">
            <a:avLst/>
          </a:prstGeom>
          <a:solidFill xmlns:a="http://schemas.openxmlformats.org/drawingml/2006/main">
            <a:srgbClr val="36E0F2"/>
          </a:solidFill>
          <a:ln xmlns:a="http://schemas.openxmlformats.org/drawingml/2006/main" w="0">
            <a:solidFill>
              <a:srgbClr val="36E0F2"/>
            </a:solidFill>
            <a:prstDash val="solid"/>
          </a:ln>
        </p:spPr>
      </p:sp>
      <p:sp>
        <p:nvSpPr>
          <p:cNvPr id="11" name="">
            <a:extLst xmlns:a="http://schemas.openxmlformats.org/drawingml/2006/main">
              <a:ext uri="{FF2B5EF4-FFF2-40B4-BE49-F238E27FC236}">
                <a16:creationId xmlns:a16="http://schemas.microsoft.com/office/drawing/2014/main" id="{D842FBAD-C98A-4ED3-B5C4-FE1FB5B92DCA}"/>
              </a:ext>
            </a:extLst>
          </p:cNvPr>
          <p:cNvSpPr>
            <a:spLocks xmlns:a="http://schemas.openxmlformats.org/drawingml/2006/main" noGrp="1"/>
          </p:cNvSpPr>
          <p:nvPr/>
        </p:nvSpPr>
        <p:spPr>
          <a:xfrm xmlns:a="http://schemas.openxmlformats.org/drawingml/2006/main">
            <a:off x="1466850" y="314325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Erzeuge ein Report- oder Quiz-Artefakt.</a:t>
            </a:r>
          </a:p>
        </p:txBody>
      </p:sp>
      <p:sp>
        <p:nvSpPr>
          <p:cNvPr id="12" name="">
            <a:extLst xmlns:a="http://schemas.openxmlformats.org/drawingml/2006/main">
              <a:ext uri="{FF2B5EF4-FFF2-40B4-BE49-F238E27FC236}">
                <a16:creationId xmlns:a16="http://schemas.microsoft.com/office/drawing/2014/main" id="{D6072CCC-9AC2-4561-B637-55497C46DEA8}"/>
              </a:ext>
            </a:extLst>
          </p:cNvPr>
          <p:cNvSpPr>
            <a:spLocks xmlns:a="http://schemas.openxmlformats.org/drawingml/2006/main" noGrp="1"/>
          </p:cNvSpPr>
          <p:nvPr/>
        </p:nvSpPr>
        <p:spPr>
          <a:xfrm xmlns:a="http://schemas.openxmlformats.org/drawingml/2006/main">
            <a:off x="1257300" y="3695700"/>
            <a:ext cx="85725" cy="85725"/>
          </a:xfrm>
          <a:prstGeom xmlns:a="http://schemas.openxmlformats.org/drawingml/2006/main" prst="ellipse">
            <a:avLst/>
          </a:prstGeom>
          <a:solidFill xmlns:a="http://schemas.openxmlformats.org/drawingml/2006/main">
            <a:srgbClr val="34D399"/>
          </a:solidFill>
          <a:ln xmlns:a="http://schemas.openxmlformats.org/drawingml/2006/main" w="0">
            <a:solidFill>
              <a:srgbClr val="34D399"/>
            </a:solidFill>
            <a:prstDash val="solid"/>
          </a:ln>
        </p:spPr>
      </p:sp>
      <p:sp>
        <p:nvSpPr>
          <p:cNvPr id="13" name="">
            <a:extLst xmlns:a="http://schemas.openxmlformats.org/drawingml/2006/main">
              <a:ext uri="{FF2B5EF4-FFF2-40B4-BE49-F238E27FC236}">
                <a16:creationId xmlns:a16="http://schemas.microsoft.com/office/drawing/2014/main" id="{F05CB8F3-9114-4262-8754-D6737DF5EE71}"/>
              </a:ext>
            </a:extLst>
          </p:cNvPr>
          <p:cNvSpPr>
            <a:spLocks xmlns:a="http://schemas.openxmlformats.org/drawingml/2006/main" noGrp="1"/>
          </p:cNvSpPr>
          <p:nvPr/>
        </p:nvSpPr>
        <p:spPr>
          <a:xfrm xmlns:a="http://schemas.openxmlformats.org/drawingml/2006/main">
            <a:off x="1466850" y="36195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Öffne danach die Vorschau und die Source References.</a:t>
            </a:r>
          </a:p>
        </p:txBody>
      </p:sp>
      <p:sp>
        <p:nvSpPr>
          <p:cNvPr id="14" name="">
            <a:extLst xmlns:a="http://schemas.openxmlformats.org/drawingml/2006/main">
              <a:ext uri="{FF2B5EF4-FFF2-40B4-BE49-F238E27FC236}">
                <a16:creationId xmlns:a16="http://schemas.microsoft.com/office/drawing/2014/main" id="{6B3BE662-3B98-4A3A-AB48-CF052C5AD5B4}"/>
              </a:ext>
            </a:extLst>
          </p:cNvPr>
          <p:cNvSpPr>
            <a:spLocks xmlns:a="http://schemas.openxmlformats.org/drawingml/2006/main" noGrp="1"/>
          </p:cNvSpPr>
          <p:nvPr/>
        </p:nvSpPr>
        <p:spPr>
          <a:xfrm xmlns:a="http://schemas.openxmlformats.org/drawingml/2006/main">
            <a:off x="1257300" y="4171950"/>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prstDash val="solid"/>
          </a:ln>
        </p:spPr>
      </p:sp>
      <p:sp>
        <p:nvSpPr>
          <p:cNvPr id="15" name="">
            <a:extLst xmlns:a="http://schemas.openxmlformats.org/drawingml/2006/main">
              <a:ext uri="{FF2B5EF4-FFF2-40B4-BE49-F238E27FC236}">
                <a16:creationId xmlns:a16="http://schemas.microsoft.com/office/drawing/2014/main" id="{88FA85D5-4CA2-4116-8F45-FA33894A014C}"/>
              </a:ext>
            </a:extLst>
          </p:cNvPr>
          <p:cNvSpPr>
            <a:spLocks xmlns:a="http://schemas.openxmlformats.org/drawingml/2006/main" noGrp="1"/>
          </p:cNvSpPr>
          <p:nvPr/>
        </p:nvSpPr>
        <p:spPr>
          <a:xfrm xmlns:a="http://schemas.openxmlformats.org/drawingml/2006/main">
            <a:off x="1466850" y="409575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Optional: Mind Map oder Slide Deck zeigen.</a:t>
            </a:r>
          </a:p>
        </p:txBody>
      </p:sp>
      <p:sp>
        <p:nvSpPr>
          <p:cNvPr id="16" name="">
            <a:extLst xmlns:a="http://schemas.openxmlformats.org/drawingml/2006/main">
              <a:ext uri="{FF2B5EF4-FFF2-40B4-BE49-F238E27FC236}">
                <a16:creationId xmlns:a16="http://schemas.microsoft.com/office/drawing/2014/main" id="{CD6E1C81-8201-4A0E-9C65-17CCE6B77716}"/>
              </a:ext>
            </a:extLst>
          </p:cNvPr>
          <p:cNvSpPr>
            <a:spLocks xmlns:a="http://schemas.openxmlformats.org/drawingml/2006/main" noGrp="1"/>
          </p:cNvSpPr>
          <p:nvPr/>
        </p:nvSpPr>
        <p:spPr>
          <a:xfrm xmlns:a="http://schemas.openxmlformats.org/drawingml/2006/main">
            <a:off x="1257300" y="4648200"/>
            <a:ext cx="85725" cy="85725"/>
          </a:xfrm>
          <a:prstGeom xmlns:a="http://schemas.openxmlformats.org/drawingml/2006/main" prst="ellipse">
            <a:avLst/>
          </a:prstGeom>
          <a:solidFill xmlns:a="http://schemas.openxmlformats.org/drawingml/2006/main">
            <a:srgbClr val="A78BFA"/>
          </a:solidFill>
          <a:ln xmlns:a="http://schemas.openxmlformats.org/drawingml/2006/main" w="0">
            <a:solidFill>
              <a:srgbClr val="A78BFA"/>
            </a:solidFill>
            <a:prstDash val="solid"/>
          </a:ln>
        </p:spPr>
      </p:sp>
      <p:sp>
        <p:nvSpPr>
          <p:cNvPr id="17" name="">
            <a:extLst xmlns:a="http://schemas.openxmlformats.org/drawingml/2006/main">
              <a:ext uri="{FF2B5EF4-FFF2-40B4-BE49-F238E27FC236}">
                <a16:creationId xmlns:a16="http://schemas.microsoft.com/office/drawing/2014/main" id="{5D755459-E7C2-4BE1-B464-7F1BE2F26BD7}"/>
              </a:ext>
            </a:extLst>
          </p:cNvPr>
          <p:cNvSpPr>
            <a:spLocks xmlns:a="http://schemas.openxmlformats.org/drawingml/2006/main" noGrp="1"/>
          </p:cNvSpPr>
          <p:nvPr/>
        </p:nvSpPr>
        <p:spPr>
          <a:xfrm xmlns:a="http://schemas.openxmlformats.org/drawingml/2006/main">
            <a:off x="1466850" y="45720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10000"/>
              </a:lnSpc>
              <a:buNone/>
              <a:defRPr sz="1425" b="0">
                <a:solidFill>
                  <a:srgbClr val="CBD5E1"/>
                </a:solidFill>
                <a:latin typeface="Aptos"/>
                <a:ea typeface="Aptos"/>
                <a:cs typeface="Aptos"/>
              </a:defRPr>
            </a:pPr>
            <a:r>
              <a:rPr sz="1425" b="0">
                <a:solidFill>
                  <a:srgbClr val="CBD5E1"/>
                </a:solidFill>
                <a:latin typeface="Aptos"/>
                <a:ea typeface="Aptos"/>
                <a:cs typeface="Aptos"/>
              </a:rPr>
              <a:t>Erkläre, dass Studio nicht vom Chat getrennt ist.</a:t>
            </a:r>
          </a:p>
        </p:txBody>
      </p:sp>
    </p:spTree>
    <p:extLst>
      <p:ext uri="{BB962C8B-B14F-4D97-AF65-F5344CB8AC3E}">
        <p14:creationId xmlns:p14="http://schemas.microsoft.com/office/powerpoint/2010/main" val="1207009431"/>
      </p:ext>
    </p:extLst>
  </p:cSld>
</p:sld>
</file>

<file path=ppt/slides/slide20.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578B8F-F49F-4F86-99A2-14863EFD4B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807A709-2BED-4251-BD38-CA614B7C1F9C}"/>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78A5E7A6-4C3F-4087-A69A-7A12F944FC09}"/>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D9C8770F-2765-4921-A5EA-0DAA7E611C08}"/>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20 / 22</a:t>
            </a:r>
          </a:p>
        </p:txBody>
      </p:sp>
      <p:sp>
        <p:nvSpPr>
          <p:cNvPr id="5" name="">
            <a:extLst xmlns:a="http://schemas.openxmlformats.org/drawingml/2006/main">
              <a:ext uri="{FF2B5EF4-FFF2-40B4-BE49-F238E27FC236}">
                <a16:creationId xmlns:a16="http://schemas.microsoft.com/office/drawing/2014/main" id="{45DE1C58-3DBB-4678-9761-70C032D1F626}"/>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1CB3EAE6-98FB-466E-B6E0-D2092DE22265}"/>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MODEL LAYER</a:t>
            </a:r>
          </a:p>
        </p:txBody>
      </p:sp>
      <p:sp>
        <p:nvSpPr>
          <p:cNvPr id="7" name="">
            <a:extLst xmlns:a="http://schemas.openxmlformats.org/drawingml/2006/main">
              <a:ext uri="{FF2B5EF4-FFF2-40B4-BE49-F238E27FC236}">
                <a16:creationId xmlns:a16="http://schemas.microsoft.com/office/drawing/2014/main" id="{90636587-DC02-482F-BA6E-4413D79B611C}"/>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Provider-Routing verhindert Lock-in</a:t>
            </a:r>
          </a:p>
        </p:txBody>
      </p:sp>
      <p:sp>
        <p:nvSpPr>
          <p:cNvPr id="8" name="">
            <a:extLst xmlns:a="http://schemas.openxmlformats.org/drawingml/2006/main">
              <a:ext uri="{FF2B5EF4-FFF2-40B4-BE49-F238E27FC236}">
                <a16:creationId xmlns:a16="http://schemas.microsoft.com/office/drawing/2014/main" id="{61FD78C2-1ECE-458A-AE63-6061C2B7C27E}"/>
              </a:ext>
            </a:extLst>
          </p:cNvPr>
          <p:cNvSpPr>
            <a:spLocks xmlns:a="http://schemas.openxmlformats.org/drawingml/2006/main" noGrp="1"/>
          </p:cNvSpPr>
          <p:nvPr/>
        </p:nvSpPr>
        <p:spPr>
          <a:xfrm xmlns:a="http://schemas.openxmlformats.org/drawingml/2006/main">
            <a:off x="4953000" y="3143250"/>
            <a:ext cx="2286000" cy="819150"/>
          </a:xfrm>
          <a:prstGeom xmlns:a="http://schemas.openxmlformats.org/drawingml/2006/main" prst="roundRect">
            <a:avLst>
              <a:gd name="adj" fmla="val 18605"/>
            </a:avLst>
          </a:prstGeom>
          <a:solidFill xmlns:a="http://schemas.openxmlformats.org/drawingml/2006/main">
            <a:srgbClr val="36E0F2">
              <a:alpha val="11000"/>
            </a:srgbClr>
          </a:solidFill>
          <a:ln xmlns:a="http://schemas.openxmlformats.org/drawingml/2006/main" w="11430">
            <a:solidFill>
              <a:srgbClr val="36E0F2">
                <a:alpha val="58000"/>
              </a:srgbClr>
            </a:solidFill>
            <a:prstDash val="solid"/>
          </a:ln>
        </p:spPr>
      </p:sp>
      <p:sp>
        <p:nvSpPr>
          <p:cNvPr id="9" name="">
            <a:extLst xmlns:a="http://schemas.openxmlformats.org/drawingml/2006/main">
              <a:ext uri="{FF2B5EF4-FFF2-40B4-BE49-F238E27FC236}">
                <a16:creationId xmlns:a16="http://schemas.microsoft.com/office/drawing/2014/main" id="{B1409E8D-D6B2-48A6-8814-CC25273110A1}"/>
              </a:ext>
            </a:extLst>
          </p:cNvPr>
          <p:cNvSpPr>
            <a:spLocks xmlns:a="http://schemas.openxmlformats.org/drawingml/2006/main" noGrp="1"/>
          </p:cNvSpPr>
          <p:nvPr/>
        </p:nvSpPr>
        <p:spPr>
          <a:xfrm xmlns:a="http://schemas.openxmlformats.org/drawingml/2006/main">
            <a:off x="5048250" y="3314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Model Router</a:t>
            </a:r>
          </a:p>
        </p:txBody>
      </p:sp>
      <p:sp>
        <p:nvSpPr>
          <p:cNvPr id="10" name="">
            <a:extLst xmlns:a="http://schemas.openxmlformats.org/drawingml/2006/main">
              <a:ext uri="{FF2B5EF4-FFF2-40B4-BE49-F238E27FC236}">
                <a16:creationId xmlns:a16="http://schemas.microsoft.com/office/drawing/2014/main" id="{0C42AD2D-2776-48BF-A5C3-4A5DF6C8527B}"/>
              </a:ext>
            </a:extLst>
          </p:cNvPr>
          <p:cNvSpPr>
            <a:spLocks xmlns:a="http://schemas.openxmlformats.org/drawingml/2006/main" noGrp="1"/>
          </p:cNvSpPr>
          <p:nvPr/>
        </p:nvSpPr>
        <p:spPr>
          <a:xfrm xmlns:a="http://schemas.openxmlformats.org/drawingml/2006/main">
            <a:off x="5048250" y="3600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900" b="0">
                <a:solidFill>
                  <a:srgbClr val="7E8AA2"/>
                </a:solidFill>
                <a:latin typeface="Aptos"/>
                <a:ea typeface="Aptos"/>
                <a:cs typeface="Aptos"/>
              </a:defRPr>
            </a:pPr>
            <a:r>
              <a:rPr sz="900" b="0">
                <a:solidFill>
                  <a:srgbClr val="7E8AA2"/>
                </a:solidFill>
                <a:latin typeface="Aptos"/>
                <a:ea typeface="Aptos"/>
                <a:cs typeface="Aptos"/>
              </a:rPr>
              <a:t>roles, validation, fallback</a:t>
            </a:r>
          </a:p>
        </p:txBody>
      </p:sp>
      <p:sp>
        <p:nvSpPr>
          <p:cNvPr id="11" name="">
            <a:extLst xmlns:a="http://schemas.openxmlformats.org/drawingml/2006/main">
              <a:ext uri="{FF2B5EF4-FFF2-40B4-BE49-F238E27FC236}">
                <a16:creationId xmlns:a16="http://schemas.microsoft.com/office/drawing/2014/main" id="{5C58AB46-4746-4E39-ADEB-110B6CB05949}"/>
              </a:ext>
            </a:extLst>
          </p:cNvPr>
          <p:cNvSpPr>
            <a:spLocks xmlns:a="http://schemas.openxmlformats.org/drawingml/2006/main" noGrp="1"/>
          </p:cNvSpPr>
          <p:nvPr/>
        </p:nvSpPr>
        <p:spPr>
          <a:xfrm xmlns:a="http://schemas.openxmlformats.org/drawingml/2006/main">
            <a:off x="1428750" y="2305050"/>
            <a:ext cx="2000250" cy="819150"/>
          </a:xfrm>
          <a:prstGeom xmlns:a="http://schemas.openxmlformats.org/drawingml/2006/main" prst="roundRect">
            <a:avLst>
              <a:gd name="adj" fmla="val 18605"/>
            </a:avLst>
          </a:prstGeom>
          <a:solidFill xmlns:a="http://schemas.openxmlformats.org/drawingml/2006/main">
            <a:srgbClr val="A78BFA">
              <a:alpha val="11000"/>
            </a:srgbClr>
          </a:solidFill>
          <a:ln xmlns:a="http://schemas.openxmlformats.org/drawingml/2006/main" w="11430">
            <a:solidFill>
              <a:srgbClr val="A78BFA">
                <a:alpha val="58000"/>
              </a:srgbClr>
            </a:solidFill>
            <a:prstDash val="solid"/>
          </a:ln>
        </p:spPr>
      </p:sp>
      <p:sp>
        <p:nvSpPr>
          <p:cNvPr id="12" name="">
            <a:extLst xmlns:a="http://schemas.openxmlformats.org/drawingml/2006/main">
              <a:ext uri="{FF2B5EF4-FFF2-40B4-BE49-F238E27FC236}">
                <a16:creationId xmlns:a16="http://schemas.microsoft.com/office/drawing/2014/main" id="{0B5E62E4-3757-4223-91FC-5927C8432ED4}"/>
              </a:ext>
            </a:extLst>
          </p:cNvPr>
          <p:cNvSpPr>
            <a:spLocks xmlns:a="http://schemas.openxmlformats.org/drawingml/2006/main" noGrp="1"/>
          </p:cNvSpPr>
          <p:nvPr/>
        </p:nvSpPr>
        <p:spPr>
          <a:xfrm xmlns:a="http://schemas.openxmlformats.org/drawingml/2006/main">
            <a:off x="1524000" y="24765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Anthropic</a:t>
            </a:r>
          </a:p>
        </p:txBody>
      </p:sp>
      <p:cxnSp>
        <p:nvCxnSpPr>
          <p:cNvPr id="36" name=""/>
          <p:cNvCxnSpPr>
            <a:stCxn xmlns:a="http://schemas.openxmlformats.org/drawingml/2006/main" id="11" idx="3"/>
            <a:endCxn xmlns:a="http://schemas.openxmlformats.org/drawingml/2006/main" id="8" idx="1"/>
          </p:cNvCxnSpPr>
          <p:nvPr/>
        </p:nvCxnSpPr>
        <p:spPr>
          <a:xfrm xmlns:a="http://schemas.openxmlformats.org/drawingml/2006/main">
            <a:off x="3429000" y="2714625"/>
            <a:ext cx="1524000" cy="838200"/>
          </a:xfrm>
          <a:prstGeom xmlns:a="http://schemas.openxmlformats.org/drawingml/2006/main" prst="straightConnector1">
            <a:avLst/>
          </a:prstGeom>
          <a:ln xmlns:a="http://schemas.openxmlformats.org/drawingml/2006/main" w="19050">
            <a:solidFill>
              <a:srgbClr val="A78BFA">
                <a:alpha val="70000"/>
              </a:srgbClr>
            </a:solidFill>
            <a:prstDash val="solid"/>
            <a:headEnd type="arrow" w="sm" len="sm"/>
          </a:ln>
        </p:spPr>
      </p:cxnSp>
      <p:sp>
        <p:nvSpPr>
          <p:cNvPr id="14" name="">
            <a:extLst xmlns:a="http://schemas.openxmlformats.org/drawingml/2006/main">
              <a:ext uri="{FF2B5EF4-FFF2-40B4-BE49-F238E27FC236}">
                <a16:creationId xmlns:a16="http://schemas.microsoft.com/office/drawing/2014/main" id="{E63F68E6-17D1-4CA3-8B2F-1889B15C44D4}"/>
              </a:ext>
            </a:extLst>
          </p:cNvPr>
          <p:cNvSpPr>
            <a:spLocks xmlns:a="http://schemas.openxmlformats.org/drawingml/2006/main" noGrp="1"/>
          </p:cNvSpPr>
          <p:nvPr/>
        </p:nvSpPr>
        <p:spPr>
          <a:xfrm xmlns:a="http://schemas.openxmlformats.org/drawingml/2006/main">
            <a:off x="1428750" y="4171950"/>
            <a:ext cx="2000250" cy="819150"/>
          </a:xfrm>
          <a:prstGeom xmlns:a="http://schemas.openxmlformats.org/drawingml/2006/main" prst="roundRect">
            <a:avLst>
              <a:gd name="adj" fmla="val 18605"/>
            </a:avLst>
          </a:prstGeom>
          <a:solidFill xmlns:a="http://schemas.openxmlformats.org/drawingml/2006/main">
            <a:srgbClr val="34D399">
              <a:alpha val="11000"/>
            </a:srgbClr>
          </a:solidFill>
          <a:ln xmlns:a="http://schemas.openxmlformats.org/drawingml/2006/main" w="11430">
            <a:solidFill>
              <a:srgbClr val="34D399">
                <a:alpha val="58000"/>
              </a:srgbClr>
            </a:solidFill>
            <a:prstDash val="solid"/>
          </a:ln>
        </p:spPr>
      </p:sp>
      <p:sp>
        <p:nvSpPr>
          <p:cNvPr id="15" name="">
            <a:extLst xmlns:a="http://schemas.openxmlformats.org/drawingml/2006/main">
              <a:ext uri="{FF2B5EF4-FFF2-40B4-BE49-F238E27FC236}">
                <a16:creationId xmlns:a16="http://schemas.microsoft.com/office/drawing/2014/main" id="{A7A6E2F8-3A14-49C1-B078-FCF8123F620C}"/>
              </a:ext>
            </a:extLst>
          </p:cNvPr>
          <p:cNvSpPr>
            <a:spLocks xmlns:a="http://schemas.openxmlformats.org/drawingml/2006/main" noGrp="1"/>
          </p:cNvSpPr>
          <p:nvPr/>
        </p:nvSpPr>
        <p:spPr>
          <a:xfrm xmlns:a="http://schemas.openxmlformats.org/drawingml/2006/main">
            <a:off x="1524000" y="43434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OpenAI</a:t>
            </a:r>
          </a:p>
        </p:txBody>
      </p:sp>
      <p:cxnSp>
        <p:nvCxnSpPr>
          <p:cNvPr id="39" name=""/>
          <p:cNvCxnSpPr>
            <a:stCxn xmlns:a="http://schemas.openxmlformats.org/drawingml/2006/main" id="14" idx="3"/>
            <a:endCxn xmlns:a="http://schemas.openxmlformats.org/drawingml/2006/main" id="8" idx="1"/>
          </p:cNvCxnSpPr>
          <p:nvPr/>
        </p:nvCxnSpPr>
        <p:spPr>
          <a:xfrm xmlns:a="http://schemas.openxmlformats.org/drawingml/2006/main" flipV="1">
            <a:off x="3429000" y="3552825"/>
            <a:ext cx="1524000" cy="1028700"/>
          </a:xfrm>
          <a:prstGeom xmlns:a="http://schemas.openxmlformats.org/drawingml/2006/main" prst="straightConnector1">
            <a:avLst/>
          </a:prstGeom>
          <a:ln xmlns:a="http://schemas.openxmlformats.org/drawingml/2006/main" w="19050">
            <a:solidFill>
              <a:srgbClr val="34D399">
                <a:alpha val="70000"/>
              </a:srgbClr>
            </a:solidFill>
            <a:prstDash val="solid"/>
            <a:headEnd type="arrow" w="sm" len="sm"/>
          </a:ln>
        </p:spPr>
      </p:cxnSp>
      <p:sp>
        <p:nvSpPr>
          <p:cNvPr id="17" name="">
            <a:extLst xmlns:a="http://schemas.openxmlformats.org/drawingml/2006/main">
              <a:ext uri="{FF2B5EF4-FFF2-40B4-BE49-F238E27FC236}">
                <a16:creationId xmlns:a16="http://schemas.microsoft.com/office/drawing/2014/main" id="{305FD268-5196-4816-AF5C-01029CE2E5DB}"/>
              </a:ext>
            </a:extLst>
          </p:cNvPr>
          <p:cNvSpPr>
            <a:spLocks xmlns:a="http://schemas.openxmlformats.org/drawingml/2006/main" noGrp="1"/>
          </p:cNvSpPr>
          <p:nvPr/>
        </p:nvSpPr>
        <p:spPr>
          <a:xfrm xmlns:a="http://schemas.openxmlformats.org/drawingml/2006/main">
            <a:off x="8477250" y="2305050"/>
            <a:ext cx="2000250" cy="819150"/>
          </a:xfrm>
          <a:prstGeom xmlns:a="http://schemas.openxmlformats.org/drawingml/2006/main" prst="roundRect">
            <a:avLst>
              <a:gd name="adj" fmla="val 18605"/>
            </a:avLst>
          </a:prstGeom>
          <a:solidFill xmlns:a="http://schemas.openxmlformats.org/drawingml/2006/main">
            <a:srgbClr val="6D7BFF">
              <a:alpha val="11000"/>
            </a:srgbClr>
          </a:solidFill>
          <a:ln xmlns:a="http://schemas.openxmlformats.org/drawingml/2006/main" w="11430">
            <a:solidFill>
              <a:srgbClr val="6D7BFF">
                <a:alpha val="58000"/>
              </a:srgbClr>
            </a:solidFill>
            <a:prstDash val="solid"/>
          </a:ln>
        </p:spPr>
      </p:sp>
      <p:sp>
        <p:nvSpPr>
          <p:cNvPr id="18" name="">
            <a:extLst xmlns:a="http://schemas.openxmlformats.org/drawingml/2006/main">
              <a:ext uri="{FF2B5EF4-FFF2-40B4-BE49-F238E27FC236}">
                <a16:creationId xmlns:a16="http://schemas.microsoft.com/office/drawing/2014/main" id="{CAF2AFDC-D376-4209-BFCC-42DC4A63CAB1}"/>
              </a:ext>
            </a:extLst>
          </p:cNvPr>
          <p:cNvSpPr>
            <a:spLocks xmlns:a="http://schemas.openxmlformats.org/drawingml/2006/main" noGrp="1"/>
          </p:cNvSpPr>
          <p:nvPr/>
        </p:nvSpPr>
        <p:spPr>
          <a:xfrm xmlns:a="http://schemas.openxmlformats.org/drawingml/2006/main">
            <a:off x="8572500" y="24765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Gemini</a:t>
            </a:r>
          </a:p>
        </p:txBody>
      </p:sp>
      <p:cxnSp>
        <p:nvCxnSpPr>
          <p:cNvPr id="42" name=""/>
          <p:cNvCxnSpPr>
            <a:stCxn xmlns:a="http://schemas.openxmlformats.org/drawingml/2006/main" id="17" idx="3"/>
            <a:endCxn xmlns:a="http://schemas.openxmlformats.org/drawingml/2006/main" id="8" idx="1"/>
          </p:cNvCxnSpPr>
          <p:nvPr/>
        </p:nvCxnSpPr>
        <p:spPr>
          <a:xfrm xmlns:a="http://schemas.openxmlformats.org/drawingml/2006/main" flipH="1">
            <a:off x="4953000" y="2714625"/>
            <a:ext cx="5524500" cy="838200"/>
          </a:xfrm>
          <a:prstGeom xmlns:a="http://schemas.openxmlformats.org/drawingml/2006/main" prst="straightConnector1">
            <a:avLst/>
          </a:prstGeom>
          <a:ln xmlns:a="http://schemas.openxmlformats.org/drawingml/2006/main" w="19050">
            <a:solidFill>
              <a:srgbClr val="6D7BFF">
                <a:alpha val="70000"/>
              </a:srgbClr>
            </a:solidFill>
            <a:prstDash val="solid"/>
            <a:headEnd type="arrow" w="sm" len="sm"/>
          </a:ln>
        </p:spPr>
      </p:cxnSp>
      <p:sp>
        <p:nvSpPr>
          <p:cNvPr id="20" name="">
            <a:extLst xmlns:a="http://schemas.openxmlformats.org/drawingml/2006/main">
              <a:ext uri="{FF2B5EF4-FFF2-40B4-BE49-F238E27FC236}">
                <a16:creationId xmlns:a16="http://schemas.microsoft.com/office/drawing/2014/main" id="{64FAACE1-1B0D-4C48-BF7B-74B001344B79}"/>
              </a:ext>
            </a:extLst>
          </p:cNvPr>
          <p:cNvSpPr>
            <a:spLocks xmlns:a="http://schemas.openxmlformats.org/drawingml/2006/main" noGrp="1"/>
          </p:cNvSpPr>
          <p:nvPr/>
        </p:nvSpPr>
        <p:spPr>
          <a:xfrm xmlns:a="http://schemas.openxmlformats.org/drawingml/2006/main">
            <a:off x="8477250" y="4171950"/>
            <a:ext cx="2000250" cy="819150"/>
          </a:xfrm>
          <a:prstGeom xmlns:a="http://schemas.openxmlformats.org/drawingml/2006/main" prst="roundRect">
            <a:avLst>
              <a:gd name="adj" fmla="val 18605"/>
            </a:avLst>
          </a:prstGeom>
          <a:solidFill xmlns:a="http://schemas.openxmlformats.org/drawingml/2006/main">
            <a:srgbClr val="FBBF24">
              <a:alpha val="11000"/>
            </a:srgbClr>
          </a:solidFill>
          <a:ln xmlns:a="http://schemas.openxmlformats.org/drawingml/2006/main" w="11430">
            <a:solidFill>
              <a:srgbClr val="FBBF24">
                <a:alpha val="58000"/>
              </a:srgbClr>
            </a:solidFill>
            <a:prstDash val="solid"/>
          </a:ln>
        </p:spPr>
      </p:sp>
      <p:sp>
        <p:nvSpPr>
          <p:cNvPr id="21" name="">
            <a:extLst xmlns:a="http://schemas.openxmlformats.org/drawingml/2006/main">
              <a:ext uri="{FF2B5EF4-FFF2-40B4-BE49-F238E27FC236}">
                <a16:creationId xmlns:a16="http://schemas.microsoft.com/office/drawing/2014/main" id="{BF98B2D3-3FD4-4AD0-A669-8259B1170B20}"/>
              </a:ext>
            </a:extLst>
          </p:cNvPr>
          <p:cNvSpPr>
            <a:spLocks xmlns:a="http://schemas.openxmlformats.org/drawingml/2006/main" noGrp="1"/>
          </p:cNvSpPr>
          <p:nvPr/>
        </p:nvSpPr>
        <p:spPr>
          <a:xfrm xmlns:a="http://schemas.openxmlformats.org/drawingml/2006/main">
            <a:off x="8572500" y="43434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350" b="1">
                <a:solidFill>
                  <a:srgbClr val="F8FAFC"/>
                </a:solidFill>
                <a:latin typeface="Aptos"/>
                <a:ea typeface="Aptos"/>
                <a:cs typeface="Aptos"/>
              </a:defRPr>
            </a:pPr>
            <a:r>
              <a:rPr sz="1350" b="1">
                <a:solidFill>
                  <a:srgbClr val="F8FAFC"/>
                </a:solidFill>
                <a:latin typeface="Aptos"/>
                <a:ea typeface="Aptos"/>
                <a:cs typeface="Aptos"/>
              </a:rPr>
              <a:t>Local Fallback</a:t>
            </a:r>
          </a:p>
        </p:txBody>
      </p:sp>
      <p:cxnSp>
        <p:nvCxnSpPr>
          <p:cNvPr id="45" name=""/>
          <p:cNvCxnSpPr>
            <a:stCxn xmlns:a="http://schemas.openxmlformats.org/drawingml/2006/main" id="20" idx="3"/>
            <a:endCxn xmlns:a="http://schemas.openxmlformats.org/drawingml/2006/main" id="8" idx="1"/>
          </p:cNvCxnSpPr>
          <p:nvPr/>
        </p:nvCxnSpPr>
        <p:spPr>
          <a:xfrm xmlns:a="http://schemas.openxmlformats.org/drawingml/2006/main" flipH="1" flipV="1">
            <a:off x="4953000" y="3552825"/>
            <a:ext cx="5524500" cy="1028700"/>
          </a:xfrm>
          <a:prstGeom xmlns:a="http://schemas.openxmlformats.org/drawingml/2006/main" prst="straightConnector1">
            <a:avLst/>
          </a:prstGeom>
          <a:ln xmlns:a="http://schemas.openxmlformats.org/drawingml/2006/main" w="19050">
            <a:solidFill>
              <a:srgbClr val="FBBF24">
                <a:alpha val="70000"/>
              </a:srgbClr>
            </a:solidFill>
            <a:prstDash val="solid"/>
            <a:headEnd type="arrow" w="sm" len="sm"/>
          </a:ln>
        </p:spPr>
      </p:cxnSp>
      <p:sp>
        <p:nvSpPr>
          <p:cNvPr id="23" name="">
            <a:extLst xmlns:a="http://schemas.openxmlformats.org/drawingml/2006/main">
              <a:ext uri="{FF2B5EF4-FFF2-40B4-BE49-F238E27FC236}">
                <a16:creationId xmlns:a16="http://schemas.microsoft.com/office/drawing/2014/main" id="{88230B9B-0973-425D-8498-5E7876566C16}"/>
              </a:ext>
            </a:extLst>
          </p:cNvPr>
          <p:cNvSpPr>
            <a:spLocks xmlns:a="http://schemas.openxmlformats.org/drawingml/2006/main" noGrp="1"/>
          </p:cNvSpPr>
          <p:nvPr/>
        </p:nvSpPr>
        <p:spPr>
          <a:xfrm xmlns:a="http://schemas.openxmlformats.org/drawingml/2006/main">
            <a:off x="2571750" y="51911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800" b="1">
                <a:solidFill>
                  <a:srgbClr val="CBD5E1"/>
                </a:solidFill>
                <a:latin typeface="Aptos"/>
                <a:ea typeface="Aptos"/>
                <a:cs typeface="Aptos"/>
              </a:defRPr>
            </a:pPr>
            <a:r>
              <a:rPr sz="1800" b="1">
                <a:solidFill>
                  <a:srgbClr val="CBD5E1"/>
                </a:solidFill>
                <a:latin typeface="Aptos"/>
                <a:ea typeface="Aptos"/>
                <a:cs typeface="Aptos"/>
              </a:rPr>
              <a:t>Keys bleiben serverseitig. Ohne Keys läuft der Demo-Pfad weiter.</a:t>
            </a:r>
          </a:p>
        </p:txBody>
      </p:sp>
    </p:spTree>
    <p:extLst>
      <p:ext uri="{BB962C8B-B14F-4D97-AF65-F5344CB8AC3E}">
        <p14:creationId xmlns:p14="http://schemas.microsoft.com/office/powerpoint/2010/main" val="392009332"/>
      </p:ext>
    </p:extLst>
  </p:cSld>
</p:sld>
</file>

<file path=ppt/slides/slide21.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9A2D65-1604-4792-A318-9D2B51F892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FC0D23-9739-4474-B244-EF374F081B2F}"/>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5A454D32-7AD8-4871-B77C-1FB000285302}"/>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B9DDA91D-D7F9-4080-B160-404111A5DD7B}"/>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21 / 22</a:t>
            </a:r>
          </a:p>
        </p:txBody>
      </p:sp>
      <p:sp>
        <p:nvSpPr>
          <p:cNvPr id="5" name="">
            <a:extLst xmlns:a="http://schemas.openxmlformats.org/drawingml/2006/main">
              <a:ext uri="{FF2B5EF4-FFF2-40B4-BE49-F238E27FC236}">
                <a16:creationId xmlns:a16="http://schemas.microsoft.com/office/drawing/2014/main" id="{C88E41A6-D33B-4F14-B4C0-1988BAE56992}"/>
              </a:ext>
            </a:extLst>
          </p:cNvPr>
          <p:cNvSpPr>
            <a:spLocks xmlns:a="http://schemas.openxmlformats.org/drawingml/2006/main" noGrp="1"/>
          </p:cNvSpPr>
          <p:nvPr/>
        </p:nvSpPr>
        <p:spPr>
          <a:xfrm xmlns:a="http://schemas.openxmlformats.org/drawingml/2006/main">
            <a:off x="685800" y="571500"/>
            <a:ext cx="323850" cy="28575"/>
          </a:xfrm>
          <a:prstGeom xmlns:a="http://schemas.openxmlformats.org/drawingml/2006/main" prst="rect">
            <a:avLst/>
          </a:prstGeom>
          <a:solidFill xmlns:a="http://schemas.openxmlformats.org/drawingml/2006/main">
            <a:srgbClr val="36E0F2"/>
          </a:solidFill>
          <a:ln xmlns:a="http://schemas.openxmlformats.org/drawingml/2006/main" w="0">
            <a:solidFill>
              <a:srgbClr val="36E0F2"/>
            </a:solidFill>
            <a:prstDash val="solid"/>
          </a:ln>
        </p:spPr>
      </p:sp>
      <p:sp>
        <p:nvSpPr>
          <p:cNvPr id="6" name="">
            <a:extLst xmlns:a="http://schemas.openxmlformats.org/drawingml/2006/main">
              <a:ext uri="{FF2B5EF4-FFF2-40B4-BE49-F238E27FC236}">
                <a16:creationId xmlns:a16="http://schemas.microsoft.com/office/drawing/2014/main" id="{26EF32C2-7FC8-4547-BFC0-A8B0B87F390B}"/>
              </a:ext>
            </a:extLst>
          </p:cNvPr>
          <p:cNvSpPr>
            <a:spLocks xmlns:a="http://schemas.openxmlformats.org/drawingml/2006/main" noGrp="1"/>
          </p:cNvSpPr>
          <p:nvPr/>
        </p:nvSpPr>
        <p:spPr>
          <a:xfrm xmlns:a="http://schemas.openxmlformats.org/drawingml/2006/main">
            <a:off x="1123950" y="45720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ENGINEERING</a:t>
            </a:r>
          </a:p>
        </p:txBody>
      </p:sp>
      <p:sp>
        <p:nvSpPr>
          <p:cNvPr id="7" name="">
            <a:extLst xmlns:a="http://schemas.openxmlformats.org/drawingml/2006/main">
              <a:ext uri="{FF2B5EF4-FFF2-40B4-BE49-F238E27FC236}">
                <a16:creationId xmlns:a16="http://schemas.microsoft.com/office/drawing/2014/main" id="{62A15290-73AC-465B-9085-BEC5484870A5}"/>
              </a:ext>
            </a:extLst>
          </p:cNvPr>
          <p:cNvSpPr>
            <a:spLocks xmlns:a="http://schemas.openxmlformats.org/drawingml/2006/main" noGrp="1"/>
          </p:cNvSpPr>
          <p:nvPr/>
        </p:nvSpPr>
        <p:spPr>
          <a:xfrm xmlns:a="http://schemas.openxmlformats.org/drawingml/2006/main">
            <a:off x="685800" y="838200"/>
            <a:ext cx="9334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2000"/>
              </a:lnSpc>
              <a:buNone/>
              <a:defRPr sz="3225" b="1">
                <a:solidFill>
                  <a:srgbClr val="F8FAFC"/>
                </a:solidFill>
                <a:latin typeface="Aptos Display"/>
                <a:ea typeface="Aptos Display"/>
                <a:cs typeface="Aptos Display"/>
              </a:defRPr>
            </a:pPr>
            <a:r>
              <a:rPr sz="3225" b="1">
                <a:solidFill>
                  <a:srgbClr val="F8FAFC"/>
                </a:solidFill>
                <a:latin typeface="Aptos Display"/>
                <a:ea typeface="Aptos Display"/>
                <a:cs typeface="Aptos Display"/>
              </a:rPr>
              <a:t>Die Trade-offs sind bewusst gewählt</a:t>
            </a:r>
          </a:p>
        </p:txBody>
      </p:sp>
      <p:sp>
        <p:nvSpPr>
          <p:cNvPr id="8" name="">
            <a:extLst xmlns:a="http://schemas.openxmlformats.org/drawingml/2006/main">
              <a:ext uri="{FF2B5EF4-FFF2-40B4-BE49-F238E27FC236}">
                <a16:creationId xmlns:a16="http://schemas.microsoft.com/office/drawing/2014/main" id="{436EF854-BB9E-4E36-8A53-C1550F6C0B7E}"/>
              </a:ext>
            </a:extLst>
          </p:cNvPr>
          <p:cNvSpPr>
            <a:spLocks xmlns:a="http://schemas.openxmlformats.org/drawingml/2006/main" noGrp="1"/>
          </p:cNvSpPr>
          <p:nvPr/>
        </p:nvSpPr>
        <p:spPr>
          <a:xfrm xmlns:a="http://schemas.openxmlformats.org/drawingml/2006/main">
            <a:off x="1066800" y="2209800"/>
            <a:ext cx="10058400" cy="571500"/>
          </a:xfrm>
          <a:prstGeom xmlns:a="http://schemas.openxmlformats.org/drawingml/2006/main" prst="roundRect">
            <a:avLst>
              <a:gd name="adj" fmla="val 23333"/>
            </a:avLst>
          </a:prstGeom>
          <a:solidFill xmlns:a="http://schemas.openxmlformats.org/drawingml/2006/main">
            <a:srgbClr val="36E0F2">
              <a:alpha val="9000"/>
            </a:srgbClr>
          </a:solidFill>
          <a:ln xmlns:a="http://schemas.openxmlformats.org/drawingml/2006/main" w="9525">
            <a:solidFill>
              <a:srgbClr val="36E0F2">
                <a:alpha val="45000"/>
              </a:srgbClr>
            </a:solidFill>
            <a:prstDash val="solid"/>
          </a:ln>
        </p:spPr>
      </p:sp>
      <p:sp>
        <p:nvSpPr>
          <p:cNvPr id="9" name="">
            <a:extLst xmlns:a="http://schemas.openxmlformats.org/drawingml/2006/main">
              <a:ext uri="{FF2B5EF4-FFF2-40B4-BE49-F238E27FC236}">
                <a16:creationId xmlns:a16="http://schemas.microsoft.com/office/drawing/2014/main" id="{8ED0D186-F485-4A05-8A81-42237BDF23B1}"/>
              </a:ext>
            </a:extLst>
          </p:cNvPr>
          <p:cNvSpPr>
            <a:spLocks xmlns:a="http://schemas.openxmlformats.org/drawingml/2006/main" noGrp="1"/>
          </p:cNvSpPr>
          <p:nvPr/>
        </p:nvSpPr>
        <p:spPr>
          <a:xfrm xmlns:a="http://schemas.openxmlformats.org/drawingml/2006/main">
            <a:off x="1371600" y="2362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36E0F2"/>
                </a:solidFill>
                <a:latin typeface="Aptos"/>
                <a:ea typeface="Aptos"/>
                <a:cs typeface="Aptos"/>
              </a:defRPr>
            </a:pPr>
            <a:r>
              <a:rPr sz="1575" b="1">
                <a:solidFill>
                  <a:srgbClr val="36E0F2"/>
                </a:solidFill>
                <a:latin typeface="Aptos"/>
                <a:ea typeface="Aptos"/>
                <a:cs typeface="Aptos"/>
              </a:rPr>
              <a:t>Local-first</a:t>
            </a:r>
          </a:p>
        </p:txBody>
      </p:sp>
      <p:sp>
        <p:nvSpPr>
          <p:cNvPr id="10" name="">
            <a:extLst xmlns:a="http://schemas.openxmlformats.org/drawingml/2006/main">
              <a:ext uri="{FF2B5EF4-FFF2-40B4-BE49-F238E27FC236}">
                <a16:creationId xmlns:a16="http://schemas.microsoft.com/office/drawing/2014/main" id="{98E0733E-A66C-4E95-A472-5DB3B55551E5}"/>
              </a:ext>
            </a:extLst>
          </p:cNvPr>
          <p:cNvSpPr>
            <a:spLocks xmlns:a="http://schemas.openxmlformats.org/drawingml/2006/main" noGrp="1"/>
          </p:cNvSpPr>
          <p:nvPr/>
        </p:nvSpPr>
        <p:spPr>
          <a:xfrm xmlns:a="http://schemas.openxmlformats.org/drawingml/2006/main">
            <a:off x="4762500" y="23717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0">
                <a:solidFill>
                  <a:srgbClr val="CBD5E1"/>
                </a:solidFill>
                <a:latin typeface="Aptos"/>
                <a:ea typeface="Aptos"/>
                <a:cs typeface="Aptos"/>
              </a:defRPr>
            </a:pPr>
            <a:r>
              <a:rPr sz="1500" b="0">
                <a:solidFill>
                  <a:srgbClr val="CBD5E1"/>
                </a:solidFill>
                <a:latin typeface="Aptos"/>
                <a:ea typeface="Aptos"/>
                <a:cs typeface="Aptos"/>
              </a:rPr>
              <a:t>schnell demo-fähig, später skalierbar</a:t>
            </a:r>
          </a:p>
        </p:txBody>
      </p:sp>
      <p:sp>
        <p:nvSpPr>
          <p:cNvPr id="11" name="">
            <a:extLst xmlns:a="http://schemas.openxmlformats.org/drawingml/2006/main">
              <a:ext uri="{FF2B5EF4-FFF2-40B4-BE49-F238E27FC236}">
                <a16:creationId xmlns:a16="http://schemas.microsoft.com/office/drawing/2014/main" id="{F847E662-FF25-472E-BE01-0B1AEA63AD97}"/>
              </a:ext>
            </a:extLst>
          </p:cNvPr>
          <p:cNvSpPr>
            <a:spLocks xmlns:a="http://schemas.openxmlformats.org/drawingml/2006/main" noGrp="1"/>
          </p:cNvSpPr>
          <p:nvPr/>
        </p:nvSpPr>
        <p:spPr>
          <a:xfrm xmlns:a="http://schemas.openxmlformats.org/drawingml/2006/main">
            <a:off x="1066800" y="3009900"/>
            <a:ext cx="10058400" cy="571500"/>
          </a:xfrm>
          <a:prstGeom xmlns:a="http://schemas.openxmlformats.org/drawingml/2006/main" prst="roundRect">
            <a:avLst>
              <a:gd name="adj" fmla="val 23333"/>
            </a:avLst>
          </a:prstGeom>
          <a:solidFill xmlns:a="http://schemas.openxmlformats.org/drawingml/2006/main">
            <a:srgbClr val="34D399">
              <a:alpha val="9000"/>
            </a:srgbClr>
          </a:solidFill>
          <a:ln xmlns:a="http://schemas.openxmlformats.org/drawingml/2006/main" w="9525">
            <a:solidFill>
              <a:srgbClr val="34D399">
                <a:alpha val="45000"/>
              </a:srgbClr>
            </a:solidFill>
            <a:prstDash val="solid"/>
          </a:ln>
        </p:spPr>
      </p:sp>
      <p:sp>
        <p:nvSpPr>
          <p:cNvPr id="12" name="">
            <a:extLst xmlns:a="http://schemas.openxmlformats.org/drawingml/2006/main">
              <a:ext uri="{FF2B5EF4-FFF2-40B4-BE49-F238E27FC236}">
                <a16:creationId xmlns:a16="http://schemas.microsoft.com/office/drawing/2014/main" id="{3D4FD70B-3372-4D95-9C42-AA3B935845BC}"/>
              </a:ext>
            </a:extLst>
          </p:cNvPr>
          <p:cNvSpPr>
            <a:spLocks xmlns:a="http://schemas.openxmlformats.org/drawingml/2006/main" noGrp="1"/>
          </p:cNvSpPr>
          <p:nvPr/>
        </p:nvSpPr>
        <p:spPr>
          <a:xfrm xmlns:a="http://schemas.openxmlformats.org/drawingml/2006/main">
            <a:off x="1371600" y="31623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34D399"/>
                </a:solidFill>
                <a:latin typeface="Aptos"/>
                <a:ea typeface="Aptos"/>
                <a:cs typeface="Aptos"/>
              </a:defRPr>
            </a:pPr>
            <a:r>
              <a:rPr sz="1575" b="1">
                <a:solidFill>
                  <a:srgbClr val="34D399"/>
                </a:solidFill>
                <a:latin typeface="Aptos"/>
                <a:ea typeface="Aptos"/>
                <a:cs typeface="Aptos"/>
              </a:rPr>
              <a:t>Deterministische Embeddings</a:t>
            </a:r>
          </a:p>
        </p:txBody>
      </p:sp>
      <p:sp>
        <p:nvSpPr>
          <p:cNvPr id="13" name="">
            <a:extLst xmlns:a="http://schemas.openxmlformats.org/drawingml/2006/main">
              <a:ext uri="{FF2B5EF4-FFF2-40B4-BE49-F238E27FC236}">
                <a16:creationId xmlns:a16="http://schemas.microsoft.com/office/drawing/2014/main" id="{3F24F29D-2849-48DD-A1D3-8E06F57A354E}"/>
              </a:ext>
            </a:extLst>
          </p:cNvPr>
          <p:cNvSpPr>
            <a:spLocks xmlns:a="http://schemas.openxmlformats.org/drawingml/2006/main" noGrp="1"/>
          </p:cNvSpPr>
          <p:nvPr/>
        </p:nvSpPr>
        <p:spPr>
          <a:xfrm xmlns:a="http://schemas.openxmlformats.org/drawingml/2006/main">
            <a:off x="4762500" y="31718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0">
                <a:solidFill>
                  <a:srgbClr val="CBD5E1"/>
                </a:solidFill>
                <a:latin typeface="Aptos"/>
                <a:ea typeface="Aptos"/>
                <a:cs typeface="Aptos"/>
              </a:defRPr>
            </a:pPr>
            <a:r>
              <a:rPr sz="1500" b="0">
                <a:solidFill>
                  <a:srgbClr val="CBD5E1"/>
                </a:solidFill>
                <a:latin typeface="Aptos"/>
                <a:ea typeface="Aptos"/>
                <a:cs typeface="Aptos"/>
              </a:rPr>
              <a:t>reproduzierbar, aber nicht Produktionsqualität</a:t>
            </a:r>
          </a:p>
        </p:txBody>
      </p:sp>
      <p:sp>
        <p:nvSpPr>
          <p:cNvPr id="14" name="">
            <a:extLst xmlns:a="http://schemas.openxmlformats.org/drawingml/2006/main">
              <a:ext uri="{FF2B5EF4-FFF2-40B4-BE49-F238E27FC236}">
                <a16:creationId xmlns:a16="http://schemas.microsoft.com/office/drawing/2014/main" id="{9787C6F8-CBC4-40C6-9FF4-4DDA89EABA88}"/>
              </a:ext>
            </a:extLst>
          </p:cNvPr>
          <p:cNvSpPr>
            <a:spLocks xmlns:a="http://schemas.openxmlformats.org/drawingml/2006/main" noGrp="1"/>
          </p:cNvSpPr>
          <p:nvPr/>
        </p:nvSpPr>
        <p:spPr>
          <a:xfrm xmlns:a="http://schemas.openxmlformats.org/drawingml/2006/main">
            <a:off x="1066800" y="3810000"/>
            <a:ext cx="10058400" cy="571500"/>
          </a:xfrm>
          <a:prstGeom xmlns:a="http://schemas.openxmlformats.org/drawingml/2006/main" prst="roundRect">
            <a:avLst>
              <a:gd name="adj" fmla="val 23333"/>
            </a:avLst>
          </a:prstGeom>
          <a:solidFill xmlns:a="http://schemas.openxmlformats.org/drawingml/2006/main">
            <a:srgbClr val="FBBF24">
              <a:alpha val="9000"/>
            </a:srgbClr>
          </a:solidFill>
          <a:ln xmlns:a="http://schemas.openxmlformats.org/drawingml/2006/main" w="9525">
            <a:solidFill>
              <a:srgbClr val="FBBF24">
                <a:alpha val="45000"/>
              </a:srgbClr>
            </a:solidFill>
            <a:prstDash val="solid"/>
          </a:ln>
        </p:spPr>
      </p:sp>
      <p:sp>
        <p:nvSpPr>
          <p:cNvPr id="15" name="">
            <a:extLst xmlns:a="http://schemas.openxmlformats.org/drawingml/2006/main">
              <a:ext uri="{FF2B5EF4-FFF2-40B4-BE49-F238E27FC236}">
                <a16:creationId xmlns:a16="http://schemas.microsoft.com/office/drawing/2014/main" id="{3E2190C4-785D-473A-965F-0943E28AE6E7}"/>
              </a:ext>
            </a:extLst>
          </p:cNvPr>
          <p:cNvSpPr>
            <a:spLocks xmlns:a="http://schemas.openxmlformats.org/drawingml/2006/main" noGrp="1"/>
          </p:cNvSpPr>
          <p:nvPr/>
        </p:nvSpPr>
        <p:spPr>
          <a:xfrm xmlns:a="http://schemas.openxmlformats.org/drawingml/2006/main">
            <a:off x="1371600" y="3962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FBBF24"/>
                </a:solidFill>
                <a:latin typeface="Aptos"/>
                <a:ea typeface="Aptos"/>
                <a:cs typeface="Aptos"/>
              </a:defRPr>
            </a:pPr>
            <a:r>
              <a:rPr sz="1575" b="1">
                <a:solidFill>
                  <a:srgbClr val="FBBF24"/>
                </a:solidFill>
                <a:latin typeface="Aptos"/>
                <a:ea typeface="Aptos"/>
                <a:cs typeface="Aptos"/>
              </a:rPr>
              <a:t>Lexical Verifier</a:t>
            </a:r>
          </a:p>
        </p:txBody>
      </p:sp>
      <p:sp>
        <p:nvSpPr>
          <p:cNvPr id="16" name="">
            <a:extLst xmlns:a="http://schemas.openxmlformats.org/drawingml/2006/main">
              <a:ext uri="{FF2B5EF4-FFF2-40B4-BE49-F238E27FC236}">
                <a16:creationId xmlns:a16="http://schemas.microsoft.com/office/drawing/2014/main" id="{C6D3FF1B-87F4-426E-A13B-00A582343C8B}"/>
              </a:ext>
            </a:extLst>
          </p:cNvPr>
          <p:cNvSpPr>
            <a:spLocks xmlns:a="http://schemas.openxmlformats.org/drawingml/2006/main" noGrp="1"/>
          </p:cNvSpPr>
          <p:nvPr/>
        </p:nvSpPr>
        <p:spPr>
          <a:xfrm xmlns:a="http://schemas.openxmlformats.org/drawingml/2006/main">
            <a:off x="4762500" y="39719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0">
                <a:solidFill>
                  <a:srgbClr val="CBD5E1"/>
                </a:solidFill>
                <a:latin typeface="Aptos"/>
                <a:ea typeface="Aptos"/>
                <a:cs typeface="Aptos"/>
              </a:defRPr>
            </a:pPr>
            <a:r>
              <a:rPr sz="1500" b="0">
                <a:solidFill>
                  <a:srgbClr val="CBD5E1"/>
                </a:solidFill>
                <a:latin typeface="Aptos"/>
                <a:ea typeface="Aptos"/>
                <a:cs typeface="Aptos"/>
              </a:rPr>
              <a:t>transparent und testbar, aber begrenzt bei Paraphrasen</a:t>
            </a:r>
          </a:p>
        </p:txBody>
      </p:sp>
      <p:sp>
        <p:nvSpPr>
          <p:cNvPr id="17" name="">
            <a:extLst xmlns:a="http://schemas.openxmlformats.org/drawingml/2006/main">
              <a:ext uri="{FF2B5EF4-FFF2-40B4-BE49-F238E27FC236}">
                <a16:creationId xmlns:a16="http://schemas.microsoft.com/office/drawing/2014/main" id="{A7D928A1-6390-4B2B-8A95-270B8D55733B}"/>
              </a:ext>
            </a:extLst>
          </p:cNvPr>
          <p:cNvSpPr>
            <a:spLocks xmlns:a="http://schemas.openxmlformats.org/drawingml/2006/main" noGrp="1"/>
          </p:cNvSpPr>
          <p:nvPr/>
        </p:nvSpPr>
        <p:spPr>
          <a:xfrm xmlns:a="http://schemas.openxmlformats.org/drawingml/2006/main">
            <a:off x="1066800" y="4610100"/>
            <a:ext cx="10058400" cy="571500"/>
          </a:xfrm>
          <a:prstGeom xmlns:a="http://schemas.openxmlformats.org/drawingml/2006/main" prst="roundRect">
            <a:avLst>
              <a:gd name="adj" fmla="val 23333"/>
            </a:avLst>
          </a:prstGeom>
          <a:solidFill xmlns:a="http://schemas.openxmlformats.org/drawingml/2006/main">
            <a:srgbClr val="A78BFA">
              <a:alpha val="9000"/>
            </a:srgbClr>
          </a:solidFill>
          <a:ln xmlns:a="http://schemas.openxmlformats.org/drawingml/2006/main" w="9525">
            <a:solidFill>
              <a:srgbClr val="A78BFA">
                <a:alpha val="45000"/>
              </a:srgbClr>
            </a:solidFill>
            <a:prstDash val="solid"/>
          </a:ln>
        </p:spPr>
      </p:sp>
      <p:sp>
        <p:nvSpPr>
          <p:cNvPr id="18" name="">
            <a:extLst xmlns:a="http://schemas.openxmlformats.org/drawingml/2006/main">
              <a:ext uri="{FF2B5EF4-FFF2-40B4-BE49-F238E27FC236}">
                <a16:creationId xmlns:a16="http://schemas.microsoft.com/office/drawing/2014/main" id="{9BB23383-F551-4332-8EA4-87776A1D12EE}"/>
              </a:ext>
            </a:extLst>
          </p:cNvPr>
          <p:cNvSpPr>
            <a:spLocks xmlns:a="http://schemas.openxmlformats.org/drawingml/2006/main" noGrp="1"/>
          </p:cNvSpPr>
          <p:nvPr/>
        </p:nvSpPr>
        <p:spPr>
          <a:xfrm xmlns:a="http://schemas.openxmlformats.org/drawingml/2006/main">
            <a:off x="1371600" y="4762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75" b="1">
                <a:solidFill>
                  <a:srgbClr val="A78BFA"/>
                </a:solidFill>
                <a:latin typeface="Aptos"/>
                <a:ea typeface="Aptos"/>
                <a:cs typeface="Aptos"/>
              </a:defRPr>
            </a:pPr>
            <a:r>
              <a:rPr sz="1575" b="1">
                <a:solidFill>
                  <a:srgbClr val="A78BFA"/>
                </a:solidFill>
                <a:latin typeface="Aptos"/>
                <a:ea typeface="Aptos"/>
                <a:cs typeface="Aptos"/>
              </a:rPr>
              <a:t>JSON-Verträge</a:t>
            </a:r>
          </a:p>
        </p:txBody>
      </p:sp>
      <p:sp>
        <p:nvSpPr>
          <p:cNvPr id="19" name="">
            <a:extLst xmlns:a="http://schemas.openxmlformats.org/drawingml/2006/main">
              <a:ext uri="{FF2B5EF4-FFF2-40B4-BE49-F238E27FC236}">
                <a16:creationId xmlns:a16="http://schemas.microsoft.com/office/drawing/2014/main" id="{158F7076-2096-4DAE-AB99-96CD6E854F69}"/>
              </a:ext>
            </a:extLst>
          </p:cNvPr>
          <p:cNvSpPr>
            <a:spLocks xmlns:a="http://schemas.openxmlformats.org/drawingml/2006/main" noGrp="1"/>
          </p:cNvSpPr>
          <p:nvPr/>
        </p:nvSpPr>
        <p:spPr>
          <a:xfrm xmlns:a="http://schemas.openxmlformats.org/drawingml/2006/main">
            <a:off x="4762500" y="47720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1500" b="0">
                <a:solidFill>
                  <a:srgbClr val="CBD5E1"/>
                </a:solidFill>
                <a:latin typeface="Aptos"/>
                <a:ea typeface="Aptos"/>
                <a:cs typeface="Aptos"/>
              </a:defRPr>
            </a:pPr>
            <a:r>
              <a:rPr sz="1500" b="0">
                <a:solidFill>
                  <a:srgbClr val="CBD5E1"/>
                </a:solidFill>
                <a:latin typeface="Aptos"/>
                <a:ea typeface="Aptos"/>
                <a:cs typeface="Aptos"/>
              </a:rPr>
              <a:t>robuster Output statt maximaler Modellfreiheit</a:t>
            </a:r>
          </a:p>
        </p:txBody>
      </p:sp>
    </p:spTree>
    <p:extLst>
      <p:ext uri="{BB962C8B-B14F-4D97-AF65-F5344CB8AC3E}">
        <p14:creationId xmlns:p14="http://schemas.microsoft.com/office/powerpoint/2010/main" val="1690731880"/>
      </p:ext>
    </p:extLst>
  </p:cSld>
</p:sld>
</file>

<file path=ppt/slides/slide22.xml><?xml version="1.0" encoding="utf-8"?>
<p:sld xmlns:p="http://schemas.openxmlformats.org/presentationml/2006/main">
  <p:cSld>
    <p:bg>
      <p:bgPr>
        <a:gradFill xmlns:a="http://schemas.openxmlformats.org/drawingml/2006/main">
          <a:gsLst>
            <a:gs pos="0">
              <a:srgbClr val="05070B"/>
            </a:gs>
            <a:gs pos="62000">
              <a:srgbClr val="0A1020"/>
            </a:gs>
            <a:gs pos="100000">
              <a:srgbClr val="111013"/>
            </a:gs>
          </a:gsLst>
          <a:lin ang="1680000"/>
        </a:gra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84E1AB-B8F9-4C73-9C93-F28358166E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36E0F2">
                  <a:alpha val="7000"/>
                </a:srgbClr>
              </a:gs>
              <a:gs pos="40000">
                <a:srgbClr val="FFFFFF">
                  <a:alpha val="0"/>
                </a:srgbClr>
              </a:gs>
              <a:gs pos="100000">
                <a:srgbClr val="FBBF24">
                  <a:alpha val="5000"/>
                </a:srgbClr>
              </a:gs>
            </a:gsLst>
            <a:lin ang="5400000"/>
          </a:gra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353B7B-8F25-4EA4-9E3C-F4C006FB6176}"/>
              </a:ext>
            </a:extLst>
          </p:cNvPr>
          <p:cNvSpPr>
            <a:spLocks xmlns:a="http://schemas.openxmlformats.org/drawingml/2006/main" noGrp="1"/>
          </p:cNvSpPr>
          <p:nvPr/>
        </p:nvSpPr>
        <p:spPr>
          <a:xfrm xmlns:a="http://schemas.openxmlformats.org/drawingml/2006/main">
            <a:off x="590550" y="6191250"/>
            <a:ext cx="228600" cy="228600"/>
          </a:xfrm>
          <a:prstGeom xmlns:a="http://schemas.openxmlformats.org/drawingml/2006/main" prst="ellipse">
            <a:avLst/>
          </a:prstGeom>
          <a:solidFill xmlns:a="http://schemas.openxmlformats.org/drawingml/2006/main">
            <a:srgbClr val="12D477"/>
          </a:solidFill>
          <a:ln xmlns:a="http://schemas.openxmlformats.org/drawingml/2006/main" w="0">
            <a:solidFill>
              <a:srgbClr val="12D477"/>
            </a:solidFill>
            <a:prstDash val="solid"/>
          </a:ln>
        </p:spPr>
      </p:sp>
      <p:sp>
        <p:nvSpPr>
          <p:cNvPr id="3" name="">
            <a:extLst xmlns:a="http://schemas.openxmlformats.org/drawingml/2006/main">
              <a:ext uri="{FF2B5EF4-FFF2-40B4-BE49-F238E27FC236}">
                <a16:creationId xmlns:a16="http://schemas.microsoft.com/office/drawing/2014/main" id="{5FAAA2BC-6B89-4EF0-A209-4519BDB7E7C0}"/>
              </a:ext>
            </a:extLst>
          </p:cNvPr>
          <p:cNvSpPr>
            <a:spLocks xmlns:a="http://schemas.openxmlformats.org/drawingml/2006/main" noGrp="1"/>
          </p:cNvSpPr>
          <p:nvPr/>
        </p:nvSpPr>
        <p:spPr>
          <a:xfrm xmlns:a="http://schemas.openxmlformats.org/drawingml/2006/main">
            <a:off x="914400" y="61722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Block Research LM</a:t>
            </a:r>
          </a:p>
        </p:txBody>
      </p:sp>
      <p:sp>
        <p:nvSpPr>
          <p:cNvPr id="4" name="">
            <a:extLst xmlns:a="http://schemas.openxmlformats.org/drawingml/2006/main">
              <a:ext uri="{FF2B5EF4-FFF2-40B4-BE49-F238E27FC236}">
                <a16:creationId xmlns:a16="http://schemas.microsoft.com/office/drawing/2014/main" id="{49C23048-D21B-41F8-97E7-C151CD74570E}"/>
              </a:ext>
            </a:extLst>
          </p:cNvPr>
          <p:cNvSpPr>
            <a:spLocks xmlns:a="http://schemas.openxmlformats.org/drawingml/2006/main" noGrp="1"/>
          </p:cNvSpPr>
          <p:nvPr/>
        </p:nvSpPr>
        <p:spPr>
          <a:xfrm xmlns:a="http://schemas.openxmlformats.org/drawingml/2006/main">
            <a:off x="10572750" y="6172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lnSpc>
                <a:spcPct val="108000"/>
              </a:lnSpc>
              <a:buNone/>
              <a:defRPr sz="975" b="1">
                <a:solidFill>
                  <a:srgbClr val="7E8AA2"/>
                </a:solidFill>
                <a:latin typeface="Aptos"/>
                <a:ea typeface="Aptos"/>
                <a:cs typeface="Aptos"/>
              </a:defRPr>
            </a:pPr>
            <a:r>
              <a:rPr sz="975" b="1">
                <a:solidFill>
                  <a:srgbClr val="7E8AA2"/>
                </a:solidFill>
                <a:latin typeface="Aptos"/>
                <a:ea typeface="Aptos"/>
                <a:cs typeface="Aptos"/>
              </a:rPr>
              <a:t>22 / 22</a:t>
            </a:r>
          </a:p>
        </p:txBody>
      </p:sp>
      <p:sp>
        <p:nvSpPr>
          <p:cNvPr id="5" name="">
            <a:extLst xmlns:a="http://schemas.openxmlformats.org/drawingml/2006/main">
              <a:ext uri="{FF2B5EF4-FFF2-40B4-BE49-F238E27FC236}">
                <a16:creationId xmlns:a16="http://schemas.microsoft.com/office/drawing/2014/main" id="{5FAE8F00-BD0B-472D-8B86-DED7F02F5E9B}"/>
              </a:ext>
            </a:extLst>
          </p:cNvPr>
          <p:cNvSpPr>
            <a:spLocks xmlns:a="http://schemas.openxmlformats.org/drawingml/2006/main" noGrp="1"/>
          </p:cNvSpPr>
          <p:nvPr/>
        </p:nvSpPr>
        <p:spPr>
          <a:xfrm xmlns:a="http://schemas.openxmlformats.org/drawingml/2006/main">
            <a:off x="876300" y="781050"/>
            <a:ext cx="657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lnSpc>
                <a:spcPct val="98000"/>
              </a:lnSpc>
              <a:buNone/>
              <a:defRPr sz="4050" b="1">
                <a:solidFill>
                  <a:srgbClr val="F8FAFC"/>
                </a:solidFill>
                <a:latin typeface="Aptos Display"/>
                <a:ea typeface="Aptos Display"/>
                <a:cs typeface="Aptos Display"/>
              </a:defRPr>
            </a:pPr>
            <a:r>
              <a:rPr sz="4050" b="1">
                <a:solidFill>
                  <a:srgbClr val="F8FAFC"/>
                </a:solidFill>
                <a:latin typeface="Aptos Display"/>
                <a:ea typeface="Aptos Display"/>
                <a:cs typeface="Aptos Display"/>
              </a:rPr>
              <a:t>NotebookLM ist ein</a:t>
            </a:r>
          </a:p>
          <a:p xmlns:a="http://schemas.openxmlformats.org/drawingml/2006/main">
            <a:pPr algn="l">
              <a:lnSpc>
                <a:spcPct val="98000"/>
              </a:lnSpc>
              <a:buNone/>
              <a:defRPr sz="4050" b="1">
                <a:solidFill>
                  <a:srgbClr val="F8FAFC"/>
                </a:solidFill>
                <a:latin typeface="Aptos Display"/>
                <a:ea typeface="Aptos Display"/>
                <a:cs typeface="Aptos Display"/>
              </a:defRPr>
            </a:pPr>
            <a:r>
              <a:rPr sz="4050" b="1">
                <a:solidFill>
                  <a:srgbClr val="F8FAFC"/>
                </a:solidFill>
                <a:latin typeface="Aptos Display"/>
                <a:ea typeface="Aptos Display"/>
                <a:cs typeface="Aptos Display"/>
              </a:rPr>
              <a:t>Architekturprinzip</a:t>
            </a:r>
          </a:p>
        </p:txBody>
      </p:sp>
      <p:sp>
        <p:nvSpPr>
          <p:cNvPr id="6" name="">
            <a:extLst xmlns:a="http://schemas.openxmlformats.org/drawingml/2006/main">
              <a:ext uri="{FF2B5EF4-FFF2-40B4-BE49-F238E27FC236}">
                <a16:creationId xmlns:a16="http://schemas.microsoft.com/office/drawing/2014/main" id="{122D0A35-1003-4C64-8A86-B67DDA72036C}"/>
              </a:ext>
            </a:extLst>
          </p:cNvPr>
          <p:cNvSpPr>
            <a:spLocks xmlns:a="http://schemas.openxmlformats.org/drawingml/2006/main" noGrp="1"/>
          </p:cNvSpPr>
          <p:nvPr/>
        </p:nvSpPr>
        <p:spPr>
          <a:xfrm xmlns:a="http://schemas.openxmlformats.org/drawingml/2006/main">
            <a:off x="971550" y="2800350"/>
            <a:ext cx="10248900" cy="1066800"/>
          </a:xfrm>
          <a:prstGeom xmlns:a="http://schemas.openxmlformats.org/drawingml/2006/main" prst="roundRect">
            <a:avLst>
              <a:gd name="adj" fmla="val 17857"/>
            </a:avLst>
          </a:prstGeom>
          <a:solidFill xmlns:a="http://schemas.openxmlformats.org/drawingml/2006/main">
            <a:srgbClr val="36E0F2">
              <a:alpha val="9000"/>
            </a:srgbClr>
          </a:solidFill>
          <a:ln xmlns:a="http://schemas.openxmlformats.org/drawingml/2006/main" w="11430">
            <a:solidFill>
              <a:srgbClr val="36E0F2">
                <a:alpha val="55000"/>
              </a:srgbClr>
            </a:solidFill>
            <a:prstDash val="solid"/>
          </a:ln>
        </p:spPr>
      </p:sp>
      <p:sp>
        <p:nvSpPr>
          <p:cNvPr id="7" name="">
            <a:extLst xmlns:a="http://schemas.openxmlformats.org/drawingml/2006/main">
              <a:ext uri="{FF2B5EF4-FFF2-40B4-BE49-F238E27FC236}">
                <a16:creationId xmlns:a16="http://schemas.microsoft.com/office/drawing/2014/main" id="{2F20C663-9ED5-4691-85F3-EA9F0FD93438}"/>
              </a:ext>
            </a:extLst>
          </p:cNvPr>
          <p:cNvSpPr>
            <a:spLocks xmlns:a="http://schemas.openxmlformats.org/drawingml/2006/main" noGrp="1"/>
          </p:cNvSpPr>
          <p:nvPr/>
        </p:nvSpPr>
        <p:spPr>
          <a:xfrm xmlns:a="http://schemas.openxmlformats.org/drawingml/2006/main">
            <a:off x="1333500" y="31051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700" b="1">
                <a:solidFill>
                  <a:srgbClr val="36E0F2"/>
                </a:solidFill>
                <a:latin typeface="Aptos Mono"/>
                <a:ea typeface="Aptos Mono"/>
                <a:cs typeface="Aptos Mono"/>
              </a:defRPr>
            </a:pPr>
            <a:r>
              <a:rPr sz="2700" b="1">
                <a:solidFill>
                  <a:srgbClr val="36E0F2"/>
                </a:solidFill>
                <a:latin typeface="Aptos Mono"/>
                <a:ea typeface="Aptos Mono"/>
                <a:cs typeface="Aptos Mono"/>
              </a:rPr>
              <a:t>Sources  -&gt;  Evidence  -&gt;  Verified Output</a:t>
            </a:r>
          </a:p>
        </p:txBody>
      </p:sp>
      <p:sp>
        <p:nvSpPr>
          <p:cNvPr id="8" name="">
            <a:extLst xmlns:a="http://schemas.openxmlformats.org/drawingml/2006/main">
              <a:ext uri="{FF2B5EF4-FFF2-40B4-BE49-F238E27FC236}">
                <a16:creationId xmlns:a16="http://schemas.microsoft.com/office/drawing/2014/main" id="{0CD0526C-5DD2-4347-B410-2D2F19792369}"/>
              </a:ext>
            </a:extLst>
          </p:cNvPr>
          <p:cNvSpPr>
            <a:spLocks xmlns:a="http://schemas.openxmlformats.org/drawingml/2006/main" noGrp="1"/>
          </p:cNvSpPr>
          <p:nvPr/>
        </p:nvSpPr>
        <p:spPr>
          <a:xfrm xmlns:a="http://schemas.openxmlformats.org/drawingml/2006/main">
            <a:off x="1524000" y="42672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2025" b="1">
                <a:solidFill>
                  <a:srgbClr val="CBD5E1"/>
                </a:solidFill>
                <a:latin typeface="Aptos"/>
                <a:ea typeface="Aptos"/>
                <a:cs typeface="Aptos"/>
              </a:defRPr>
            </a:pPr>
            <a:r>
              <a:rPr sz="2025" b="1">
                <a:solidFill>
                  <a:srgbClr val="CBD5E1"/>
                </a:solidFill>
                <a:latin typeface="Aptos"/>
                <a:ea typeface="Aptos"/>
                <a:cs typeface="Aptos"/>
              </a:rPr>
              <a:t>Der Wert liegt nicht im Chatfenster, sondern im prüfbaren Wissensraum.</a:t>
            </a:r>
          </a:p>
        </p:txBody>
      </p:sp>
      <p:sp>
        <p:nvSpPr>
          <p:cNvPr id="9" name="">
            <a:extLst xmlns:a="http://schemas.openxmlformats.org/drawingml/2006/main">
              <a:ext uri="{FF2B5EF4-FFF2-40B4-BE49-F238E27FC236}">
                <a16:creationId xmlns:a16="http://schemas.microsoft.com/office/drawing/2014/main" id="{C4ECF8BE-AC06-49BA-8CA5-C5679871746E}"/>
              </a:ext>
            </a:extLst>
          </p:cNvPr>
          <p:cNvSpPr>
            <a:spLocks xmlns:a="http://schemas.openxmlformats.org/drawingml/2006/main" noGrp="1"/>
          </p:cNvSpPr>
          <p:nvPr/>
        </p:nvSpPr>
        <p:spPr>
          <a:xfrm xmlns:a="http://schemas.openxmlformats.org/drawingml/2006/main">
            <a:off x="1524000" y="5286375"/>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lnSpc>
                <a:spcPct val="108000"/>
              </a:lnSpc>
              <a:buNone/>
              <a:defRPr sz="1050" b="0">
                <a:solidFill>
                  <a:srgbClr val="7E8AA2"/>
                </a:solidFill>
                <a:latin typeface="Aptos"/>
                <a:ea typeface="Aptos"/>
                <a:cs typeface="Aptos"/>
              </a:defRPr>
            </a:pPr>
            <a:r>
              <a:rPr sz="1050" b="0">
                <a:solidFill>
                  <a:srgbClr val="7E8AA2"/>
                </a:solidFill>
                <a:latin typeface="Aptos"/>
                <a:ea typeface="Aptos"/>
                <a:cs typeface="Aptos"/>
              </a:rPr>
              <a:t>Quellen für Original-NotebookLM-Aussagen: Google NotebookLM Help und Google Blog. Projektbasis: README, ARCHITECTURE und DEMO_SCRIPT.</a:t>
            </a:r>
          </a:p>
        </p:txBody>
      </p:sp>
    </p:spTree>
    <p:extLst>
      <p:ext uri="{BB962C8B-B14F-4D97-AF65-F5344CB8AC3E}">
        <p14:creationId xmlns:p14="http://schemas.microsoft.com/office/powerpoint/2010/main" val="11384571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2026-07-01T13:04:58.6920000Z</dcterms:created>
  <dcterms:modified xsi:type="dcterms:W3CDTF">2026-07-01T13:04:58.6920000Z</dcterms:modified>
</coreProperties>
</file>